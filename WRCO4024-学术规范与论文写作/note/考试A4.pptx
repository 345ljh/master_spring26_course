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
  </p:notesMasterIdLst>
  <p:sldIdLst>
    <p:sldId id="256" r:id="rId2"/>
    <p:sldId id="257" r:id="rId3"/>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82" autoAdjust="0"/>
    <p:restoredTop sz="94660"/>
  </p:normalViewPr>
  <p:slideViewPr>
    <p:cSldViewPr snapToGrid="0">
      <p:cViewPr>
        <p:scale>
          <a:sx n="33" d="100"/>
          <a:sy n="33" d="100"/>
        </p:scale>
        <p:origin x="896"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F11776-8685-4339-89B8-3A0E1F74BCD6}" type="datetimeFigureOut">
              <a:rPr lang="zh-CN" altLang="en-US" smtClean="0"/>
              <a:t>2026/7/6</a:t>
            </a:fld>
            <a:endParaRPr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99057-7BC8-41FC-950C-F3B536C9E8D6}" type="slidenum">
              <a:rPr lang="zh-CN" altLang="en-US" smtClean="0"/>
              <a:t>‹#›</a:t>
            </a:fld>
            <a:endParaRPr lang="zh-CN" altLang="en-US"/>
          </a:p>
        </p:txBody>
      </p:sp>
    </p:spTree>
    <p:extLst>
      <p:ext uri="{BB962C8B-B14F-4D97-AF65-F5344CB8AC3E}">
        <p14:creationId xmlns:p14="http://schemas.microsoft.com/office/powerpoint/2010/main" val="421643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599057-7BC8-41FC-950C-F3B536C9E8D6}" type="slidenum">
              <a:rPr lang="zh-CN" altLang="en-US" smtClean="0"/>
              <a:t>1</a:t>
            </a:fld>
            <a:endParaRPr lang="zh-CN" altLang="en-US"/>
          </a:p>
        </p:txBody>
      </p:sp>
    </p:spTree>
    <p:extLst>
      <p:ext uri="{BB962C8B-B14F-4D97-AF65-F5344CB8AC3E}">
        <p14:creationId xmlns:p14="http://schemas.microsoft.com/office/powerpoint/2010/main" val="1782500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3443192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3770513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2011432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751629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smtClean="0"/>
              <a:t>编辑母版文本样式</a:t>
            </a:r>
          </a:p>
        </p:txBody>
      </p:sp>
      <p:sp>
        <p:nvSpPr>
          <p:cNvPr id="4" name="Content Placeholder 3"/>
          <p:cNvSpPr>
            <a:spLocks noGrp="1"/>
          </p:cNvSpPr>
          <p:nvPr>
            <p:ph sz="half" idx="2"/>
          </p:nvPr>
        </p:nvSpPr>
        <p:spPr>
          <a:xfrm>
            <a:off x="520713" y="3905482"/>
            <a:ext cx="3198096" cy="57443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zh-CN" altLang="en-US" smtClean="0"/>
              <a:t>编辑母版文本样式</a:t>
            </a:r>
          </a:p>
        </p:txBody>
      </p:sp>
      <p:sp>
        <p:nvSpPr>
          <p:cNvPr id="6" name="Content Placeholder 5"/>
          <p:cNvSpPr>
            <a:spLocks noGrp="1"/>
          </p:cNvSpPr>
          <p:nvPr>
            <p:ph sz="quarter" idx="4"/>
          </p:nvPr>
        </p:nvSpPr>
        <p:spPr>
          <a:xfrm>
            <a:off x="3827086" y="3905482"/>
            <a:ext cx="3213847" cy="5744375"/>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2135292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3800084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196110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30772436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28449160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1928718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8571822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4379F989-786A-4265-8D1C-0BA5CC8FE848}" type="datetimeFigureOut">
              <a:rPr lang="zh-CN" altLang="en-US" smtClean="0"/>
              <a:t>2026/7/6</a:t>
            </a:fld>
            <a:endParaRPr lang="zh-CN" altLang="en-US"/>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2E46A91B-AD63-4E84-ABBD-F892719F0A78}" type="slidenum">
              <a:rPr lang="zh-CN" altLang="en-US" smtClean="0"/>
              <a:t>‹#›</a:t>
            </a:fld>
            <a:endParaRPr lang="zh-CN" altLang="en-US"/>
          </a:p>
        </p:txBody>
      </p:sp>
    </p:spTree>
    <p:extLst>
      <p:ext uri="{BB962C8B-B14F-4D97-AF65-F5344CB8AC3E}">
        <p14:creationId xmlns:p14="http://schemas.microsoft.com/office/powerpoint/2010/main" val="2737730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9046" y="-14822"/>
            <a:ext cx="1056700" cy="200055"/>
          </a:xfrm>
          <a:prstGeom prst="rect">
            <a:avLst/>
          </a:prstGeom>
          <a:noFill/>
        </p:spPr>
        <p:txBody>
          <a:bodyPr wrap="none" rtlCol="0">
            <a:spAutoFit/>
          </a:bodyPr>
          <a:lstStyle/>
          <a:p>
            <a:r>
              <a:rPr lang="en-US" altLang="zh-CN" sz="700" b="1" dirty="0" smtClean="0">
                <a:latin typeface="+mj-lt"/>
              </a:rPr>
              <a:t>1 </a:t>
            </a:r>
            <a:r>
              <a:rPr lang="zh-CN" altLang="en-US" sz="700" b="1" dirty="0" smtClean="0">
                <a:latin typeface="+mj-lt"/>
              </a:rPr>
              <a:t>基本知识及写作要求</a:t>
            </a:r>
            <a:endParaRPr lang="en-US" altLang="zh-CN" sz="700" b="1" dirty="0">
              <a:latin typeface="+mj-lt"/>
            </a:endParaRPr>
          </a:p>
        </p:txBody>
      </p:sp>
      <p:sp>
        <p:nvSpPr>
          <p:cNvPr id="18" name="文本框 17"/>
          <p:cNvSpPr txBox="1"/>
          <p:nvPr/>
        </p:nvSpPr>
        <p:spPr>
          <a:xfrm>
            <a:off x="-49955" y="97345"/>
            <a:ext cx="2530688" cy="10710624"/>
          </a:xfrm>
          <a:prstGeom prst="rect">
            <a:avLst/>
          </a:prstGeom>
          <a:noFill/>
        </p:spPr>
        <p:txBody>
          <a:bodyPr wrap="square" rtlCol="0">
            <a:spAutoFit/>
          </a:bodyPr>
          <a:lstStyle/>
          <a:p>
            <a:r>
              <a:rPr lang="zh-CN" altLang="en-US" sz="600" b="1" dirty="0">
                <a:latin typeface="+mj-lt"/>
              </a:rPr>
              <a:t>学历</a:t>
            </a:r>
            <a:r>
              <a:rPr lang="zh-CN" altLang="en-US" sz="600" dirty="0">
                <a:latin typeface="+mj-lt"/>
              </a:rPr>
              <a:t>（学习经历）：人们在教育机构中接受科学、文化知识训练的学习经历。</a:t>
            </a:r>
          </a:p>
          <a:p>
            <a:r>
              <a:rPr lang="zh-CN" altLang="en-US" sz="600" dirty="0">
                <a:latin typeface="+mj-lt"/>
              </a:rPr>
              <a:t>国家承认的学历：小学、初中、高中、专科、本科、研究生（硕士研究生、博士研究生），在学信网上可查。</a:t>
            </a:r>
          </a:p>
          <a:p>
            <a:r>
              <a:rPr lang="zh-CN" altLang="en-US" sz="600" b="1" dirty="0">
                <a:latin typeface="+mj-lt"/>
              </a:rPr>
              <a:t>学位</a:t>
            </a:r>
            <a:r>
              <a:rPr lang="zh-CN" altLang="en-US" sz="600" dirty="0">
                <a:latin typeface="+mj-lt"/>
              </a:rPr>
              <a:t>（学术地位</a:t>
            </a:r>
            <a:r>
              <a:rPr lang="en-US" altLang="zh-CN" sz="600" dirty="0">
                <a:latin typeface="+mj-lt"/>
              </a:rPr>
              <a:t>/</a:t>
            </a:r>
            <a:r>
              <a:rPr lang="zh-CN" altLang="en-US" sz="600" dirty="0">
                <a:latin typeface="+mj-lt"/>
              </a:rPr>
              <a:t>水平）：是标志着被授予者的受教育程度和学术水平达到规定标准的学术称号。</a:t>
            </a:r>
          </a:p>
          <a:p>
            <a:r>
              <a:rPr lang="zh-CN" altLang="en-US" sz="600" b="1" dirty="0" smtClean="0">
                <a:latin typeface="+mj-lt"/>
              </a:rPr>
              <a:t>学历</a:t>
            </a:r>
            <a:r>
              <a:rPr lang="en-US" altLang="zh-CN" sz="600" b="1" dirty="0" smtClean="0">
                <a:latin typeface="+mj-lt"/>
              </a:rPr>
              <a:t>/</a:t>
            </a:r>
            <a:r>
              <a:rPr lang="zh-CN" altLang="en-US" sz="600" b="1" dirty="0" smtClean="0">
                <a:latin typeface="+mj-lt"/>
              </a:rPr>
              <a:t>学位主要</a:t>
            </a:r>
            <a:r>
              <a:rPr lang="zh-CN" altLang="en-US" sz="600" b="1" dirty="0">
                <a:latin typeface="+mj-lt"/>
              </a:rPr>
              <a:t>区别</a:t>
            </a:r>
            <a:r>
              <a:rPr lang="zh-CN" altLang="en-US" sz="600" dirty="0">
                <a:latin typeface="+mj-lt"/>
              </a:rPr>
              <a:t>：学历证明了学习的经历，学位是学术水平和层次的体现</a:t>
            </a:r>
            <a:r>
              <a:rPr lang="zh-CN" altLang="en-US" sz="600" dirty="0" smtClean="0">
                <a:latin typeface="+mj-lt"/>
              </a:rPr>
              <a:t>；有</a:t>
            </a:r>
            <a:r>
              <a:rPr lang="zh-CN" altLang="en-US" sz="600" dirty="0">
                <a:latin typeface="+mj-lt"/>
              </a:rPr>
              <a:t>学习经历的不一定达到某种水平和层次，达到某种水平和层次也不一定是通过学习经历来获得的</a:t>
            </a:r>
            <a:r>
              <a:rPr lang="zh-CN" altLang="en-US" sz="600" dirty="0" smtClean="0">
                <a:latin typeface="+mj-lt"/>
              </a:rPr>
              <a:t>。</a:t>
            </a:r>
            <a:endParaRPr lang="en-US" altLang="zh-CN" sz="600" dirty="0" smtClean="0">
              <a:latin typeface="+mj-lt"/>
            </a:endParaRPr>
          </a:p>
          <a:p>
            <a:r>
              <a:rPr lang="zh-CN" altLang="en-US" sz="600" b="1" dirty="0">
                <a:latin typeface="+mj-lt"/>
              </a:rPr>
              <a:t>欧美学位</a:t>
            </a:r>
            <a:r>
              <a:rPr lang="zh-CN" altLang="en-US" sz="600" b="1" dirty="0" smtClean="0">
                <a:latin typeface="+mj-lt"/>
              </a:rPr>
              <a:t>分类</a:t>
            </a:r>
            <a:r>
              <a:rPr lang="zh-CN" altLang="en-US" sz="600" dirty="0" smtClean="0">
                <a:latin typeface="+mj-lt"/>
              </a:rPr>
              <a:t>：</a:t>
            </a:r>
            <a:r>
              <a:rPr lang="zh-CN" altLang="en-US" sz="600" dirty="0">
                <a:latin typeface="+mj-lt"/>
              </a:rPr>
              <a:t>学士，硕士，博士</a:t>
            </a:r>
          </a:p>
          <a:p>
            <a:r>
              <a:rPr lang="zh-CN" altLang="en-US" sz="600" dirty="0" smtClean="0">
                <a:latin typeface="+mj-lt"/>
              </a:rPr>
              <a:t>学士学位</a:t>
            </a:r>
            <a:r>
              <a:rPr lang="en-US" altLang="zh-CN" sz="600" dirty="0" smtClean="0">
                <a:latin typeface="+mj-lt"/>
              </a:rPr>
              <a:t>Bachelor </a:t>
            </a:r>
            <a:r>
              <a:rPr lang="en-US" altLang="zh-CN" sz="600" dirty="0">
                <a:latin typeface="+mj-lt"/>
              </a:rPr>
              <a:t>of </a:t>
            </a:r>
            <a:r>
              <a:rPr lang="en-US" altLang="zh-CN" sz="600" dirty="0" smtClean="0">
                <a:latin typeface="+mj-lt"/>
              </a:rPr>
              <a:t>Science/Engineering/ </a:t>
            </a:r>
            <a:r>
              <a:rPr lang="en-US" altLang="zh-CN" sz="600" dirty="0">
                <a:latin typeface="+mj-lt"/>
              </a:rPr>
              <a:t>Arts</a:t>
            </a:r>
            <a:r>
              <a:rPr lang="zh-CN" altLang="en-US" sz="600" dirty="0" smtClean="0">
                <a:latin typeface="+mj-lt"/>
              </a:rPr>
              <a:t>（</a:t>
            </a:r>
            <a:r>
              <a:rPr lang="en-US" altLang="zh-CN" sz="600" dirty="0" smtClean="0">
                <a:latin typeface="+mj-lt"/>
              </a:rPr>
              <a:t>B.S./B.Eng./B</a:t>
            </a:r>
            <a:r>
              <a:rPr lang="en-US" altLang="zh-CN" sz="600" dirty="0">
                <a:latin typeface="+mj-lt"/>
              </a:rPr>
              <a:t>. A.</a:t>
            </a:r>
            <a:r>
              <a:rPr lang="zh-CN" altLang="en-US" sz="600" dirty="0">
                <a:latin typeface="+mj-lt"/>
              </a:rPr>
              <a:t>）</a:t>
            </a:r>
          </a:p>
          <a:p>
            <a:r>
              <a:rPr lang="zh-CN" altLang="en-US" sz="600" dirty="0" smtClean="0">
                <a:latin typeface="+mj-lt"/>
              </a:rPr>
              <a:t>硕士学位</a:t>
            </a:r>
            <a:r>
              <a:rPr lang="en-US" altLang="zh-CN" sz="600" dirty="0" smtClean="0">
                <a:latin typeface="+mj-lt"/>
              </a:rPr>
              <a:t>Master of Science/Engineering/Arts</a:t>
            </a:r>
            <a:r>
              <a:rPr lang="zh-CN" altLang="en-US" sz="600" dirty="0" smtClean="0">
                <a:latin typeface="+mj-lt"/>
              </a:rPr>
              <a:t>（</a:t>
            </a:r>
            <a:r>
              <a:rPr lang="en-US" altLang="zh-CN" sz="600" dirty="0" err="1" smtClean="0">
                <a:latin typeface="+mj-lt"/>
              </a:rPr>
              <a:t>M.S.,MSc</a:t>
            </a:r>
            <a:r>
              <a:rPr lang="en-US" altLang="zh-CN" sz="600" dirty="0" smtClean="0">
                <a:latin typeface="+mj-lt"/>
              </a:rPr>
              <a:t>/</a:t>
            </a:r>
            <a:r>
              <a:rPr lang="en-US" altLang="zh-CN" sz="600" dirty="0" err="1" smtClean="0">
                <a:latin typeface="+mj-lt"/>
              </a:rPr>
              <a:t>M.Eng.M</a:t>
            </a:r>
            <a:r>
              <a:rPr lang="en-US" altLang="zh-CN" sz="600" dirty="0">
                <a:latin typeface="+mj-lt"/>
              </a:rPr>
              <a:t>. A.</a:t>
            </a:r>
            <a:r>
              <a:rPr lang="zh-CN" altLang="en-US" sz="600" dirty="0">
                <a:latin typeface="+mj-lt"/>
              </a:rPr>
              <a:t>）</a:t>
            </a:r>
          </a:p>
          <a:p>
            <a:r>
              <a:rPr lang="zh-CN" altLang="en-US" sz="600" dirty="0" smtClean="0">
                <a:latin typeface="+mj-lt"/>
              </a:rPr>
              <a:t>工商</a:t>
            </a:r>
            <a:r>
              <a:rPr lang="zh-CN" altLang="en-US" sz="600" dirty="0">
                <a:latin typeface="+mj-lt"/>
              </a:rPr>
              <a:t>管理硕士 </a:t>
            </a:r>
            <a:r>
              <a:rPr lang="en-US" altLang="zh-CN" sz="600" dirty="0">
                <a:latin typeface="+mj-lt"/>
              </a:rPr>
              <a:t>Master of Business </a:t>
            </a:r>
            <a:r>
              <a:rPr lang="en-US" altLang="zh-CN" sz="600" dirty="0" smtClean="0">
                <a:latin typeface="+mj-lt"/>
              </a:rPr>
              <a:t>Administration(MBA)</a:t>
            </a:r>
            <a:endParaRPr lang="en-US" altLang="zh-CN" sz="600" dirty="0">
              <a:latin typeface="+mj-lt"/>
            </a:endParaRPr>
          </a:p>
          <a:p>
            <a:r>
              <a:rPr lang="zh-CN" altLang="en-US" sz="600" dirty="0" smtClean="0">
                <a:latin typeface="+mj-lt"/>
              </a:rPr>
              <a:t>博士学位 </a:t>
            </a:r>
            <a:r>
              <a:rPr lang="en-US" altLang="zh-CN" sz="600" dirty="0">
                <a:latin typeface="+mj-lt"/>
              </a:rPr>
              <a:t>Doctor of </a:t>
            </a:r>
            <a:r>
              <a:rPr lang="en-US" altLang="zh-CN" sz="600" dirty="0" smtClean="0">
                <a:latin typeface="+mj-lt"/>
              </a:rPr>
              <a:t>Philosophy(Ph.D.)</a:t>
            </a:r>
            <a:r>
              <a:rPr lang="zh-CN" altLang="en-US" sz="600" dirty="0" smtClean="0">
                <a:latin typeface="+mj-lt"/>
              </a:rPr>
              <a:t> 哲学博士</a:t>
            </a:r>
            <a:endParaRPr lang="en-US" altLang="zh-CN" sz="600" dirty="0" smtClean="0">
              <a:latin typeface="+mj-lt"/>
            </a:endParaRPr>
          </a:p>
          <a:p>
            <a:r>
              <a:rPr lang="zh-CN" altLang="en-US" sz="600" b="1" dirty="0" smtClean="0">
                <a:latin typeface="+mj-lt"/>
              </a:rPr>
              <a:t>俄制学位分类</a:t>
            </a:r>
            <a:r>
              <a:rPr lang="zh-CN" altLang="en-US" sz="600" dirty="0" smtClean="0">
                <a:latin typeface="+mj-lt"/>
              </a:rPr>
              <a:t>（</a:t>
            </a:r>
            <a:r>
              <a:rPr lang="zh-CN" altLang="en-US" sz="600" dirty="0">
                <a:latin typeface="+mj-lt"/>
              </a:rPr>
              <a:t>俄罗斯及部分东欧国家）</a:t>
            </a:r>
          </a:p>
          <a:p>
            <a:r>
              <a:rPr lang="zh-CN" altLang="en-US" sz="600" dirty="0" smtClean="0">
                <a:latin typeface="+mj-lt"/>
              </a:rPr>
              <a:t>学士</a:t>
            </a:r>
            <a:r>
              <a:rPr lang="zh-CN" altLang="en-US" sz="600" dirty="0">
                <a:latin typeface="+mj-lt"/>
              </a:rPr>
              <a:t>学位：学制为</a:t>
            </a:r>
            <a:r>
              <a:rPr lang="en-US" altLang="zh-CN" sz="600" dirty="0">
                <a:latin typeface="+mj-lt"/>
              </a:rPr>
              <a:t>4</a:t>
            </a:r>
            <a:r>
              <a:rPr lang="zh-CN" altLang="en-US" sz="600" dirty="0" smtClean="0">
                <a:latin typeface="+mj-lt"/>
              </a:rPr>
              <a:t>年；专家资格</a:t>
            </a:r>
            <a:r>
              <a:rPr lang="en-US" altLang="zh-CN" sz="600" dirty="0" smtClean="0">
                <a:latin typeface="+mj-lt"/>
              </a:rPr>
              <a:t>/</a:t>
            </a:r>
            <a:r>
              <a:rPr lang="zh-CN" altLang="en-US" sz="600" dirty="0" smtClean="0">
                <a:latin typeface="+mj-lt"/>
              </a:rPr>
              <a:t>学位</a:t>
            </a:r>
            <a:r>
              <a:rPr lang="en-US" altLang="zh-CN" sz="600" dirty="0" smtClean="0">
                <a:latin typeface="+mj-lt"/>
              </a:rPr>
              <a:t>:</a:t>
            </a:r>
            <a:r>
              <a:rPr lang="zh-CN" altLang="en-US" sz="600" dirty="0" smtClean="0">
                <a:latin typeface="+mj-lt"/>
              </a:rPr>
              <a:t>学制</a:t>
            </a:r>
            <a:r>
              <a:rPr lang="zh-CN" altLang="en-US" sz="600" dirty="0">
                <a:latin typeface="+mj-lt"/>
              </a:rPr>
              <a:t>为</a:t>
            </a:r>
            <a:r>
              <a:rPr lang="en-US" altLang="zh-CN" sz="600" dirty="0">
                <a:latin typeface="+mj-lt"/>
              </a:rPr>
              <a:t>5</a:t>
            </a:r>
            <a:r>
              <a:rPr lang="zh-CN" altLang="en-US" sz="600" dirty="0" smtClean="0">
                <a:latin typeface="+mj-lt"/>
              </a:rPr>
              <a:t>年</a:t>
            </a:r>
            <a:r>
              <a:rPr lang="en-US" altLang="zh-CN" sz="600" dirty="0" smtClean="0">
                <a:latin typeface="+mj-lt"/>
              </a:rPr>
              <a:t>,</a:t>
            </a:r>
            <a:r>
              <a:rPr lang="zh-CN" altLang="en-US" sz="600" dirty="0" smtClean="0">
                <a:latin typeface="+mj-lt"/>
              </a:rPr>
              <a:t>授予工程师</a:t>
            </a:r>
            <a:r>
              <a:rPr lang="en-US" altLang="zh-CN" sz="600" dirty="0" smtClean="0">
                <a:latin typeface="+mj-lt"/>
              </a:rPr>
              <a:t>,</a:t>
            </a:r>
            <a:r>
              <a:rPr lang="zh-CN" altLang="en-US" sz="600" dirty="0" smtClean="0">
                <a:latin typeface="+mj-lt"/>
              </a:rPr>
              <a:t>教师</a:t>
            </a:r>
            <a:r>
              <a:rPr lang="en-US" altLang="zh-CN" sz="600" dirty="0" smtClean="0">
                <a:latin typeface="+mj-lt"/>
              </a:rPr>
              <a:t>,</a:t>
            </a:r>
            <a:r>
              <a:rPr lang="zh-CN" altLang="en-US" sz="600" dirty="0" smtClean="0">
                <a:latin typeface="+mj-lt"/>
              </a:rPr>
              <a:t>农艺师</a:t>
            </a:r>
            <a:r>
              <a:rPr lang="en-US" altLang="zh-CN" sz="600" dirty="0" smtClean="0">
                <a:latin typeface="+mj-lt"/>
              </a:rPr>
              <a:t>,</a:t>
            </a:r>
            <a:r>
              <a:rPr lang="zh-CN" altLang="en-US" sz="600" dirty="0" smtClean="0">
                <a:latin typeface="+mj-lt"/>
              </a:rPr>
              <a:t>等</a:t>
            </a:r>
            <a:r>
              <a:rPr lang="zh-CN" altLang="en-US" sz="600" dirty="0">
                <a:latin typeface="+mj-lt"/>
              </a:rPr>
              <a:t>资格证书</a:t>
            </a:r>
            <a:r>
              <a:rPr lang="zh-CN" altLang="en-US" sz="600" dirty="0" smtClean="0">
                <a:latin typeface="+mj-lt"/>
              </a:rPr>
              <a:t>。硕士</a:t>
            </a:r>
            <a:r>
              <a:rPr lang="zh-CN" altLang="en-US" sz="600" dirty="0">
                <a:latin typeface="+mj-lt"/>
              </a:rPr>
              <a:t>学位：学士学位</a:t>
            </a:r>
            <a:r>
              <a:rPr lang="en-US" altLang="zh-CN" sz="600" dirty="0">
                <a:latin typeface="+mj-lt"/>
              </a:rPr>
              <a:t>+2</a:t>
            </a:r>
            <a:r>
              <a:rPr lang="zh-CN" altLang="en-US" sz="600" dirty="0" smtClean="0">
                <a:latin typeface="+mj-lt"/>
              </a:rPr>
              <a:t>年</a:t>
            </a:r>
            <a:r>
              <a:rPr lang="en-US" altLang="zh-CN" sz="600" dirty="0" smtClean="0">
                <a:latin typeface="+mj-lt"/>
              </a:rPr>
              <a:t>; </a:t>
            </a:r>
          </a:p>
          <a:p>
            <a:r>
              <a:rPr lang="zh-CN" altLang="en-US" sz="600" dirty="0" smtClean="0">
                <a:latin typeface="+mj-lt"/>
              </a:rPr>
              <a:t>副博士学位：专家</a:t>
            </a:r>
            <a:r>
              <a:rPr lang="zh-CN" altLang="en-US" sz="600" dirty="0">
                <a:latin typeface="+mj-lt"/>
              </a:rPr>
              <a:t>学位</a:t>
            </a:r>
            <a:r>
              <a:rPr lang="en-US" altLang="zh-CN" sz="600" dirty="0">
                <a:latin typeface="+mj-lt"/>
              </a:rPr>
              <a:t>+3</a:t>
            </a:r>
            <a:r>
              <a:rPr lang="zh-CN" altLang="en-US" sz="600" dirty="0" smtClean="0">
                <a:latin typeface="+mj-lt"/>
              </a:rPr>
              <a:t>年</a:t>
            </a:r>
            <a:r>
              <a:rPr lang="en-US" altLang="zh-CN" sz="600" dirty="0" smtClean="0">
                <a:latin typeface="+mj-lt"/>
              </a:rPr>
              <a:t>, </a:t>
            </a:r>
            <a:r>
              <a:rPr lang="zh-CN" altLang="en-US" sz="600" dirty="0" smtClean="0">
                <a:latin typeface="+mj-lt"/>
              </a:rPr>
              <a:t>在</a:t>
            </a:r>
            <a:r>
              <a:rPr lang="zh-CN" altLang="en-US" sz="600" dirty="0">
                <a:latin typeface="+mj-lt"/>
              </a:rPr>
              <a:t>中国大陆和台湾，副博士学位被认定相当于国内大学或欧美日各国大学授予的博士学位</a:t>
            </a:r>
            <a:r>
              <a:rPr lang="zh-CN" altLang="en-US" sz="600" dirty="0" smtClean="0">
                <a:latin typeface="+mj-lt"/>
              </a:rPr>
              <a:t>。</a:t>
            </a:r>
            <a:endParaRPr lang="en-US" altLang="zh-CN" sz="600" dirty="0" smtClean="0">
              <a:latin typeface="+mj-lt"/>
            </a:endParaRPr>
          </a:p>
          <a:p>
            <a:r>
              <a:rPr lang="zh-CN" altLang="en-US" sz="600" dirty="0" smtClean="0">
                <a:latin typeface="+mj-lt"/>
              </a:rPr>
              <a:t>全博士学位</a:t>
            </a:r>
            <a:r>
              <a:rPr lang="en-US" altLang="zh-CN" sz="600" dirty="0" smtClean="0">
                <a:latin typeface="+mj-lt"/>
              </a:rPr>
              <a:t>/</a:t>
            </a:r>
            <a:r>
              <a:rPr lang="zh-CN" altLang="en-US" sz="600" dirty="0" smtClean="0">
                <a:latin typeface="+mj-lt"/>
              </a:rPr>
              <a:t>科学博士</a:t>
            </a:r>
            <a:r>
              <a:rPr lang="en-US" altLang="zh-CN" sz="600" dirty="0" smtClean="0">
                <a:latin typeface="+mj-lt"/>
              </a:rPr>
              <a:t>: </a:t>
            </a:r>
            <a:r>
              <a:rPr lang="zh-CN" altLang="en-US" sz="600" dirty="0" smtClean="0">
                <a:latin typeface="+mj-lt"/>
              </a:rPr>
              <a:t>获</a:t>
            </a:r>
            <a:r>
              <a:rPr lang="zh-CN" altLang="en-US" sz="600" dirty="0">
                <a:latin typeface="+mj-lt"/>
              </a:rPr>
              <a:t>副博士学位者在平时工作岗位上独立进行研究工作，提出独创性</a:t>
            </a:r>
            <a:r>
              <a:rPr lang="en-US" altLang="zh-CN" sz="600" dirty="0">
                <a:latin typeface="+mj-lt"/>
              </a:rPr>
              <a:t>/</a:t>
            </a:r>
            <a:r>
              <a:rPr lang="zh-CN" altLang="en-US" sz="600" dirty="0">
                <a:latin typeface="+mj-lt"/>
              </a:rPr>
              <a:t>有重大贡献的论文，通过</a:t>
            </a:r>
            <a:r>
              <a:rPr lang="zh-CN" altLang="en-US" sz="600" dirty="0" smtClean="0">
                <a:latin typeface="+mj-lt"/>
              </a:rPr>
              <a:t>答辩。</a:t>
            </a:r>
            <a:endParaRPr lang="en-US" altLang="zh-CN" sz="600" dirty="0" smtClean="0">
              <a:latin typeface="+mj-lt"/>
            </a:endParaRPr>
          </a:p>
          <a:p>
            <a:r>
              <a:rPr lang="zh-CN" altLang="en-US" sz="600" b="1" dirty="0" smtClean="0">
                <a:latin typeface="+mj-lt"/>
              </a:rPr>
              <a:t>我国学位分类</a:t>
            </a:r>
            <a:r>
              <a:rPr lang="zh-CN" altLang="en-US" sz="600" dirty="0" smtClean="0">
                <a:latin typeface="+mj-lt"/>
              </a:rPr>
              <a:t>（</a:t>
            </a:r>
            <a:r>
              <a:rPr lang="en-US" altLang="zh-CN" sz="600" dirty="0">
                <a:latin typeface="+mj-lt"/>
              </a:rPr>
              <a:t>《</a:t>
            </a:r>
            <a:r>
              <a:rPr lang="zh-CN" altLang="en-US" sz="600" dirty="0">
                <a:latin typeface="+mj-lt"/>
              </a:rPr>
              <a:t>中华人民共和国学位条例</a:t>
            </a:r>
            <a:r>
              <a:rPr lang="en-US" altLang="zh-CN" sz="600" dirty="0" smtClean="0">
                <a:latin typeface="+mj-lt"/>
              </a:rPr>
              <a:t>》 80.2.12/04.8.28</a:t>
            </a:r>
            <a:r>
              <a:rPr lang="zh-CN" altLang="en-US" sz="600" dirty="0" smtClean="0">
                <a:latin typeface="+mj-lt"/>
              </a:rPr>
              <a:t>）</a:t>
            </a:r>
            <a:endParaRPr lang="zh-CN" altLang="en-US" sz="600" dirty="0">
              <a:latin typeface="+mj-lt"/>
            </a:endParaRPr>
          </a:p>
          <a:p>
            <a:r>
              <a:rPr lang="zh-CN" altLang="en-US" sz="600" dirty="0" smtClean="0">
                <a:latin typeface="+mj-lt"/>
              </a:rPr>
              <a:t>学位分为</a:t>
            </a:r>
            <a:r>
              <a:rPr lang="zh-CN" altLang="en-US" sz="600" dirty="0">
                <a:latin typeface="+mj-lt"/>
              </a:rPr>
              <a:t>：学士、硕士、博士三级</a:t>
            </a:r>
          </a:p>
          <a:p>
            <a:r>
              <a:rPr lang="zh-CN" altLang="en-US" sz="600" dirty="0" smtClean="0">
                <a:latin typeface="+mj-lt"/>
              </a:rPr>
              <a:t>授予</a:t>
            </a:r>
            <a:r>
              <a:rPr lang="zh-CN" altLang="en-US" sz="600" dirty="0">
                <a:latin typeface="+mj-lt"/>
              </a:rPr>
              <a:t>门类：哲学、经济学、法学、教育学、文学、历史学、理学、工学、农学、</a:t>
            </a:r>
            <a:r>
              <a:rPr lang="zh-CN" altLang="en-US" sz="600" dirty="0" smtClean="0">
                <a:latin typeface="+mj-lt"/>
              </a:rPr>
              <a:t>医学</a:t>
            </a:r>
            <a:endParaRPr lang="en-US" altLang="zh-CN" sz="600" dirty="0" smtClean="0">
              <a:latin typeface="+mj-lt"/>
            </a:endParaRPr>
          </a:p>
          <a:p>
            <a:r>
              <a:rPr lang="zh-CN" altLang="en-US" sz="600" b="1" dirty="0" smtClean="0">
                <a:latin typeface="+mj-lt"/>
              </a:rPr>
              <a:t>学术</a:t>
            </a:r>
            <a:r>
              <a:rPr lang="zh-CN" altLang="en-US" sz="600" dirty="0" smtClean="0">
                <a:latin typeface="+mj-lt"/>
              </a:rPr>
              <a:t>：①系统</a:t>
            </a:r>
            <a:r>
              <a:rPr lang="zh-CN" altLang="en-US" sz="600" dirty="0">
                <a:latin typeface="+mj-lt"/>
              </a:rPr>
              <a:t>、专门的知识，也是学习知识的一种方法或能力。② 泛指高等教育和研究，是对存在物及其规律的学科化</a:t>
            </a:r>
            <a:r>
              <a:rPr lang="zh-CN" altLang="en-US" sz="600" dirty="0" smtClean="0">
                <a:latin typeface="+mj-lt"/>
              </a:rPr>
              <a:t>。</a:t>
            </a:r>
            <a:endParaRPr lang="en-US" altLang="zh-CN" sz="600" dirty="0" smtClean="0">
              <a:latin typeface="+mj-lt"/>
            </a:endParaRPr>
          </a:p>
          <a:p>
            <a:r>
              <a:rPr lang="zh-CN" altLang="en-US" sz="600" b="1" dirty="0">
                <a:latin typeface="+mj-lt"/>
              </a:rPr>
              <a:t>与学术直接相关的</a:t>
            </a:r>
            <a:r>
              <a:rPr lang="zh-CN" altLang="en-US" sz="600" b="1" dirty="0" smtClean="0">
                <a:latin typeface="+mj-lt"/>
              </a:rPr>
              <a:t>活动</a:t>
            </a:r>
            <a:r>
              <a:rPr lang="zh-CN" altLang="en-US" sz="600" dirty="0">
                <a:latin typeface="+mj-lt"/>
              </a:rPr>
              <a:t>：</a:t>
            </a:r>
            <a:r>
              <a:rPr lang="zh-CN" altLang="en-US" sz="600" dirty="0" smtClean="0">
                <a:latin typeface="+mj-lt"/>
              </a:rPr>
              <a:t>利用</a:t>
            </a:r>
            <a:r>
              <a:rPr lang="zh-CN" altLang="en-US" sz="600" dirty="0">
                <a:latin typeface="+mj-lt"/>
              </a:rPr>
              <a:t>学术</a:t>
            </a:r>
            <a:r>
              <a:rPr lang="zh-CN" altLang="en-US" sz="600" dirty="0" smtClean="0">
                <a:latin typeface="+mj-lt"/>
              </a:rPr>
              <a:t>资源、开展</a:t>
            </a:r>
            <a:r>
              <a:rPr lang="zh-CN" altLang="en-US" sz="600" dirty="0">
                <a:latin typeface="+mj-lt"/>
              </a:rPr>
              <a:t>学术</a:t>
            </a:r>
            <a:r>
              <a:rPr lang="zh-CN" altLang="en-US" sz="600" dirty="0" smtClean="0">
                <a:latin typeface="+mj-lt"/>
              </a:rPr>
              <a:t>研究、发表</a:t>
            </a:r>
            <a:r>
              <a:rPr lang="zh-CN" altLang="en-US" sz="600" dirty="0">
                <a:latin typeface="+mj-lt"/>
              </a:rPr>
              <a:t>学术</a:t>
            </a:r>
            <a:r>
              <a:rPr lang="zh-CN" altLang="en-US" sz="600" dirty="0" smtClean="0">
                <a:latin typeface="+mj-lt"/>
              </a:rPr>
              <a:t>成果、评价</a:t>
            </a:r>
            <a:r>
              <a:rPr lang="zh-CN" altLang="en-US" sz="600" dirty="0">
                <a:latin typeface="+mj-lt"/>
              </a:rPr>
              <a:t>学术</a:t>
            </a:r>
            <a:r>
              <a:rPr lang="zh-CN" altLang="en-US" sz="600" dirty="0" smtClean="0">
                <a:latin typeface="+mj-lt"/>
              </a:rPr>
              <a:t>水平，学术</a:t>
            </a:r>
            <a:r>
              <a:rPr lang="zh-CN" altLang="en-US" sz="600" dirty="0">
                <a:latin typeface="+mj-lt"/>
              </a:rPr>
              <a:t>资源的载体</a:t>
            </a:r>
            <a:r>
              <a:rPr lang="en-US" altLang="zh-CN" sz="600" dirty="0">
                <a:latin typeface="+mj-lt"/>
              </a:rPr>
              <a:t>——</a:t>
            </a:r>
            <a:r>
              <a:rPr lang="zh-CN" altLang="en-US" sz="600" dirty="0">
                <a:latin typeface="+mj-lt"/>
              </a:rPr>
              <a:t>科技</a:t>
            </a:r>
            <a:r>
              <a:rPr lang="zh-CN" altLang="en-US" sz="600" dirty="0" smtClean="0">
                <a:latin typeface="+mj-lt"/>
              </a:rPr>
              <a:t>论文</a:t>
            </a:r>
            <a:endParaRPr lang="en-US" altLang="zh-CN" sz="600" dirty="0" smtClean="0">
              <a:latin typeface="+mj-lt"/>
            </a:endParaRPr>
          </a:p>
          <a:p>
            <a:r>
              <a:rPr lang="zh-CN" altLang="en-US" sz="600" dirty="0" smtClean="0">
                <a:latin typeface="+mj-lt"/>
              </a:rPr>
              <a:t>国家标准：</a:t>
            </a:r>
            <a:r>
              <a:rPr lang="en-US" altLang="zh-CN" sz="600" dirty="0" smtClean="0">
                <a:latin typeface="+mj-lt"/>
              </a:rPr>
              <a:t>《</a:t>
            </a:r>
            <a:r>
              <a:rPr lang="zh-CN" altLang="en-US" sz="600" dirty="0">
                <a:latin typeface="+mj-lt"/>
              </a:rPr>
              <a:t>科学技术报告、学位论文和学术论文的编写格式</a:t>
            </a:r>
            <a:r>
              <a:rPr lang="en-US" altLang="zh-CN" sz="600" dirty="0" smtClean="0">
                <a:latin typeface="+mj-lt"/>
              </a:rPr>
              <a:t>》</a:t>
            </a:r>
            <a:r>
              <a:rPr lang="zh-CN" altLang="en-US" sz="600" dirty="0" smtClean="0">
                <a:latin typeface="+mj-lt"/>
              </a:rPr>
              <a:t>（</a:t>
            </a:r>
            <a:r>
              <a:rPr lang="en-US" altLang="zh-CN" sz="600" dirty="0">
                <a:latin typeface="+mj-lt"/>
              </a:rPr>
              <a:t>GB7713-87</a:t>
            </a:r>
            <a:r>
              <a:rPr lang="zh-CN" altLang="en-US" sz="600" dirty="0" smtClean="0">
                <a:latin typeface="+mj-lt"/>
              </a:rPr>
              <a:t>）；学术论文、学位论文属于科技论文。</a:t>
            </a:r>
            <a:endParaRPr lang="en-US" altLang="zh-CN" sz="600" dirty="0" smtClean="0">
              <a:latin typeface="+mj-lt"/>
            </a:endParaRPr>
          </a:p>
          <a:p>
            <a:r>
              <a:rPr lang="zh-CN" altLang="en-US" sz="600" b="1" dirty="0">
                <a:latin typeface="+mj-lt"/>
              </a:rPr>
              <a:t>科学技术</a:t>
            </a:r>
            <a:r>
              <a:rPr lang="zh-CN" altLang="en-US" sz="600" b="1" dirty="0" smtClean="0">
                <a:latin typeface="+mj-lt"/>
              </a:rPr>
              <a:t>报告</a:t>
            </a:r>
            <a:r>
              <a:rPr lang="zh-CN" altLang="en-US" sz="600" dirty="0" smtClean="0">
                <a:latin typeface="+mj-lt"/>
              </a:rPr>
              <a:t>：描述</a:t>
            </a:r>
            <a:r>
              <a:rPr lang="zh-CN" altLang="en-US" sz="600" dirty="0">
                <a:latin typeface="+mj-lt"/>
              </a:rPr>
              <a:t>一项科学技术研究的结果或进展或一项技术研制试验和评价的结果；或是论述某项科学技术问题的现状和发展的文件。</a:t>
            </a:r>
          </a:p>
          <a:p>
            <a:r>
              <a:rPr lang="zh-CN" altLang="en-US" sz="600" dirty="0" smtClean="0">
                <a:latin typeface="+mj-lt"/>
              </a:rPr>
              <a:t>科学技术</a:t>
            </a:r>
            <a:r>
              <a:rPr lang="zh-CN" altLang="en-US" sz="600" dirty="0">
                <a:latin typeface="+mj-lt"/>
              </a:rPr>
              <a:t>报告是为了呈送科学技术工作主管机构或科学基金会等组织</a:t>
            </a:r>
            <a:r>
              <a:rPr lang="zh-CN" altLang="en-US" sz="600" dirty="0" smtClean="0">
                <a:latin typeface="+mj-lt"/>
              </a:rPr>
              <a:t>或主持</a:t>
            </a:r>
            <a:r>
              <a:rPr lang="zh-CN" altLang="en-US" sz="600" dirty="0">
                <a:latin typeface="+mj-lt"/>
              </a:rPr>
              <a:t>研究的人等。</a:t>
            </a:r>
          </a:p>
          <a:p>
            <a:r>
              <a:rPr lang="zh-CN" altLang="en-US" sz="600" dirty="0" smtClean="0">
                <a:latin typeface="+mj-lt"/>
              </a:rPr>
              <a:t>科学技术</a:t>
            </a:r>
            <a:r>
              <a:rPr lang="zh-CN" altLang="en-US" sz="600" dirty="0">
                <a:latin typeface="+mj-lt"/>
              </a:rPr>
              <a:t>报告中一般应该提供系统的或按工作进程的充分信息，可以</a:t>
            </a:r>
            <a:r>
              <a:rPr lang="zh-CN" altLang="en-US" sz="600" dirty="0" smtClean="0">
                <a:latin typeface="+mj-lt"/>
              </a:rPr>
              <a:t>包括正反两方面的结果和经验，以便有关人员和读者判断和评价，以及对报告中的结论和建议提出修正意见。</a:t>
            </a:r>
            <a:endParaRPr lang="en-US" altLang="zh-CN" sz="600" dirty="0" smtClean="0">
              <a:latin typeface="+mj-lt"/>
            </a:endParaRPr>
          </a:p>
          <a:p>
            <a:r>
              <a:rPr lang="zh-CN" altLang="en-US" sz="600" b="1" dirty="0">
                <a:latin typeface="+mj-lt"/>
              </a:rPr>
              <a:t>学术</a:t>
            </a:r>
            <a:r>
              <a:rPr lang="zh-CN" altLang="en-US" sz="600" b="1" dirty="0" smtClean="0">
                <a:latin typeface="+mj-lt"/>
              </a:rPr>
              <a:t>论文</a:t>
            </a:r>
            <a:r>
              <a:rPr lang="zh-CN" altLang="en-US" sz="600" dirty="0" smtClean="0">
                <a:latin typeface="+mj-lt"/>
              </a:rPr>
              <a:t>：① 某</a:t>
            </a:r>
            <a:r>
              <a:rPr lang="zh-CN" altLang="en-US" sz="600" dirty="0">
                <a:latin typeface="+mj-lt"/>
              </a:rPr>
              <a:t>一学术课题在实验性、理论性或观测性上具有新的科学研究成果或创新见解和知识的科学</a:t>
            </a:r>
            <a:r>
              <a:rPr lang="zh-CN" altLang="en-US" sz="600" dirty="0" smtClean="0">
                <a:latin typeface="+mj-lt"/>
              </a:rPr>
              <a:t>记录</a:t>
            </a:r>
            <a:r>
              <a:rPr lang="zh-CN" altLang="en-US" sz="600" dirty="0">
                <a:latin typeface="+mj-lt"/>
              </a:rPr>
              <a:t>；</a:t>
            </a:r>
            <a:r>
              <a:rPr lang="zh-CN" altLang="en-US" sz="600" dirty="0" smtClean="0">
                <a:latin typeface="+mj-lt"/>
              </a:rPr>
              <a:t>② 某种</a:t>
            </a:r>
            <a:r>
              <a:rPr lang="zh-CN" altLang="en-US" sz="600" dirty="0">
                <a:latin typeface="+mj-lt"/>
              </a:rPr>
              <a:t>已知原理应用于实际中取得新进展的科学总结。</a:t>
            </a:r>
          </a:p>
          <a:p>
            <a:r>
              <a:rPr lang="zh-CN" altLang="en-US" sz="600" dirty="0" smtClean="0">
                <a:latin typeface="+mj-lt"/>
              </a:rPr>
              <a:t>学术论文用以</a:t>
            </a:r>
            <a:r>
              <a:rPr lang="zh-CN" altLang="en-US" sz="600" dirty="0">
                <a:latin typeface="+mj-lt"/>
              </a:rPr>
              <a:t>提供学术会议上宣读、交流或讨论；或在学术刊物上发表；或作</a:t>
            </a:r>
            <a:r>
              <a:rPr lang="zh-CN" altLang="en-US" sz="600" dirty="0" smtClean="0">
                <a:latin typeface="+mj-lt"/>
              </a:rPr>
              <a:t>其他用途</a:t>
            </a:r>
            <a:r>
              <a:rPr lang="zh-CN" altLang="en-US" sz="600" dirty="0">
                <a:latin typeface="+mj-lt"/>
              </a:rPr>
              <a:t>的书面文件。</a:t>
            </a:r>
          </a:p>
          <a:p>
            <a:r>
              <a:rPr lang="zh-CN" altLang="en-US" sz="600" dirty="0">
                <a:latin typeface="+mj-lt"/>
              </a:rPr>
              <a:t>应提供新的科技信息，其内容应有所发现、有所发明、有所创造、有所前进，而不是重复、模仿、抄袭前人的工作</a:t>
            </a:r>
            <a:r>
              <a:rPr lang="zh-CN" altLang="en-US" sz="600" dirty="0" smtClean="0">
                <a:latin typeface="+mj-lt"/>
              </a:rPr>
              <a:t>。</a:t>
            </a:r>
            <a:endParaRPr lang="en-US" altLang="zh-CN" sz="600" dirty="0" smtClean="0">
              <a:latin typeface="+mj-lt"/>
            </a:endParaRPr>
          </a:p>
          <a:p>
            <a:r>
              <a:rPr lang="zh-CN" altLang="en-US" sz="600" b="1" dirty="0">
                <a:latin typeface="+mj-lt"/>
              </a:rPr>
              <a:t>学位</a:t>
            </a:r>
            <a:r>
              <a:rPr lang="zh-CN" altLang="en-US" sz="600" b="1" dirty="0" smtClean="0">
                <a:latin typeface="+mj-lt"/>
              </a:rPr>
              <a:t>论文</a:t>
            </a:r>
            <a:r>
              <a:rPr lang="zh-CN" altLang="en-US" sz="600" dirty="0" smtClean="0">
                <a:latin typeface="+mj-lt"/>
              </a:rPr>
              <a:t>：表明</a:t>
            </a:r>
            <a:r>
              <a:rPr lang="zh-CN" altLang="en-US" sz="600" dirty="0">
                <a:latin typeface="+mj-lt"/>
              </a:rPr>
              <a:t>作者从事科学研究取得创造性的结果或有了新的见解，并以此为内容撰写而成、作为提出申请授予相应学位时评审用的学术论文</a:t>
            </a:r>
            <a:r>
              <a:rPr lang="zh-CN" altLang="en-US" sz="600" dirty="0" smtClean="0">
                <a:latin typeface="+mj-lt"/>
              </a:rPr>
              <a:t>。用于证明</a:t>
            </a:r>
            <a:r>
              <a:rPr lang="zh-CN" altLang="en-US" sz="600" dirty="0">
                <a:latin typeface="+mj-lt"/>
              </a:rPr>
              <a:t>具备相应的能力，可以授予相应学位</a:t>
            </a:r>
            <a:r>
              <a:rPr lang="zh-CN" altLang="en-US" sz="600" dirty="0" smtClean="0">
                <a:latin typeface="+mj-lt"/>
              </a:rPr>
              <a:t>。</a:t>
            </a:r>
            <a:endParaRPr lang="en-US" altLang="zh-CN" sz="600" dirty="0" smtClean="0">
              <a:latin typeface="+mj-lt"/>
            </a:endParaRPr>
          </a:p>
          <a:p>
            <a:r>
              <a:rPr lang="zh-CN" altLang="en-US" sz="600" b="1" dirty="0">
                <a:latin typeface="+mj-lt"/>
              </a:rPr>
              <a:t>科技论文</a:t>
            </a:r>
            <a:r>
              <a:rPr lang="zh-CN" altLang="en-US" sz="600" dirty="0" smtClean="0">
                <a:latin typeface="+mj-lt"/>
              </a:rPr>
              <a:t>：对</a:t>
            </a:r>
            <a:r>
              <a:rPr lang="zh-CN" altLang="en-US" sz="600" dirty="0">
                <a:latin typeface="+mj-lt"/>
              </a:rPr>
              <a:t>创造性的科研成果进行理论分析和总结的科技写作</a:t>
            </a:r>
            <a:r>
              <a:rPr lang="zh-CN" altLang="en-US" sz="600" dirty="0" smtClean="0">
                <a:latin typeface="+mj-lt"/>
              </a:rPr>
              <a:t>文体</a:t>
            </a:r>
            <a:r>
              <a:rPr lang="zh-CN" altLang="en-US" sz="600" dirty="0">
                <a:latin typeface="+mj-lt"/>
              </a:rPr>
              <a:t>，</a:t>
            </a:r>
            <a:r>
              <a:rPr lang="zh-CN" altLang="en-US" sz="600" dirty="0" smtClean="0">
                <a:latin typeface="+mj-lt"/>
              </a:rPr>
              <a:t>是</a:t>
            </a:r>
            <a:r>
              <a:rPr lang="zh-CN" altLang="en-US" sz="600" dirty="0">
                <a:latin typeface="+mj-lt"/>
              </a:rPr>
              <a:t>报道自然科学研究和技术开发创新工作成果的论说文章，它通过运用概念、判断、推理、证明或反驳等逻辑思维手段，来分析表达自然科学理论和技术开发研究成果</a:t>
            </a:r>
            <a:r>
              <a:rPr lang="zh-CN" altLang="en-US" sz="600" dirty="0" smtClean="0">
                <a:latin typeface="+mj-lt"/>
              </a:rPr>
              <a:t>。</a:t>
            </a:r>
            <a:endParaRPr lang="en-US" altLang="zh-CN" sz="600" dirty="0" smtClean="0">
              <a:latin typeface="+mj-lt"/>
            </a:endParaRPr>
          </a:p>
          <a:p>
            <a:r>
              <a:rPr lang="zh-CN" altLang="en-US" sz="600" dirty="0" smtClean="0">
                <a:latin typeface="+mj-lt"/>
              </a:rPr>
              <a:t>内容实质：是</a:t>
            </a:r>
            <a:r>
              <a:rPr lang="zh-CN" altLang="en-US" sz="600" dirty="0">
                <a:latin typeface="+mj-lt"/>
              </a:rPr>
              <a:t>创新性科学技术研究工作成果的科学论述</a:t>
            </a:r>
            <a:r>
              <a:rPr lang="zh-CN" altLang="en-US" sz="600" dirty="0" smtClean="0">
                <a:latin typeface="+mj-lt"/>
              </a:rPr>
              <a:t>；</a:t>
            </a:r>
          </a:p>
          <a:p>
            <a:r>
              <a:rPr lang="zh-CN" altLang="en-US" sz="600" dirty="0" smtClean="0">
                <a:latin typeface="+mj-lt"/>
              </a:rPr>
              <a:t>是某些理论性、实验性或观测性新知识的科学记录；</a:t>
            </a:r>
          </a:p>
          <a:p>
            <a:r>
              <a:rPr lang="zh-CN" altLang="en-US" sz="600" dirty="0" smtClean="0">
                <a:latin typeface="+mj-lt"/>
              </a:rPr>
              <a:t>是</a:t>
            </a:r>
            <a:r>
              <a:rPr lang="zh-CN" altLang="en-US" sz="600" dirty="0">
                <a:latin typeface="+mj-lt"/>
              </a:rPr>
              <a:t>某些已知原理应用于实际中取得新进展、新成果的科学总结</a:t>
            </a:r>
            <a:r>
              <a:rPr lang="zh-CN" altLang="en-US" sz="600" dirty="0" smtClean="0">
                <a:latin typeface="+mj-lt"/>
              </a:rPr>
              <a:t>。</a:t>
            </a:r>
            <a:endParaRPr lang="en-US" altLang="zh-CN" sz="600" dirty="0" smtClean="0">
              <a:latin typeface="+mj-lt"/>
            </a:endParaRPr>
          </a:p>
          <a:p>
            <a:r>
              <a:rPr lang="zh-CN" altLang="en-US" sz="600" b="1" dirty="0">
                <a:latin typeface="+mj-lt"/>
              </a:rPr>
              <a:t>科技论文与教科书、专著的</a:t>
            </a:r>
            <a:r>
              <a:rPr lang="zh-CN" altLang="en-US" sz="600" b="1" dirty="0" smtClean="0">
                <a:latin typeface="+mj-lt"/>
              </a:rPr>
              <a:t>差别</a:t>
            </a:r>
            <a:r>
              <a:rPr lang="zh-CN" altLang="en-US" sz="600" dirty="0" smtClean="0">
                <a:latin typeface="+mj-lt"/>
              </a:rPr>
              <a:t>：① </a:t>
            </a:r>
            <a:r>
              <a:rPr lang="zh-CN" altLang="en-US" sz="600" dirty="0">
                <a:latin typeface="+mj-lt"/>
              </a:rPr>
              <a:t>科技论文是揭示作者的最新研究成果，体现出作者研究工作的先进性。写作手法是紧密围绕文章的新内容，层层展开</a:t>
            </a:r>
            <a:r>
              <a:rPr lang="zh-CN" altLang="en-US" sz="600" dirty="0" smtClean="0">
                <a:latin typeface="+mj-lt"/>
              </a:rPr>
              <a:t>。② </a:t>
            </a:r>
            <a:r>
              <a:rPr lang="zh-CN" altLang="en-US" sz="600" dirty="0">
                <a:latin typeface="+mj-lt"/>
              </a:rPr>
              <a:t>教科书是让学生学到知识，使读者能读懂、学得会。写作手法是从最基本的知识入手，讲解细致，由浅入深</a:t>
            </a:r>
            <a:r>
              <a:rPr lang="zh-CN" altLang="en-US" sz="600" dirty="0" smtClean="0">
                <a:latin typeface="+mj-lt"/>
              </a:rPr>
              <a:t>。③ </a:t>
            </a:r>
            <a:r>
              <a:rPr lang="zh-CN" altLang="en-US" sz="600" dirty="0">
                <a:latin typeface="+mj-lt"/>
              </a:rPr>
              <a:t>专著是系统、全面地告诉读者某领域的科学知识、研究方法、存在问题，同时要求读者具有相关的专业基础知识。总的特点是围绕某几个专题全面展开，尤其注重知识的深度、广度</a:t>
            </a:r>
            <a:r>
              <a:rPr lang="zh-CN" altLang="en-US" sz="600" dirty="0" smtClean="0">
                <a:latin typeface="+mj-lt"/>
              </a:rPr>
              <a:t>。（参考文献以科技论文为主，越新越好）</a:t>
            </a:r>
            <a:endParaRPr lang="en-US" altLang="zh-CN" sz="600" dirty="0" smtClean="0">
              <a:latin typeface="+mj-lt"/>
            </a:endParaRPr>
          </a:p>
          <a:p>
            <a:r>
              <a:rPr lang="zh-CN" altLang="en-US" sz="600" b="1" dirty="0" smtClean="0">
                <a:latin typeface="+mj-lt"/>
              </a:rPr>
              <a:t>为什么</a:t>
            </a:r>
            <a:r>
              <a:rPr lang="zh-CN" altLang="en-US" sz="600" b="1" dirty="0">
                <a:latin typeface="+mj-lt"/>
              </a:rPr>
              <a:t>要写科技</a:t>
            </a:r>
            <a:r>
              <a:rPr lang="zh-CN" altLang="en-US" sz="600" b="1" dirty="0" smtClean="0">
                <a:latin typeface="+mj-lt"/>
              </a:rPr>
              <a:t>论文</a:t>
            </a:r>
            <a:r>
              <a:rPr lang="zh-CN" altLang="en-US" sz="600" dirty="0" smtClean="0">
                <a:latin typeface="+mj-lt"/>
              </a:rPr>
              <a:t>：① </a:t>
            </a:r>
            <a:r>
              <a:rPr lang="zh-CN" altLang="en-US" sz="600" dirty="0">
                <a:latin typeface="+mj-lt"/>
              </a:rPr>
              <a:t>功能角度：获取系统知识的有力手段。是新思想、新理念、新技术、新方法的描述</a:t>
            </a:r>
            <a:r>
              <a:rPr lang="zh-CN" altLang="en-US" sz="600" dirty="0" smtClean="0">
                <a:latin typeface="+mj-lt"/>
              </a:rPr>
              <a:t>。② </a:t>
            </a:r>
            <a:r>
              <a:rPr lang="zh-CN" altLang="en-US" sz="600" dirty="0">
                <a:latin typeface="+mj-lt"/>
              </a:rPr>
              <a:t>工具角度：训练综合能力的主要方法。信息检索能力、观察能力、创新能力、思维能力、文字能力、科研能力</a:t>
            </a:r>
            <a:r>
              <a:rPr lang="zh-CN" altLang="en-US" sz="600" dirty="0" smtClean="0">
                <a:latin typeface="+mj-lt"/>
              </a:rPr>
              <a:t>。③ </a:t>
            </a:r>
            <a:r>
              <a:rPr lang="zh-CN" altLang="en-US" sz="600" dirty="0">
                <a:latin typeface="+mj-lt"/>
              </a:rPr>
              <a:t>功利角度：实现人生价值的有效途径。有益于人才的脱颖而出；有益于个体的公平竞争；在学习、工作、生活等方面具有重要</a:t>
            </a:r>
            <a:r>
              <a:rPr lang="zh-CN" altLang="en-US" sz="600" dirty="0" smtClean="0">
                <a:latin typeface="+mj-lt"/>
              </a:rPr>
              <a:t>影响。</a:t>
            </a:r>
            <a:endParaRPr lang="en-US" altLang="zh-CN" sz="600" dirty="0" smtClean="0">
              <a:latin typeface="+mj-lt"/>
            </a:endParaRPr>
          </a:p>
          <a:p>
            <a:r>
              <a:rPr lang="zh-CN" altLang="en-US" sz="600" b="1" dirty="0">
                <a:latin typeface="+mj-lt"/>
              </a:rPr>
              <a:t>科技论文特点</a:t>
            </a:r>
            <a:r>
              <a:rPr lang="zh-CN" altLang="en-US" sz="600" dirty="0">
                <a:latin typeface="+mj-lt"/>
              </a:rPr>
              <a:t>：</a:t>
            </a:r>
            <a:r>
              <a:rPr lang="zh-CN" altLang="en-US" sz="600" dirty="0" smtClean="0">
                <a:latin typeface="+mj-lt"/>
              </a:rPr>
              <a:t>创新性、学术性、科学性、可读性</a:t>
            </a:r>
            <a:endParaRPr lang="en-US" altLang="zh-CN" sz="600" dirty="0" smtClean="0">
              <a:latin typeface="+mj-lt"/>
            </a:endParaRPr>
          </a:p>
          <a:p>
            <a:r>
              <a:rPr lang="zh-CN" altLang="en-US" sz="600" b="1" dirty="0" smtClean="0">
                <a:latin typeface="+mj-lt"/>
              </a:rPr>
              <a:t>创新性</a:t>
            </a:r>
            <a:r>
              <a:rPr lang="zh-CN" altLang="en-US" sz="600" dirty="0" smtClean="0">
                <a:latin typeface="+mj-lt"/>
              </a:rPr>
              <a:t>：科技</a:t>
            </a:r>
            <a:r>
              <a:rPr lang="zh-CN" altLang="en-US" sz="600" dirty="0">
                <a:latin typeface="+mj-lt"/>
              </a:rPr>
              <a:t>论文报道的主要研究成果应是前人 </a:t>
            </a:r>
            <a:r>
              <a:rPr lang="en-US" altLang="zh-CN" sz="600" dirty="0">
                <a:latin typeface="+mj-lt"/>
              </a:rPr>
              <a:t>(</a:t>
            </a:r>
            <a:r>
              <a:rPr lang="zh-CN" altLang="en-US" sz="600" dirty="0">
                <a:latin typeface="+mj-lt"/>
              </a:rPr>
              <a:t>或他人</a:t>
            </a:r>
            <a:r>
              <a:rPr lang="en-US" altLang="zh-CN" sz="600" dirty="0">
                <a:latin typeface="+mj-lt"/>
              </a:rPr>
              <a:t>) </a:t>
            </a:r>
            <a:r>
              <a:rPr lang="zh-CN" altLang="en-US" sz="600" dirty="0">
                <a:latin typeface="+mj-lt"/>
              </a:rPr>
              <a:t>所没有的</a:t>
            </a:r>
            <a:r>
              <a:rPr lang="zh-CN" altLang="en-US" sz="600" dirty="0" smtClean="0">
                <a:latin typeface="+mj-lt"/>
              </a:rPr>
              <a:t>。没有</a:t>
            </a:r>
            <a:r>
              <a:rPr lang="zh-CN" altLang="en-US" sz="600" dirty="0">
                <a:latin typeface="+mj-lt"/>
              </a:rPr>
              <a:t>新的观点、见解和结论</a:t>
            </a:r>
            <a:r>
              <a:rPr lang="en-US" altLang="zh-CN" sz="600" dirty="0">
                <a:latin typeface="+mj-lt"/>
              </a:rPr>
              <a:t>, </a:t>
            </a:r>
            <a:r>
              <a:rPr lang="zh-CN" altLang="en-US" sz="600" dirty="0">
                <a:latin typeface="+mj-lt"/>
              </a:rPr>
              <a:t>就不称其为科技论文。创新：创造</a:t>
            </a:r>
            <a:r>
              <a:rPr lang="en-US" altLang="zh-CN" sz="600" dirty="0">
                <a:latin typeface="+mj-lt"/>
              </a:rPr>
              <a:t>/</a:t>
            </a:r>
            <a:r>
              <a:rPr lang="zh-CN" altLang="en-US" sz="600" dirty="0">
                <a:latin typeface="+mj-lt"/>
              </a:rPr>
              <a:t>产生出新的观点、见解和</a:t>
            </a:r>
            <a:r>
              <a:rPr lang="zh-CN" altLang="en-US" sz="600" dirty="0" smtClean="0">
                <a:latin typeface="+mj-lt"/>
              </a:rPr>
              <a:t>结论。</a:t>
            </a:r>
            <a:endParaRPr lang="en-US" altLang="zh-CN" sz="600" dirty="0" smtClean="0">
              <a:latin typeface="+mj-lt"/>
            </a:endParaRPr>
          </a:p>
          <a:p>
            <a:r>
              <a:rPr lang="en-US" altLang="zh-CN" sz="600" dirty="0" smtClean="0">
                <a:latin typeface="+mj-lt"/>
              </a:rPr>
              <a:t>Nature</a:t>
            </a:r>
            <a:r>
              <a:rPr lang="en-US" altLang="zh-CN" sz="600" dirty="0">
                <a:latin typeface="+mj-lt"/>
              </a:rPr>
              <a:t>:</a:t>
            </a:r>
            <a:r>
              <a:rPr lang="zh-CN" altLang="en-US" sz="600" dirty="0" smtClean="0">
                <a:latin typeface="+mj-lt"/>
              </a:rPr>
              <a:t>创新</a:t>
            </a:r>
            <a:r>
              <a:rPr lang="zh-CN" altLang="en-US" sz="600" dirty="0">
                <a:latin typeface="+mj-lt"/>
              </a:rPr>
              <a:t>是科研成果新颖，引人注意 </a:t>
            </a:r>
            <a:r>
              <a:rPr lang="en-US" altLang="zh-CN" sz="600" dirty="0">
                <a:latin typeface="+mj-lt"/>
              </a:rPr>
              <a:t>(</a:t>
            </a:r>
            <a:r>
              <a:rPr lang="zh-CN" altLang="en-US" sz="600" dirty="0">
                <a:latin typeface="+mj-lt"/>
              </a:rPr>
              <a:t>出人意料或令人吃惊</a:t>
            </a:r>
            <a:r>
              <a:rPr lang="en-US" altLang="zh-CN" sz="600" dirty="0">
                <a:latin typeface="+mj-lt"/>
              </a:rPr>
              <a:t>)</a:t>
            </a:r>
            <a:r>
              <a:rPr lang="zh-CN" altLang="en-US" sz="600" dirty="0">
                <a:latin typeface="+mj-lt"/>
              </a:rPr>
              <a:t>，而且</a:t>
            </a:r>
            <a:r>
              <a:rPr lang="zh-CN" altLang="en-US" sz="600" dirty="0" smtClean="0">
                <a:latin typeface="+mj-lt"/>
              </a:rPr>
              <a:t>该项</a:t>
            </a:r>
            <a:r>
              <a:rPr lang="zh-CN" altLang="en-US" sz="600" dirty="0">
                <a:latin typeface="+mj-lt"/>
              </a:rPr>
              <a:t>研究看来在该领域之外具有广泛的意义，无论是报道一项突出的发现，还是某一</a:t>
            </a:r>
            <a:r>
              <a:rPr lang="zh-CN" altLang="en-US" sz="600" dirty="0" smtClean="0">
                <a:latin typeface="+mj-lt"/>
              </a:rPr>
              <a:t>重要</a:t>
            </a:r>
            <a:r>
              <a:rPr lang="zh-CN" altLang="en-US" sz="600" dirty="0">
                <a:latin typeface="+mj-lt"/>
              </a:rPr>
              <a:t>问题的实质性进展的第一手报告，均</a:t>
            </a:r>
            <a:r>
              <a:rPr lang="zh-CN" altLang="en-US" sz="600" dirty="0" smtClean="0">
                <a:latin typeface="+mj-lt"/>
              </a:rPr>
              <a:t>应使</a:t>
            </a:r>
            <a:r>
              <a:rPr lang="zh-CN" altLang="en-US" sz="600" dirty="0">
                <a:latin typeface="+mj-lt"/>
              </a:rPr>
              <a:t>其他领域的科学家</a:t>
            </a:r>
            <a:r>
              <a:rPr lang="zh-CN" altLang="en-US" sz="600" dirty="0" smtClean="0">
                <a:latin typeface="+mj-lt"/>
              </a:rPr>
              <a:t>感兴趣。</a:t>
            </a:r>
            <a:endParaRPr lang="en-US" altLang="zh-CN" sz="600" dirty="0" smtClean="0">
              <a:latin typeface="+mj-lt"/>
            </a:endParaRPr>
          </a:p>
          <a:p>
            <a:r>
              <a:rPr lang="en-US" altLang="zh-CN" sz="600" dirty="0" smtClean="0">
                <a:latin typeface="+mj-lt"/>
              </a:rPr>
              <a:t>Science:</a:t>
            </a:r>
            <a:r>
              <a:rPr lang="zh-CN" altLang="en-US" sz="600" dirty="0" smtClean="0">
                <a:latin typeface="+mj-lt"/>
              </a:rPr>
              <a:t>创新</a:t>
            </a:r>
            <a:r>
              <a:rPr lang="zh-CN" altLang="en-US" sz="600" dirty="0">
                <a:latin typeface="+mj-lt"/>
              </a:rPr>
              <a:t>是指对自然或理论提出新见解，而不是对已有研究结论的再次论证，内容激动人心并富有启发性，具有广泛的科学兴趣</a:t>
            </a:r>
            <a:r>
              <a:rPr lang="zh-CN" altLang="en-US" sz="600" dirty="0" smtClean="0">
                <a:latin typeface="+mj-lt"/>
              </a:rPr>
              <a:t>。具体</a:t>
            </a:r>
            <a:r>
              <a:rPr lang="zh-CN" altLang="en-US" sz="600" dirty="0">
                <a:latin typeface="+mj-lt"/>
              </a:rPr>
              <a:t>而言，就是说在已沉寂的研究领域提出创新思想，在十分活跃的研究领域取得重大进展或者是将原先彼此分离的研究领域融合在一起。</a:t>
            </a:r>
          </a:p>
          <a:p>
            <a:r>
              <a:rPr lang="zh-CN" altLang="en-US" sz="600" dirty="0" smtClean="0">
                <a:latin typeface="+mj-lt"/>
              </a:rPr>
              <a:t>国内：</a:t>
            </a:r>
            <a:r>
              <a:rPr lang="en-US" altLang="zh-CN" sz="600" dirty="0" smtClean="0">
                <a:latin typeface="+mj-lt"/>
              </a:rPr>
              <a:t>《</a:t>
            </a:r>
            <a:r>
              <a:rPr lang="zh-CN" altLang="en-US" sz="600" dirty="0">
                <a:latin typeface="+mj-lt"/>
              </a:rPr>
              <a:t>科学通报</a:t>
            </a:r>
            <a:r>
              <a:rPr lang="en-US" altLang="zh-CN" sz="600" dirty="0">
                <a:latin typeface="+mj-lt"/>
              </a:rPr>
              <a:t>》</a:t>
            </a:r>
            <a:r>
              <a:rPr lang="zh-CN" altLang="en-US" sz="600" dirty="0">
                <a:latin typeface="+mj-lt"/>
              </a:rPr>
              <a:t>、</a:t>
            </a:r>
            <a:r>
              <a:rPr lang="en-US" altLang="zh-CN" sz="600" dirty="0">
                <a:latin typeface="+mj-lt"/>
              </a:rPr>
              <a:t>《</a:t>
            </a:r>
            <a:r>
              <a:rPr lang="zh-CN" altLang="en-US" sz="600" dirty="0">
                <a:latin typeface="+mj-lt"/>
              </a:rPr>
              <a:t>中国科学</a:t>
            </a:r>
            <a:r>
              <a:rPr lang="en-US" altLang="zh-CN" sz="600" dirty="0">
                <a:latin typeface="+mj-lt"/>
              </a:rPr>
              <a:t>》</a:t>
            </a:r>
            <a:r>
              <a:rPr lang="zh-CN" altLang="en-US" sz="600" dirty="0">
                <a:latin typeface="+mj-lt"/>
              </a:rPr>
              <a:t>和</a:t>
            </a:r>
            <a:r>
              <a:rPr lang="en-US" altLang="zh-CN" sz="600" dirty="0">
                <a:latin typeface="+mj-lt"/>
              </a:rPr>
              <a:t>《</a:t>
            </a:r>
            <a:r>
              <a:rPr lang="zh-CN" altLang="en-US" sz="600" dirty="0">
                <a:latin typeface="+mj-lt"/>
              </a:rPr>
              <a:t>自然科学进展</a:t>
            </a:r>
            <a:r>
              <a:rPr lang="en-US" altLang="zh-CN" sz="600" dirty="0">
                <a:latin typeface="+mj-lt"/>
              </a:rPr>
              <a:t>》</a:t>
            </a:r>
            <a:r>
              <a:rPr lang="zh-CN" altLang="en-US" sz="600" dirty="0">
                <a:latin typeface="+mj-lt"/>
              </a:rPr>
              <a:t>这三种全国性综合期刊对创新性的要求</a:t>
            </a:r>
            <a:r>
              <a:rPr lang="zh-CN" altLang="en-US" sz="600" dirty="0" smtClean="0">
                <a:latin typeface="+mj-lt"/>
              </a:rPr>
              <a:t>，在</a:t>
            </a:r>
            <a:r>
              <a:rPr lang="zh-CN" altLang="en-US" sz="600" dirty="0">
                <a:latin typeface="+mj-lt"/>
              </a:rPr>
              <a:t>基础研究和</a:t>
            </a:r>
            <a:r>
              <a:rPr lang="en-US" altLang="zh-CN" sz="600" dirty="0">
                <a:latin typeface="+mj-lt"/>
              </a:rPr>
              <a:t>/</a:t>
            </a:r>
            <a:r>
              <a:rPr lang="zh-CN" altLang="en-US" sz="600" dirty="0">
                <a:latin typeface="+mj-lt"/>
              </a:rPr>
              <a:t>或应用研究方面具有创造性的、高水平和有重要意义的最新研究成果</a:t>
            </a:r>
            <a:r>
              <a:rPr lang="zh-CN" altLang="en-US" sz="600" dirty="0" smtClean="0">
                <a:latin typeface="+mj-lt"/>
              </a:rPr>
              <a:t>。</a:t>
            </a:r>
            <a:endParaRPr lang="en-US" altLang="zh-CN" sz="600" dirty="0" smtClean="0">
              <a:latin typeface="+mj-lt"/>
            </a:endParaRPr>
          </a:p>
          <a:p>
            <a:r>
              <a:rPr lang="zh-CN" altLang="en-US" sz="600" b="1" dirty="0">
                <a:latin typeface="+mj-lt"/>
              </a:rPr>
              <a:t>科技论文的创新</a:t>
            </a:r>
            <a:r>
              <a:rPr lang="zh-CN" altLang="en-US" sz="600" b="1" dirty="0" smtClean="0">
                <a:latin typeface="+mj-lt"/>
              </a:rPr>
              <a:t>程度</a:t>
            </a:r>
            <a:r>
              <a:rPr lang="zh-CN" altLang="en-US" sz="600" dirty="0" smtClean="0">
                <a:latin typeface="+mj-lt"/>
              </a:rPr>
              <a:t>：是</a:t>
            </a:r>
            <a:r>
              <a:rPr lang="zh-CN" altLang="en-US" sz="600" dirty="0">
                <a:latin typeface="+mj-lt"/>
              </a:rPr>
              <a:t>相对于人类已有的知识而言的</a:t>
            </a:r>
            <a:r>
              <a:rPr lang="zh-CN" altLang="en-US" sz="600" dirty="0" smtClean="0">
                <a:latin typeface="+mj-lt"/>
              </a:rPr>
              <a:t>。一</a:t>
            </a:r>
            <a:r>
              <a:rPr lang="zh-CN" altLang="en-US" sz="600" dirty="0">
                <a:latin typeface="+mj-lt"/>
              </a:rPr>
              <a:t>篇论文的创新程度可能大也可能小</a:t>
            </a:r>
            <a:r>
              <a:rPr lang="en-US" altLang="zh-CN" sz="600" dirty="0">
                <a:latin typeface="+mj-lt"/>
              </a:rPr>
              <a:t>, </a:t>
            </a:r>
            <a:r>
              <a:rPr lang="zh-CN" altLang="en-US" sz="600" dirty="0">
                <a:latin typeface="+mj-lt"/>
              </a:rPr>
              <a:t>但总要有一些独到之处</a:t>
            </a:r>
            <a:r>
              <a:rPr lang="zh-CN" altLang="en-US" sz="600" dirty="0" smtClean="0">
                <a:latin typeface="+mj-lt"/>
              </a:rPr>
              <a:t>。一</a:t>
            </a:r>
            <a:r>
              <a:rPr lang="zh-CN" altLang="en-US" sz="600" dirty="0">
                <a:latin typeface="+mj-lt"/>
              </a:rPr>
              <a:t>篇论文或一项研究课题规模不一定很大，但研究</a:t>
            </a:r>
            <a:r>
              <a:rPr lang="zh-CN" altLang="en-US" sz="600" dirty="0" smtClean="0">
                <a:latin typeface="+mj-lt"/>
              </a:rPr>
              <a:t>一定深入</a:t>
            </a:r>
            <a:r>
              <a:rPr lang="zh-CN" altLang="en-US" sz="600" dirty="0">
                <a:latin typeface="+mj-lt"/>
              </a:rPr>
              <a:t>，结果</a:t>
            </a:r>
            <a:r>
              <a:rPr lang="zh-CN" altLang="en-US" sz="600" dirty="0" smtClean="0">
                <a:latin typeface="+mj-lt"/>
              </a:rPr>
              <a:t>一定深刻，能</a:t>
            </a:r>
            <a:r>
              <a:rPr lang="zh-CN" altLang="en-US" sz="600" dirty="0">
                <a:latin typeface="+mj-lt"/>
              </a:rPr>
              <a:t>反应研究者独到的见解。</a:t>
            </a:r>
          </a:p>
          <a:p>
            <a:r>
              <a:rPr lang="zh-CN" altLang="en-US" sz="600" b="1" dirty="0">
                <a:latin typeface="+mj-lt"/>
              </a:rPr>
              <a:t>原始创新与应用</a:t>
            </a:r>
            <a:r>
              <a:rPr lang="zh-CN" altLang="en-US" sz="600" b="1" dirty="0" smtClean="0">
                <a:latin typeface="+mj-lt"/>
              </a:rPr>
              <a:t>创新</a:t>
            </a:r>
            <a:r>
              <a:rPr lang="zh-CN" altLang="en-US" sz="600" dirty="0" smtClean="0">
                <a:latin typeface="+mj-lt"/>
              </a:rPr>
              <a:t>：</a:t>
            </a:r>
            <a:r>
              <a:rPr lang="en-US" altLang="zh-CN" sz="600" dirty="0" smtClean="0">
                <a:latin typeface="+mj-lt"/>
              </a:rPr>
              <a:t>Nature </a:t>
            </a:r>
            <a:r>
              <a:rPr lang="zh-CN" altLang="en-US" sz="600" dirty="0">
                <a:latin typeface="+mj-lt"/>
              </a:rPr>
              <a:t>和 </a:t>
            </a:r>
            <a:r>
              <a:rPr lang="en-US" altLang="zh-CN" sz="600" dirty="0">
                <a:latin typeface="+mj-lt"/>
              </a:rPr>
              <a:t>Science </a:t>
            </a:r>
            <a:r>
              <a:rPr lang="zh-CN" altLang="en-US" sz="600" dirty="0">
                <a:latin typeface="+mj-lt"/>
              </a:rPr>
              <a:t>特别强调论文的内容应能引起科技界广泛的兴趣 </a:t>
            </a:r>
            <a:r>
              <a:rPr lang="en-US" altLang="zh-CN" sz="600" dirty="0">
                <a:latin typeface="+mj-lt"/>
              </a:rPr>
              <a:t>(</a:t>
            </a:r>
            <a:r>
              <a:rPr lang="zh-CN" altLang="en-US" sz="600" dirty="0">
                <a:latin typeface="+mj-lt"/>
              </a:rPr>
              <a:t>即广泛关注的热点问题 </a:t>
            </a:r>
            <a:r>
              <a:rPr lang="en-US" altLang="zh-CN" sz="600" dirty="0">
                <a:latin typeface="+mj-lt"/>
              </a:rPr>
              <a:t>)</a:t>
            </a:r>
            <a:r>
              <a:rPr lang="zh-CN" altLang="en-US" sz="600" dirty="0">
                <a:latin typeface="+mj-lt"/>
              </a:rPr>
              <a:t>，取得重大进展（原始创新、或源头创新</a:t>
            </a:r>
            <a:r>
              <a:rPr lang="zh-CN" altLang="en-US" sz="600" dirty="0" smtClean="0">
                <a:latin typeface="+mj-lt"/>
              </a:rPr>
              <a:t>）；国内</a:t>
            </a:r>
            <a:r>
              <a:rPr lang="zh-CN" altLang="en-US" sz="600" dirty="0">
                <a:latin typeface="+mj-lt"/>
              </a:rPr>
              <a:t>期刊根据本国科研的实际需要和整个背景慎重地对待“创新性”</a:t>
            </a:r>
          </a:p>
          <a:p>
            <a:r>
              <a:rPr lang="zh-CN" altLang="en-US" sz="600" dirty="0">
                <a:latin typeface="+mj-lt"/>
              </a:rPr>
              <a:t> 引进、消化、移植国内外已有的先进科学技术以及应用已有的理论来解决本地区本行业本系统的实际问题</a:t>
            </a:r>
            <a:r>
              <a:rPr lang="en-US" altLang="zh-CN" sz="600" dirty="0">
                <a:latin typeface="+mj-lt"/>
              </a:rPr>
              <a:t>, </a:t>
            </a:r>
            <a:r>
              <a:rPr lang="zh-CN" altLang="en-US" sz="600" dirty="0">
                <a:latin typeface="+mj-lt"/>
              </a:rPr>
              <a:t>只要对丰富理论、促进生产发展、推动技术进步有效果</a:t>
            </a:r>
            <a:r>
              <a:rPr lang="en-US" altLang="zh-CN" sz="600" dirty="0">
                <a:latin typeface="+mj-lt"/>
              </a:rPr>
              <a:t>, </a:t>
            </a:r>
            <a:r>
              <a:rPr lang="zh-CN" altLang="en-US" sz="600" dirty="0">
                <a:latin typeface="+mj-lt"/>
              </a:rPr>
              <a:t>有作用</a:t>
            </a:r>
            <a:r>
              <a:rPr lang="en-US" altLang="zh-CN" sz="600" dirty="0">
                <a:latin typeface="+mj-lt"/>
              </a:rPr>
              <a:t>, </a:t>
            </a:r>
            <a:r>
              <a:rPr lang="zh-CN" altLang="en-US" sz="600" dirty="0">
                <a:latin typeface="+mj-lt"/>
              </a:rPr>
              <a:t>报道这类成果的论文也应视为有一定程度的创新。 </a:t>
            </a:r>
            <a:r>
              <a:rPr lang="zh-CN" altLang="en-US" sz="600" dirty="0" smtClean="0">
                <a:latin typeface="+mj-lt"/>
              </a:rPr>
              <a:t>（科技</a:t>
            </a:r>
            <a:r>
              <a:rPr lang="zh-CN" altLang="en-US" sz="600" dirty="0">
                <a:latin typeface="+mj-lt"/>
              </a:rPr>
              <a:t>部、发展改革委、教育部、中科院、自然科学基金委关于</a:t>
            </a:r>
            <a:r>
              <a:rPr lang="zh-CN" altLang="en-US" sz="600" dirty="0" smtClean="0">
                <a:latin typeface="+mj-lt"/>
              </a:rPr>
              <a:t>印发</a:t>
            </a:r>
            <a:r>
              <a:rPr lang="en-US" altLang="zh-CN" sz="600" dirty="0" smtClean="0">
                <a:latin typeface="+mj-lt"/>
              </a:rPr>
              <a:t>《</a:t>
            </a:r>
            <a:r>
              <a:rPr lang="zh-CN" altLang="en-US" sz="600" dirty="0">
                <a:latin typeface="+mj-lt"/>
              </a:rPr>
              <a:t>加强“从</a:t>
            </a:r>
            <a:r>
              <a:rPr lang="en-US" altLang="zh-CN" sz="600" dirty="0">
                <a:latin typeface="+mj-lt"/>
              </a:rPr>
              <a:t>0</a:t>
            </a:r>
            <a:r>
              <a:rPr lang="zh-CN" altLang="en-US" sz="600" dirty="0">
                <a:latin typeface="+mj-lt"/>
              </a:rPr>
              <a:t>到</a:t>
            </a:r>
            <a:r>
              <a:rPr lang="en-US" altLang="zh-CN" sz="600" dirty="0">
                <a:latin typeface="+mj-lt"/>
              </a:rPr>
              <a:t>1”</a:t>
            </a:r>
            <a:r>
              <a:rPr lang="zh-CN" altLang="en-US" sz="600" dirty="0">
                <a:latin typeface="+mj-lt"/>
              </a:rPr>
              <a:t>基础研究工作方案</a:t>
            </a:r>
            <a:r>
              <a:rPr lang="en-US" altLang="zh-CN" sz="600" dirty="0">
                <a:latin typeface="+mj-lt"/>
              </a:rPr>
              <a:t>》</a:t>
            </a:r>
            <a:r>
              <a:rPr lang="zh-CN" altLang="en-US" sz="600" dirty="0">
                <a:latin typeface="+mj-lt"/>
              </a:rPr>
              <a:t>的</a:t>
            </a:r>
            <a:r>
              <a:rPr lang="zh-CN" altLang="en-US" sz="600" dirty="0" smtClean="0">
                <a:latin typeface="+mj-lt"/>
              </a:rPr>
              <a:t>通知，</a:t>
            </a:r>
            <a:r>
              <a:rPr lang="en-US" altLang="zh-CN" sz="600" dirty="0" smtClean="0">
                <a:latin typeface="+mj-lt"/>
              </a:rPr>
              <a:t>20.3.3</a:t>
            </a:r>
            <a:r>
              <a:rPr lang="zh-CN" altLang="en-US" sz="600" dirty="0" smtClean="0">
                <a:latin typeface="+mj-lt"/>
              </a:rPr>
              <a:t>）</a:t>
            </a:r>
            <a:endParaRPr lang="en-US" altLang="zh-CN" sz="600" dirty="0" smtClean="0">
              <a:latin typeface="+mj-lt"/>
            </a:endParaRPr>
          </a:p>
          <a:p>
            <a:r>
              <a:rPr lang="zh-CN" altLang="en-US" sz="600" b="1" dirty="0">
                <a:latin typeface="+mj-lt"/>
              </a:rPr>
              <a:t>无创新的典型</a:t>
            </a:r>
            <a:r>
              <a:rPr lang="zh-CN" altLang="en-US" sz="600" b="1" dirty="0" smtClean="0">
                <a:latin typeface="+mj-lt"/>
              </a:rPr>
              <a:t>情况</a:t>
            </a:r>
            <a:r>
              <a:rPr lang="zh-CN" altLang="en-US" sz="600" dirty="0" smtClean="0">
                <a:latin typeface="+mj-lt"/>
              </a:rPr>
              <a:t>：科技论文与教科书 </a:t>
            </a:r>
            <a:r>
              <a:rPr lang="en-US" altLang="zh-CN" sz="600" dirty="0" smtClean="0">
                <a:latin typeface="+mj-lt"/>
              </a:rPr>
              <a:t>(</a:t>
            </a:r>
            <a:r>
              <a:rPr lang="zh-CN" altLang="en-US" sz="600" dirty="0" smtClean="0">
                <a:latin typeface="+mj-lt"/>
              </a:rPr>
              <a:t>讲义</a:t>
            </a:r>
            <a:r>
              <a:rPr lang="en-US" altLang="zh-CN" sz="600" dirty="0" smtClean="0">
                <a:latin typeface="+mj-lt"/>
              </a:rPr>
              <a:t>) </a:t>
            </a:r>
            <a:r>
              <a:rPr lang="zh-CN" altLang="en-US" sz="600" dirty="0" smtClean="0">
                <a:latin typeface="+mj-lt"/>
              </a:rPr>
              <a:t>、实验报告、工作总结等相同或类似，不属于创新；基本上重复他人的工作</a:t>
            </a:r>
            <a:r>
              <a:rPr lang="en-US" altLang="zh-CN" sz="600" dirty="0" smtClean="0">
                <a:latin typeface="+mj-lt"/>
              </a:rPr>
              <a:t>, </a:t>
            </a:r>
            <a:r>
              <a:rPr lang="zh-CN" altLang="en-US" sz="600" dirty="0" smtClean="0">
                <a:latin typeface="+mj-lt"/>
              </a:rPr>
              <a:t>也</a:t>
            </a:r>
            <a:r>
              <a:rPr lang="zh-CN" altLang="en-US" sz="600" dirty="0">
                <a:latin typeface="+mj-lt"/>
              </a:rPr>
              <a:t>不属于创新之</a:t>
            </a:r>
            <a:r>
              <a:rPr lang="zh-CN" altLang="en-US" sz="600" dirty="0" smtClean="0">
                <a:latin typeface="+mj-lt"/>
              </a:rPr>
              <a:t>列；复现</a:t>
            </a:r>
            <a:r>
              <a:rPr lang="zh-CN" altLang="en-US" sz="600" dirty="0">
                <a:latin typeface="+mj-lt"/>
              </a:rPr>
              <a:t>别人的工作，若没有得出超出别人的见解、未形成知识的增量，不属于创新</a:t>
            </a:r>
            <a:r>
              <a:rPr lang="zh-CN" altLang="en-US" sz="600" dirty="0" smtClean="0">
                <a:latin typeface="+mj-lt"/>
              </a:rPr>
              <a:t>。</a:t>
            </a:r>
            <a:endParaRPr lang="en-US" altLang="zh-CN" sz="600" dirty="0">
              <a:latin typeface="+mj-lt"/>
            </a:endParaRPr>
          </a:p>
          <a:p>
            <a:r>
              <a:rPr lang="zh-CN" altLang="en-US" sz="600" b="1" dirty="0" smtClean="0">
                <a:latin typeface="+mj-lt"/>
              </a:rPr>
              <a:t>学术性</a:t>
            </a:r>
            <a:r>
              <a:rPr lang="en-US" altLang="zh-CN" sz="600" b="1" dirty="0" smtClean="0">
                <a:latin typeface="+mj-lt"/>
              </a:rPr>
              <a:t>/</a:t>
            </a:r>
            <a:r>
              <a:rPr lang="zh-CN" altLang="en-US" sz="600" b="1" dirty="0" smtClean="0">
                <a:latin typeface="+mj-lt"/>
              </a:rPr>
              <a:t>理论性</a:t>
            </a:r>
            <a:r>
              <a:rPr lang="zh-CN" altLang="en-US" sz="600" dirty="0" smtClean="0">
                <a:latin typeface="+mj-lt"/>
              </a:rPr>
              <a:t>：一</a:t>
            </a:r>
            <a:r>
              <a:rPr lang="zh-CN" altLang="en-US" sz="600" dirty="0">
                <a:latin typeface="+mj-lt"/>
              </a:rPr>
              <a:t>篇科技论文应具有一定的学术</a:t>
            </a:r>
            <a:r>
              <a:rPr lang="zh-CN" altLang="en-US" sz="600" dirty="0" smtClean="0">
                <a:latin typeface="+mj-lt"/>
              </a:rPr>
              <a:t>价值：①对</a:t>
            </a:r>
            <a:r>
              <a:rPr lang="zh-CN" altLang="en-US" sz="600" dirty="0">
                <a:latin typeface="+mj-lt"/>
              </a:rPr>
              <a:t>实验、观察或用其他方式所得到的结果</a:t>
            </a:r>
            <a:r>
              <a:rPr lang="en-US" altLang="zh-CN" sz="600" dirty="0">
                <a:latin typeface="+mj-lt"/>
              </a:rPr>
              <a:t>, </a:t>
            </a:r>
            <a:r>
              <a:rPr lang="zh-CN" altLang="en-US" sz="600" dirty="0" smtClean="0">
                <a:latin typeface="+mj-lt"/>
              </a:rPr>
              <a:t>从</a:t>
            </a:r>
            <a:r>
              <a:rPr lang="zh-CN" altLang="en-US" sz="600" dirty="0">
                <a:latin typeface="+mj-lt"/>
              </a:rPr>
              <a:t>一定的理论高度进行分析和总结</a:t>
            </a:r>
            <a:r>
              <a:rPr lang="en-US" altLang="zh-CN" sz="600" dirty="0">
                <a:latin typeface="+mj-lt"/>
              </a:rPr>
              <a:t>, </a:t>
            </a:r>
            <a:r>
              <a:rPr lang="zh-CN" altLang="en-US" sz="600" dirty="0">
                <a:latin typeface="+mj-lt"/>
              </a:rPr>
              <a:t>形成一定的科学见解</a:t>
            </a:r>
            <a:r>
              <a:rPr lang="en-US" altLang="zh-CN" sz="600" dirty="0">
                <a:latin typeface="+mj-lt"/>
              </a:rPr>
              <a:t>, </a:t>
            </a:r>
            <a:r>
              <a:rPr lang="zh-CN" altLang="en-US" sz="600" dirty="0">
                <a:latin typeface="+mj-lt"/>
              </a:rPr>
              <a:t>包括提出并</a:t>
            </a:r>
            <a:r>
              <a:rPr lang="zh-CN" altLang="en-US" sz="600" dirty="0" smtClean="0">
                <a:latin typeface="+mj-lt"/>
              </a:rPr>
              <a:t>解决有</a:t>
            </a:r>
            <a:r>
              <a:rPr lang="zh-CN" altLang="en-US" sz="600" dirty="0">
                <a:latin typeface="+mj-lt"/>
              </a:rPr>
              <a:t>科学价值的问题</a:t>
            </a:r>
            <a:r>
              <a:rPr lang="zh-CN" altLang="en-US" sz="600" dirty="0" smtClean="0">
                <a:latin typeface="+mj-lt"/>
              </a:rPr>
              <a:t>；②对</a:t>
            </a:r>
            <a:r>
              <a:rPr lang="zh-CN" altLang="en-US" sz="600" dirty="0">
                <a:latin typeface="+mj-lt"/>
              </a:rPr>
              <a:t>自己提出的科学见解或问题</a:t>
            </a:r>
            <a:r>
              <a:rPr lang="en-US" altLang="zh-CN" sz="600" dirty="0">
                <a:latin typeface="+mj-lt"/>
              </a:rPr>
              <a:t>, </a:t>
            </a:r>
            <a:r>
              <a:rPr lang="zh-CN" altLang="en-US" sz="600" dirty="0" smtClean="0">
                <a:latin typeface="+mj-lt"/>
              </a:rPr>
              <a:t>用</a:t>
            </a:r>
            <a:r>
              <a:rPr lang="zh-CN" altLang="en-US" sz="600" dirty="0">
                <a:latin typeface="+mj-lt"/>
              </a:rPr>
              <a:t>事实和理论进行符合逻辑的论证与分析或说明</a:t>
            </a:r>
            <a:r>
              <a:rPr lang="en-US" altLang="zh-CN" sz="600" dirty="0">
                <a:latin typeface="+mj-lt"/>
              </a:rPr>
              <a:t>, </a:t>
            </a:r>
            <a:r>
              <a:rPr lang="zh-CN" altLang="en-US" sz="600" dirty="0" smtClean="0">
                <a:latin typeface="+mj-lt"/>
              </a:rPr>
              <a:t>将</a:t>
            </a:r>
            <a:r>
              <a:rPr lang="zh-CN" altLang="en-US" sz="600" dirty="0">
                <a:latin typeface="+mj-lt"/>
              </a:rPr>
              <a:t>实践上升为理论。</a:t>
            </a:r>
          </a:p>
          <a:p>
            <a:r>
              <a:rPr lang="zh-CN" altLang="en-US" sz="600" dirty="0">
                <a:latin typeface="+mj-lt"/>
              </a:rPr>
              <a:t>从实质而言</a:t>
            </a:r>
            <a:r>
              <a:rPr lang="en-US" altLang="zh-CN" sz="600" dirty="0">
                <a:latin typeface="+mj-lt"/>
              </a:rPr>
              <a:t>, </a:t>
            </a:r>
            <a:r>
              <a:rPr lang="zh-CN" altLang="en-US" sz="600" dirty="0">
                <a:latin typeface="+mj-lt"/>
              </a:rPr>
              <a:t>科技论文的写作过程</a:t>
            </a:r>
            <a:r>
              <a:rPr lang="en-US" altLang="zh-CN" sz="600" dirty="0">
                <a:latin typeface="+mj-lt"/>
              </a:rPr>
              <a:t>, </a:t>
            </a:r>
            <a:r>
              <a:rPr lang="zh-CN" altLang="en-US" sz="600" dirty="0">
                <a:latin typeface="+mj-lt"/>
              </a:rPr>
              <a:t>本身就是作者在认识上的深化和在实践基础上进行科学抽象的过程。</a:t>
            </a:r>
          </a:p>
          <a:p>
            <a:r>
              <a:rPr lang="zh-CN" altLang="en-US" sz="600" b="1" dirty="0" smtClean="0">
                <a:latin typeface="+mj-lt"/>
              </a:rPr>
              <a:t>科学性</a:t>
            </a:r>
            <a:r>
              <a:rPr lang="en-US" altLang="zh-CN" sz="600" b="1" dirty="0">
                <a:latin typeface="+mj-lt"/>
              </a:rPr>
              <a:t>/</a:t>
            </a:r>
            <a:r>
              <a:rPr lang="zh-CN" altLang="en-US" sz="600" b="1" dirty="0" smtClean="0">
                <a:latin typeface="+mj-lt"/>
              </a:rPr>
              <a:t>准确性</a:t>
            </a:r>
            <a:r>
              <a:rPr lang="zh-CN" altLang="en-US" sz="600" dirty="0" smtClean="0">
                <a:latin typeface="+mj-lt"/>
              </a:rPr>
              <a:t>：正确</a:t>
            </a:r>
            <a:r>
              <a:rPr lang="zh-CN" altLang="en-US" sz="600" dirty="0">
                <a:latin typeface="+mj-lt"/>
              </a:rPr>
              <a:t>地说明研究对象所具有的特殊矛盾</a:t>
            </a:r>
            <a:r>
              <a:rPr lang="en-US" altLang="zh-CN" sz="600" dirty="0">
                <a:latin typeface="+mj-lt"/>
              </a:rPr>
              <a:t>, </a:t>
            </a:r>
            <a:r>
              <a:rPr lang="zh-CN" altLang="en-US" sz="600" dirty="0">
                <a:latin typeface="+mj-lt"/>
              </a:rPr>
              <a:t>并且要尊重事实</a:t>
            </a:r>
            <a:r>
              <a:rPr lang="en-US" altLang="zh-CN" sz="600" dirty="0">
                <a:latin typeface="+mj-lt"/>
              </a:rPr>
              <a:t>, </a:t>
            </a:r>
            <a:r>
              <a:rPr lang="zh-CN" altLang="en-US" sz="600" dirty="0">
                <a:latin typeface="+mj-lt"/>
              </a:rPr>
              <a:t>尊重科学</a:t>
            </a:r>
            <a:r>
              <a:rPr lang="zh-CN" altLang="en-US" sz="600" dirty="0" smtClean="0">
                <a:latin typeface="+mj-lt"/>
              </a:rPr>
              <a:t>。包括</a:t>
            </a:r>
            <a:r>
              <a:rPr lang="zh-CN" altLang="en-US" sz="600" dirty="0">
                <a:latin typeface="+mj-lt"/>
              </a:rPr>
              <a:t>论点正确、论据必要而充分、论证严密、推理符合逻辑、数据可靠、处理合理、计算精确、实验重复、结论</a:t>
            </a:r>
            <a:r>
              <a:rPr lang="zh-CN" altLang="en-US" sz="600" dirty="0" smtClean="0">
                <a:latin typeface="+mj-lt"/>
              </a:rPr>
              <a:t>客观等</a:t>
            </a:r>
            <a:r>
              <a:rPr lang="zh-CN" altLang="en-US" sz="600" dirty="0">
                <a:latin typeface="+mj-lt"/>
              </a:rPr>
              <a:t>。 </a:t>
            </a:r>
            <a:r>
              <a:rPr lang="zh-CN" altLang="en-US" sz="600" dirty="0" smtClean="0">
                <a:latin typeface="+mj-lt"/>
              </a:rPr>
              <a:t>①</a:t>
            </a:r>
            <a:r>
              <a:rPr lang="zh-CN" altLang="en-US" sz="600" dirty="0">
                <a:latin typeface="+mj-lt"/>
              </a:rPr>
              <a:t>对客观事物即研究对象的运动规律和性质表述的接近程度</a:t>
            </a:r>
            <a:r>
              <a:rPr lang="en-US" altLang="zh-CN" sz="600" dirty="0">
                <a:latin typeface="+mj-lt"/>
              </a:rPr>
              <a:t>, </a:t>
            </a:r>
            <a:r>
              <a:rPr lang="zh-CN" altLang="en-US" sz="600" dirty="0">
                <a:latin typeface="+mj-lt"/>
              </a:rPr>
              <a:t>包括概念、定义、判断、分析和结论要准确</a:t>
            </a:r>
            <a:r>
              <a:rPr lang="zh-CN" altLang="en-US" sz="600" dirty="0" smtClean="0">
                <a:latin typeface="+mj-lt"/>
              </a:rPr>
              <a:t>；②</a:t>
            </a:r>
            <a:r>
              <a:rPr lang="zh-CN" altLang="en-US" sz="600" dirty="0">
                <a:latin typeface="+mj-lt"/>
              </a:rPr>
              <a:t>对自己研究成果的估计要确切、恰当</a:t>
            </a:r>
            <a:r>
              <a:rPr lang="zh-CN" altLang="en-US" sz="600" dirty="0" smtClean="0">
                <a:latin typeface="+mj-lt"/>
              </a:rPr>
              <a:t>；③</a:t>
            </a:r>
            <a:r>
              <a:rPr lang="zh-CN" altLang="en-US" sz="600" dirty="0">
                <a:latin typeface="+mj-lt"/>
              </a:rPr>
              <a:t>对他人研究成果 </a:t>
            </a:r>
            <a:r>
              <a:rPr lang="en-US" altLang="zh-CN" sz="600" dirty="0">
                <a:latin typeface="+mj-lt"/>
              </a:rPr>
              <a:t>(</a:t>
            </a:r>
            <a:r>
              <a:rPr lang="zh-CN" altLang="en-US" sz="600" dirty="0">
                <a:latin typeface="+mj-lt"/>
              </a:rPr>
              <a:t>尤其是在做比较时</a:t>
            </a:r>
            <a:r>
              <a:rPr lang="en-US" altLang="zh-CN" sz="600" dirty="0">
                <a:latin typeface="+mj-lt"/>
              </a:rPr>
              <a:t>) </a:t>
            </a:r>
            <a:r>
              <a:rPr lang="zh-CN" altLang="en-US" sz="600" dirty="0">
                <a:latin typeface="+mj-lt"/>
              </a:rPr>
              <a:t>的评价要实事求是</a:t>
            </a:r>
            <a:r>
              <a:rPr lang="en-US" altLang="zh-CN" sz="600" dirty="0">
                <a:latin typeface="+mj-lt"/>
              </a:rPr>
              <a:t>, </a:t>
            </a:r>
            <a:r>
              <a:rPr lang="zh-CN" altLang="en-US" sz="600" dirty="0">
                <a:latin typeface="+mj-lt"/>
              </a:rPr>
              <a:t>切忌片面性和说过头话</a:t>
            </a:r>
            <a:r>
              <a:rPr lang="zh-CN" altLang="en-US" sz="600" dirty="0" smtClean="0">
                <a:latin typeface="+mj-lt"/>
              </a:rPr>
              <a:t>。</a:t>
            </a:r>
            <a:endParaRPr lang="zh-CN" altLang="en-US" sz="600" dirty="0">
              <a:latin typeface="+mj-lt"/>
            </a:endParaRPr>
          </a:p>
        </p:txBody>
      </p:sp>
      <p:sp>
        <p:nvSpPr>
          <p:cNvPr id="189" name="文本框 188"/>
          <p:cNvSpPr txBox="1"/>
          <p:nvPr/>
        </p:nvSpPr>
        <p:spPr>
          <a:xfrm>
            <a:off x="2279650" y="0"/>
            <a:ext cx="2761114" cy="5355312"/>
          </a:xfrm>
          <a:prstGeom prst="rect">
            <a:avLst/>
          </a:prstGeom>
          <a:noFill/>
        </p:spPr>
        <p:txBody>
          <a:bodyPr wrap="square" rtlCol="0">
            <a:spAutoFit/>
          </a:bodyPr>
          <a:lstStyle/>
          <a:p>
            <a:r>
              <a:rPr lang="zh-CN" altLang="en-US" sz="600" b="1" dirty="0"/>
              <a:t>可读性</a:t>
            </a:r>
            <a:r>
              <a:rPr lang="zh-CN" altLang="en-US" sz="600" dirty="0"/>
              <a:t>：在文字表达上</a:t>
            </a:r>
            <a:r>
              <a:rPr lang="en-US" altLang="zh-CN" sz="600" dirty="0"/>
              <a:t>, </a:t>
            </a:r>
            <a:r>
              <a:rPr lang="zh-CN" altLang="en-US" sz="600" dirty="0"/>
              <a:t>要求语言准确、简明、通顺</a:t>
            </a:r>
            <a:r>
              <a:rPr lang="en-US" altLang="zh-CN" sz="600" dirty="0"/>
              <a:t>, </a:t>
            </a:r>
            <a:r>
              <a:rPr lang="zh-CN" altLang="en-US" sz="600" dirty="0"/>
              <a:t>条理清楚</a:t>
            </a:r>
            <a:r>
              <a:rPr lang="en-US" altLang="zh-CN" sz="600" dirty="0"/>
              <a:t>, </a:t>
            </a:r>
            <a:r>
              <a:rPr lang="zh-CN" altLang="en-US" sz="600" dirty="0"/>
              <a:t>层次分明</a:t>
            </a:r>
            <a:r>
              <a:rPr lang="en-US" altLang="zh-CN" sz="600" dirty="0"/>
              <a:t>, </a:t>
            </a:r>
            <a:r>
              <a:rPr lang="zh-CN" altLang="en-US" sz="600" dirty="0"/>
              <a:t>论述严谨。；在技术表达方面</a:t>
            </a:r>
            <a:r>
              <a:rPr lang="en-US" altLang="zh-CN" sz="600" dirty="0"/>
              <a:t>, </a:t>
            </a:r>
            <a:r>
              <a:rPr lang="zh-CN" altLang="en-US" sz="600" dirty="0"/>
              <a:t>包括名词术语、数字、符号的使用</a:t>
            </a:r>
            <a:r>
              <a:rPr lang="en-US" altLang="zh-CN" sz="600" dirty="0"/>
              <a:t>, </a:t>
            </a:r>
            <a:r>
              <a:rPr lang="zh-CN" altLang="en-US" sz="600" dirty="0"/>
              <a:t>图表的设计</a:t>
            </a:r>
            <a:r>
              <a:rPr lang="en-US" altLang="zh-CN" sz="600" dirty="0"/>
              <a:t>, </a:t>
            </a:r>
            <a:r>
              <a:rPr lang="zh-CN" altLang="en-US" sz="600" dirty="0"/>
              <a:t>计量单位的使用</a:t>
            </a:r>
            <a:r>
              <a:rPr lang="en-US" altLang="zh-CN" sz="600" dirty="0"/>
              <a:t>, </a:t>
            </a:r>
            <a:r>
              <a:rPr lang="zh-CN" altLang="en-US" sz="600" dirty="0"/>
              <a:t>文献的著录等都应符合规范化要求。</a:t>
            </a:r>
          </a:p>
          <a:p>
            <a:r>
              <a:rPr lang="zh-CN" altLang="en-US" sz="600" b="1" dirty="0"/>
              <a:t>决定可读性的几个因素</a:t>
            </a:r>
            <a:r>
              <a:rPr lang="zh-CN" altLang="en-US" sz="600" dirty="0"/>
              <a:t>：①研究工作是否取得了实质件进展，所得结论是否可靠，结果是否深刻和有启发性。②对论文进行完整的构思，体现严密的逻辑思维；③论述上要做到深入浅出，表达清楚简练，专业术语准确，前后一致，语言要规范、生动。；④文字与插图恰当配合</a:t>
            </a:r>
            <a:r>
              <a:rPr lang="zh-CN" altLang="en-US" sz="600" dirty="0" smtClean="0"/>
              <a:t>。</a:t>
            </a:r>
            <a:endParaRPr lang="en-US" altLang="zh-CN" sz="600" dirty="0" smtClean="0"/>
          </a:p>
          <a:p>
            <a:r>
              <a:rPr lang="zh-CN" altLang="en-US" sz="600" b="1" dirty="0"/>
              <a:t>学位</a:t>
            </a:r>
            <a:r>
              <a:rPr lang="zh-CN" altLang="en-US" sz="600" b="1" dirty="0" smtClean="0"/>
              <a:t>论文要求</a:t>
            </a:r>
            <a:r>
              <a:rPr lang="zh-CN" altLang="en-US" sz="600" dirty="0" smtClean="0"/>
              <a:t>：</a:t>
            </a:r>
            <a:r>
              <a:rPr lang="en-US" altLang="zh-CN" sz="600" dirty="0"/>
              <a:t>《</a:t>
            </a:r>
            <a:r>
              <a:rPr lang="zh-CN" altLang="en-US" sz="600" dirty="0"/>
              <a:t>中华人民共和国学位条例</a:t>
            </a:r>
            <a:r>
              <a:rPr lang="en-US" altLang="zh-CN" sz="600" dirty="0"/>
              <a:t>》</a:t>
            </a:r>
            <a:r>
              <a:rPr lang="zh-CN" altLang="en-US" sz="600" dirty="0"/>
              <a:t>、国标</a:t>
            </a:r>
            <a:r>
              <a:rPr lang="en-US" altLang="zh-CN" sz="600" dirty="0"/>
              <a:t>GB7713-87</a:t>
            </a:r>
            <a:endParaRPr lang="en-US" altLang="zh-CN" sz="600" dirty="0" smtClean="0"/>
          </a:p>
          <a:p>
            <a:r>
              <a:rPr lang="zh-CN" altLang="en-US" sz="600" dirty="0" smtClean="0"/>
              <a:t>学士：较好地掌握本门学科的基础理论、专门知识和基本技能，具有从事科学研究工作或担负专门技术工作的初步能力；</a:t>
            </a:r>
          </a:p>
          <a:p>
            <a:r>
              <a:rPr lang="zh-CN" altLang="en-US" sz="600" dirty="0" smtClean="0"/>
              <a:t>硕士：掌握</a:t>
            </a:r>
            <a:r>
              <a:rPr lang="zh-CN" altLang="en-US" sz="600" dirty="0"/>
              <a:t>坚实的基础理论</a:t>
            </a:r>
            <a:r>
              <a:rPr lang="zh-CN" altLang="en-US" sz="600" dirty="0" smtClean="0"/>
              <a:t>、系统</a:t>
            </a:r>
            <a:r>
              <a:rPr lang="zh-CN" altLang="en-US" sz="600" dirty="0"/>
              <a:t>的专门知识</a:t>
            </a:r>
            <a:r>
              <a:rPr lang="zh-CN" altLang="en-US" sz="600" dirty="0" smtClean="0"/>
              <a:t>；</a:t>
            </a:r>
            <a:r>
              <a:rPr lang="zh-CN" altLang="en-US" sz="600" dirty="0"/>
              <a:t>对所研究的课题应当有新的</a:t>
            </a:r>
          </a:p>
          <a:p>
            <a:r>
              <a:rPr lang="zh-CN" altLang="en-US" sz="600" dirty="0"/>
              <a:t>见解</a:t>
            </a:r>
            <a:r>
              <a:rPr lang="zh-CN" altLang="en-US" sz="600" dirty="0" smtClean="0"/>
              <a:t>；具有</a:t>
            </a:r>
            <a:r>
              <a:rPr lang="zh-CN" altLang="en-US" sz="600" dirty="0"/>
              <a:t>从事科学研究工作或</a:t>
            </a:r>
            <a:r>
              <a:rPr lang="zh-CN" altLang="en-US" sz="600" dirty="0" smtClean="0"/>
              <a:t>独立</a:t>
            </a:r>
            <a:r>
              <a:rPr lang="zh-CN" altLang="en-US" sz="600" dirty="0"/>
              <a:t>担负专门技术工作的</a:t>
            </a:r>
            <a:r>
              <a:rPr lang="zh-CN" altLang="en-US" sz="600" dirty="0" smtClean="0"/>
              <a:t>能力</a:t>
            </a:r>
            <a:endParaRPr lang="zh-CN" altLang="en-US" sz="600" dirty="0"/>
          </a:p>
          <a:p>
            <a:r>
              <a:rPr lang="zh-CN" altLang="en-US" sz="600" dirty="0" smtClean="0"/>
              <a:t>博士：掌握</a:t>
            </a:r>
            <a:r>
              <a:rPr lang="zh-CN" altLang="en-US" sz="600" dirty="0"/>
              <a:t>坚实宽广的基础理论、 系统深入的专门知识</a:t>
            </a:r>
            <a:r>
              <a:rPr lang="zh-CN" altLang="en-US" sz="600" dirty="0" smtClean="0"/>
              <a:t>；在</a:t>
            </a:r>
            <a:r>
              <a:rPr lang="zh-CN" altLang="en-US" sz="600" dirty="0"/>
              <a:t>科学或专门技术上</a:t>
            </a:r>
            <a:r>
              <a:rPr lang="zh-CN" altLang="en-US" sz="600" dirty="0" smtClean="0"/>
              <a:t>做出创造性</a:t>
            </a:r>
            <a:r>
              <a:rPr lang="zh-CN" altLang="en-US" sz="600" dirty="0"/>
              <a:t>的成果</a:t>
            </a:r>
            <a:r>
              <a:rPr lang="zh-CN" altLang="en-US" sz="600" dirty="0" smtClean="0"/>
              <a:t>；具有</a:t>
            </a:r>
            <a:r>
              <a:rPr lang="zh-CN" altLang="en-US" sz="600" dirty="0"/>
              <a:t>独立从事科学研究</a:t>
            </a:r>
            <a:r>
              <a:rPr lang="zh-CN" altLang="en-US" sz="600" dirty="0" smtClean="0"/>
              <a:t>工作</a:t>
            </a:r>
            <a:r>
              <a:rPr lang="zh-CN" altLang="en-US" sz="600" dirty="0"/>
              <a:t>的</a:t>
            </a:r>
            <a:r>
              <a:rPr lang="zh-CN" altLang="en-US" sz="600" dirty="0" smtClean="0"/>
              <a:t>能力。</a:t>
            </a:r>
            <a:endParaRPr lang="en-US" altLang="zh-CN" sz="600" dirty="0" smtClean="0"/>
          </a:p>
          <a:p>
            <a:r>
              <a:rPr lang="zh-CN" altLang="en-US" sz="600" b="1" dirty="0"/>
              <a:t>控制科学与工程学位论文的基本</a:t>
            </a:r>
            <a:r>
              <a:rPr lang="zh-CN" altLang="en-US" sz="600" b="1" dirty="0" smtClean="0"/>
              <a:t>要求：</a:t>
            </a:r>
            <a:endParaRPr lang="en-US" altLang="zh-CN" sz="600" b="1" dirty="0" smtClean="0"/>
          </a:p>
          <a:p>
            <a:r>
              <a:rPr lang="zh-CN" altLang="en-US" sz="600" dirty="0" smtClean="0"/>
              <a:t>硕士</a:t>
            </a:r>
            <a:r>
              <a:rPr lang="en-US" altLang="zh-CN" sz="600" dirty="0" smtClean="0"/>
              <a:t>-</a:t>
            </a:r>
            <a:r>
              <a:rPr lang="zh-CN" altLang="en-US" sz="600" dirty="0" smtClean="0"/>
              <a:t>质量要求：对</a:t>
            </a:r>
            <a:r>
              <a:rPr lang="zh-CN" altLang="en-US" sz="600" dirty="0"/>
              <a:t>所研究的</a:t>
            </a:r>
            <a:r>
              <a:rPr lang="zh-CN" altLang="en-US" sz="600" dirty="0" smtClean="0"/>
              <a:t>课题应该有</a:t>
            </a:r>
            <a:r>
              <a:rPr lang="zh-CN" altLang="en-US" sz="600" dirty="0"/>
              <a:t>新见解，在原理方法</a:t>
            </a:r>
            <a:r>
              <a:rPr lang="zh-CN" altLang="en-US" sz="600" dirty="0" smtClean="0"/>
              <a:t>、</a:t>
            </a:r>
            <a:r>
              <a:rPr lang="zh-CN" altLang="en-US" sz="600" dirty="0"/>
              <a:t>实验方案、工艺流程等方面有所创新，具有</a:t>
            </a:r>
            <a:r>
              <a:rPr lang="zh-CN" altLang="en-US" sz="600" dirty="0" smtClean="0"/>
              <a:t>一</a:t>
            </a:r>
            <a:r>
              <a:rPr lang="zh-CN" altLang="en-US" sz="600" dirty="0"/>
              <a:t>定的独立进行科学研究或独立担负专门技术</a:t>
            </a:r>
            <a:r>
              <a:rPr lang="zh-CN" altLang="en-US" sz="600" dirty="0" smtClean="0"/>
              <a:t>工</a:t>
            </a:r>
            <a:r>
              <a:rPr lang="zh-CN" altLang="en-US" sz="600" dirty="0"/>
              <a:t>作的能力。</a:t>
            </a:r>
          </a:p>
          <a:p>
            <a:r>
              <a:rPr lang="zh-CN" altLang="en-US" sz="600" dirty="0"/>
              <a:t>博士</a:t>
            </a:r>
            <a:r>
              <a:rPr lang="en-US" altLang="zh-CN" sz="600" dirty="0"/>
              <a:t>-</a:t>
            </a:r>
            <a:r>
              <a:rPr lang="zh-CN" altLang="en-US" sz="600" dirty="0"/>
              <a:t>成果创新性要求</a:t>
            </a:r>
            <a:r>
              <a:rPr lang="zh-CN" altLang="en-US" sz="600" dirty="0" smtClean="0"/>
              <a:t>：博士学位</a:t>
            </a:r>
            <a:r>
              <a:rPr lang="zh-CN" altLang="en-US" sz="600" dirty="0"/>
              <a:t>论文应对本领域科技发展有重要的理论意义或应用价值，在科学或专门技术上做出创新性的成果，并表明作者具有独立从事科学研究工作的能力。</a:t>
            </a:r>
          </a:p>
          <a:p>
            <a:r>
              <a:rPr lang="zh-CN" altLang="en-US" sz="600" b="1" dirty="0" smtClean="0"/>
              <a:t>学位论文研究类型</a:t>
            </a:r>
            <a:r>
              <a:rPr lang="zh-CN" altLang="en-US" sz="600" dirty="0" smtClean="0"/>
              <a:t>：</a:t>
            </a:r>
            <a:endParaRPr lang="zh-CN" altLang="en-US" sz="600" dirty="0"/>
          </a:p>
          <a:p>
            <a:r>
              <a:rPr lang="zh-CN" altLang="en-US" sz="600" dirty="0" smtClean="0"/>
              <a:t>①基础</a:t>
            </a:r>
            <a:r>
              <a:rPr lang="zh-CN" altLang="en-US" sz="600" dirty="0"/>
              <a:t>研究：纯理论研究，普适应的研究，探索一般性的规律，如数学、物理、化学、生物等</a:t>
            </a:r>
            <a:r>
              <a:rPr lang="zh-CN" altLang="en-US" sz="600" dirty="0" smtClean="0"/>
              <a:t>；②应用</a:t>
            </a:r>
            <a:r>
              <a:rPr lang="zh-CN" altLang="en-US" sz="600" dirty="0"/>
              <a:t>基础研究：结合具体的应用场景，考虑该场景的特殊情况，解决从基础理论到实际</a:t>
            </a:r>
            <a:r>
              <a:rPr lang="zh-CN" altLang="en-US" sz="600" dirty="0" smtClean="0"/>
              <a:t>应用间</a:t>
            </a:r>
            <a:r>
              <a:rPr lang="zh-CN" altLang="en-US" sz="600" dirty="0"/>
              <a:t>存在的理论问题</a:t>
            </a:r>
            <a:r>
              <a:rPr lang="zh-CN" altLang="en-US" sz="600" dirty="0" smtClean="0"/>
              <a:t>；③应用技术</a:t>
            </a:r>
            <a:r>
              <a:rPr lang="zh-CN" altLang="en-US" sz="600" dirty="0"/>
              <a:t>研究：针对具体的应用场景和工程问题，提供实际的解决方案，产生实际的效果。</a:t>
            </a:r>
          </a:p>
          <a:p>
            <a:r>
              <a:rPr lang="zh-CN" altLang="en-US" sz="600" b="1" dirty="0" smtClean="0"/>
              <a:t>逻辑思路</a:t>
            </a:r>
            <a:r>
              <a:rPr lang="zh-CN" altLang="en-US" sz="600" dirty="0" smtClean="0"/>
              <a:t>：立题依据（大背景，国家社会需要</a:t>
            </a:r>
            <a:r>
              <a:rPr lang="en-US" altLang="zh-CN" sz="600" dirty="0" smtClean="0"/>
              <a:t>/</a:t>
            </a:r>
            <a:r>
              <a:rPr lang="zh-CN" altLang="en-US" sz="600" dirty="0" smtClean="0"/>
              <a:t>技术前沿）</a:t>
            </a:r>
            <a:r>
              <a:rPr lang="en-US" altLang="zh-CN" sz="600" dirty="0" smtClean="0"/>
              <a:t>-</a:t>
            </a:r>
            <a:r>
              <a:rPr lang="zh-CN" altLang="en-US" sz="600" dirty="0" smtClean="0"/>
              <a:t>技术现状（小背景，文献综述）</a:t>
            </a:r>
            <a:r>
              <a:rPr lang="en-US" altLang="zh-CN" sz="600" dirty="0" smtClean="0"/>
              <a:t>-</a:t>
            </a:r>
            <a:r>
              <a:rPr lang="zh-CN" altLang="en-US" sz="600" dirty="0" smtClean="0"/>
              <a:t>研究内容</a:t>
            </a:r>
            <a:r>
              <a:rPr lang="en-US" altLang="zh-CN" sz="600" dirty="0" smtClean="0"/>
              <a:t>-</a:t>
            </a:r>
            <a:r>
              <a:rPr lang="zh-CN" altLang="en-US" sz="600" dirty="0" smtClean="0"/>
              <a:t>怎样完成这些研究</a:t>
            </a:r>
            <a:r>
              <a:rPr lang="en-US" altLang="zh-CN" sz="600" dirty="0" smtClean="0"/>
              <a:t>-</a:t>
            </a:r>
            <a:r>
              <a:rPr lang="zh-CN" altLang="en-US" sz="600" dirty="0" smtClean="0"/>
              <a:t>如何验证</a:t>
            </a:r>
            <a:r>
              <a:rPr lang="en-US" altLang="zh-CN" sz="600" dirty="0" smtClean="0"/>
              <a:t>-</a:t>
            </a:r>
            <a:r>
              <a:rPr lang="zh-CN" altLang="en-US" sz="600" dirty="0" smtClean="0"/>
              <a:t>如何评价</a:t>
            </a:r>
            <a:endParaRPr lang="en-US" altLang="zh-CN" sz="600" dirty="0" smtClean="0"/>
          </a:p>
          <a:p>
            <a:r>
              <a:rPr lang="zh-CN" altLang="en-US" sz="600" b="1" dirty="0" smtClean="0"/>
              <a:t>答辩决议评价</a:t>
            </a:r>
            <a:r>
              <a:rPr lang="zh-CN" altLang="en-US" sz="600" dirty="0" smtClean="0"/>
              <a:t>：论文选题；文献</a:t>
            </a:r>
            <a:r>
              <a:rPr lang="zh-CN" altLang="en-US" sz="600" dirty="0"/>
              <a:t>综述及主要</a:t>
            </a:r>
            <a:r>
              <a:rPr lang="zh-CN" altLang="en-US" sz="600" dirty="0" smtClean="0"/>
              <a:t>工作；创新性</a:t>
            </a:r>
            <a:r>
              <a:rPr lang="zh-CN" altLang="en-US" sz="600" dirty="0"/>
              <a:t>成果</a:t>
            </a:r>
            <a:r>
              <a:rPr lang="zh-CN" altLang="en-US" sz="600" dirty="0" smtClean="0"/>
              <a:t>评价；掌握</a:t>
            </a:r>
            <a:r>
              <a:rPr lang="zh-CN" altLang="en-US" sz="600" dirty="0"/>
              <a:t>的基础理论、专门知识及科研能力的</a:t>
            </a:r>
            <a:r>
              <a:rPr lang="zh-CN" altLang="en-US" sz="600" dirty="0" smtClean="0"/>
              <a:t>评价</a:t>
            </a:r>
            <a:r>
              <a:rPr lang="zh-CN" altLang="en-US" sz="600" dirty="0"/>
              <a:t>；</a:t>
            </a:r>
            <a:r>
              <a:rPr lang="zh-CN" altLang="en-US" sz="600" dirty="0" smtClean="0"/>
              <a:t>对</a:t>
            </a:r>
            <a:r>
              <a:rPr lang="zh-CN" altLang="en-US" sz="600" dirty="0"/>
              <a:t>论文写作的综合</a:t>
            </a:r>
            <a:r>
              <a:rPr lang="zh-CN" altLang="en-US" sz="600" dirty="0" smtClean="0"/>
              <a:t>评价；答辩</a:t>
            </a:r>
            <a:r>
              <a:rPr lang="zh-CN" altLang="en-US" sz="600" dirty="0"/>
              <a:t>表现及答辩委员会结论</a:t>
            </a:r>
            <a:r>
              <a:rPr lang="zh-CN" altLang="en-US" sz="600" dirty="0" smtClean="0"/>
              <a:t>。</a:t>
            </a:r>
            <a:endParaRPr lang="en-US" altLang="zh-CN" sz="600" dirty="0" smtClean="0"/>
          </a:p>
          <a:p>
            <a:r>
              <a:rPr lang="zh-CN" altLang="en-US" sz="600" b="1" dirty="0" smtClean="0"/>
              <a:t>选题</a:t>
            </a:r>
            <a:r>
              <a:rPr lang="zh-CN" altLang="en-US" sz="600" dirty="0" smtClean="0"/>
              <a:t>：选择</a:t>
            </a:r>
            <a:r>
              <a:rPr lang="zh-CN" altLang="en-US" sz="600" dirty="0"/>
              <a:t>论文的论题，即在写论文前选择确定所要研究的问题。 </a:t>
            </a:r>
            <a:r>
              <a:rPr lang="zh-CN" altLang="en-US" sz="600" dirty="0" smtClean="0"/>
              <a:t>论文</a:t>
            </a:r>
            <a:r>
              <a:rPr lang="zh-CN" altLang="en-US" sz="600" dirty="0"/>
              <a:t>选题并非论文</a:t>
            </a:r>
            <a:r>
              <a:rPr lang="zh-CN" altLang="en-US" sz="600" dirty="0" smtClean="0"/>
              <a:t>标题</a:t>
            </a:r>
            <a:r>
              <a:rPr lang="zh-CN" altLang="en-US" sz="600" dirty="0"/>
              <a:t>，</a:t>
            </a:r>
            <a:r>
              <a:rPr lang="zh-CN" altLang="en-US" sz="600" dirty="0" smtClean="0"/>
              <a:t>是</a:t>
            </a:r>
            <a:r>
              <a:rPr lang="zh-CN" altLang="en-US" sz="600" dirty="0"/>
              <a:t>确定要研究的方向、范围、对象</a:t>
            </a:r>
            <a:r>
              <a:rPr lang="zh-CN" altLang="en-US" sz="600" dirty="0" smtClean="0"/>
              <a:t>。论文</a:t>
            </a:r>
            <a:r>
              <a:rPr lang="zh-CN" altLang="en-US" sz="600" dirty="0"/>
              <a:t>标题则是在选题确定</a:t>
            </a:r>
            <a:r>
              <a:rPr lang="zh-CN" altLang="en-US" sz="600" dirty="0" smtClean="0"/>
              <a:t>后，用</a:t>
            </a:r>
            <a:r>
              <a:rPr lang="zh-CN" altLang="en-US" sz="600" dirty="0"/>
              <a:t>文字符号对论文中心论点</a:t>
            </a:r>
            <a:r>
              <a:rPr lang="zh-CN" altLang="en-US" sz="600" dirty="0" smtClean="0"/>
              <a:t>给予概括 </a:t>
            </a:r>
            <a:r>
              <a:rPr lang="zh-CN" altLang="en-US" sz="600" dirty="0"/>
              <a:t>，即所谓点题。</a:t>
            </a:r>
          </a:p>
          <a:p>
            <a:r>
              <a:rPr lang="zh-CN" altLang="en-US" sz="600" b="1" dirty="0" smtClean="0"/>
              <a:t>选题的重要性</a:t>
            </a:r>
            <a:r>
              <a:rPr lang="zh-CN" altLang="en-US" sz="600" dirty="0" smtClean="0"/>
              <a:t>：合适</a:t>
            </a:r>
            <a:r>
              <a:rPr lang="zh-CN" altLang="en-US" sz="600" dirty="0"/>
              <a:t>的选题能够决定论文工作的价值和</a:t>
            </a:r>
            <a:r>
              <a:rPr lang="zh-CN" altLang="en-US" sz="600" dirty="0" smtClean="0"/>
              <a:t>效用；可以</a:t>
            </a:r>
            <a:r>
              <a:rPr lang="zh-CN" altLang="en-US" sz="600" dirty="0"/>
              <a:t>规划论文工作的方向和规模，弥补知识储备的</a:t>
            </a:r>
            <a:r>
              <a:rPr lang="zh-CN" altLang="en-US" sz="600" dirty="0" smtClean="0"/>
              <a:t>不足；可以</a:t>
            </a:r>
            <a:r>
              <a:rPr lang="zh-CN" altLang="en-US" sz="600" dirty="0"/>
              <a:t>保证论文工作的顺利进行，提高研究</a:t>
            </a:r>
            <a:r>
              <a:rPr lang="zh-CN" altLang="en-US" sz="600" dirty="0" smtClean="0"/>
              <a:t>能力。</a:t>
            </a:r>
            <a:endParaRPr lang="en-US" altLang="zh-CN" sz="600" dirty="0" smtClean="0"/>
          </a:p>
          <a:p>
            <a:r>
              <a:rPr lang="zh-CN" altLang="en-US" sz="600" b="1" dirty="0"/>
              <a:t>选题的四大</a:t>
            </a:r>
            <a:r>
              <a:rPr lang="zh-CN" altLang="en-US" sz="600" b="1" dirty="0" smtClean="0"/>
              <a:t>原则：</a:t>
            </a:r>
            <a:r>
              <a:rPr lang="zh-CN" altLang="en-US" sz="600" dirty="0"/>
              <a:t>①</a:t>
            </a:r>
            <a:r>
              <a:rPr lang="zh-CN" altLang="en-US" sz="600" dirty="0" smtClean="0"/>
              <a:t>科学性：以</a:t>
            </a:r>
            <a:r>
              <a:rPr lang="zh-CN" altLang="en-US" sz="600" dirty="0"/>
              <a:t>一定的科学理论和事实材料为依据，以此为基础，借助文献资料和个人体会，经过科学思维提出课题。 关键：符合学科的发展方向</a:t>
            </a:r>
            <a:r>
              <a:rPr lang="zh-CN" altLang="en-US" sz="600" dirty="0" smtClean="0"/>
              <a:t>。②创新性 ：创新性</a:t>
            </a:r>
            <a:r>
              <a:rPr lang="zh-CN" altLang="en-US" sz="600" dirty="0"/>
              <a:t>是科研课题得以成功的基本保证和价值所在。选题的起点要高，要避免只是重复别人的工作</a:t>
            </a:r>
            <a:r>
              <a:rPr lang="zh-CN" altLang="en-US" sz="600" dirty="0" smtClean="0"/>
              <a:t>。③适用性：选择</a:t>
            </a:r>
            <a:r>
              <a:rPr lang="zh-CN" altLang="en-US" sz="600" dirty="0"/>
              <a:t>对社会或生产有直接或间接效益的课题</a:t>
            </a:r>
            <a:r>
              <a:rPr lang="zh-CN" altLang="en-US" sz="600" dirty="0" smtClean="0"/>
              <a:t>。④可行性：根据</a:t>
            </a:r>
            <a:r>
              <a:rPr lang="zh-CN" altLang="en-US" sz="600" dirty="0"/>
              <a:t>个人的基础、能力和学校条件，能够在规定时间内</a:t>
            </a:r>
            <a:r>
              <a:rPr lang="zh-CN" altLang="en-US" sz="600" dirty="0" smtClean="0"/>
              <a:t>完成。</a:t>
            </a:r>
            <a:endParaRPr lang="en-US" altLang="zh-CN" sz="600" dirty="0" smtClean="0"/>
          </a:p>
          <a:p>
            <a:r>
              <a:rPr lang="zh-CN" altLang="en-US" sz="600" b="1" dirty="0"/>
              <a:t>选题的</a:t>
            </a:r>
            <a:r>
              <a:rPr lang="zh-CN" altLang="en-US" sz="600" b="1" dirty="0" smtClean="0"/>
              <a:t>标准</a:t>
            </a:r>
            <a:r>
              <a:rPr lang="zh-CN" altLang="en-US" sz="600" dirty="0" smtClean="0"/>
              <a:t>：选题</a:t>
            </a:r>
            <a:r>
              <a:rPr lang="zh-CN" altLang="en-US" sz="600" dirty="0"/>
              <a:t>应切合国际学术前沿或国家重大需求</a:t>
            </a:r>
            <a:r>
              <a:rPr lang="zh-CN" altLang="en-US" sz="600" dirty="0" smtClean="0"/>
              <a:t>；选题</a:t>
            </a:r>
            <a:r>
              <a:rPr lang="zh-CN" altLang="en-US" sz="600" dirty="0"/>
              <a:t>不宜过大</a:t>
            </a:r>
            <a:r>
              <a:rPr lang="zh-CN" altLang="en-US" sz="600" dirty="0" smtClean="0"/>
              <a:t>；选题</a:t>
            </a:r>
            <a:r>
              <a:rPr lang="zh-CN" altLang="en-US" sz="600" dirty="0"/>
              <a:t>的方向应具有后续的发展潜力</a:t>
            </a:r>
            <a:r>
              <a:rPr lang="zh-CN" altLang="en-US" sz="600" dirty="0" smtClean="0"/>
              <a:t>；选题</a:t>
            </a:r>
            <a:r>
              <a:rPr lang="zh-CN" altLang="en-US" sz="600" dirty="0"/>
              <a:t>要有明确的目标和要解决的问题</a:t>
            </a:r>
            <a:r>
              <a:rPr lang="zh-CN" altLang="en-US" sz="600" dirty="0" smtClean="0"/>
              <a:t>；选题</a:t>
            </a:r>
            <a:r>
              <a:rPr lang="zh-CN" altLang="en-US" sz="600" dirty="0"/>
              <a:t>需要有</a:t>
            </a:r>
            <a:r>
              <a:rPr lang="zh-CN" altLang="en-US" sz="600" dirty="0" smtClean="0"/>
              <a:t>创新（前人</a:t>
            </a:r>
            <a:r>
              <a:rPr lang="zh-CN" altLang="en-US" sz="600" dirty="0"/>
              <a:t>尚未研究或涉及的</a:t>
            </a:r>
            <a:r>
              <a:rPr lang="zh-CN" altLang="en-US" sz="600" dirty="0" smtClean="0"/>
              <a:t>；前人</a:t>
            </a:r>
            <a:r>
              <a:rPr lang="zh-CN" altLang="en-US" sz="600" dirty="0"/>
              <a:t>已研究，但尚有某些问题未解决</a:t>
            </a:r>
            <a:r>
              <a:rPr lang="zh-CN" altLang="en-US" sz="600" dirty="0" smtClean="0"/>
              <a:t>；国外</a:t>
            </a:r>
            <a:r>
              <a:rPr lang="zh-CN" altLang="en-US" sz="600" dirty="0"/>
              <a:t>有研究，国内研究还比较薄弱或刚</a:t>
            </a:r>
            <a:r>
              <a:rPr lang="zh-CN" altLang="en-US" sz="600" dirty="0" smtClean="0"/>
              <a:t>起步</a:t>
            </a:r>
            <a:r>
              <a:rPr lang="zh-CN" altLang="en-US" sz="600" dirty="0"/>
              <a:t>；</a:t>
            </a:r>
            <a:r>
              <a:rPr lang="zh-CN" altLang="en-US" sz="600" dirty="0" smtClean="0"/>
              <a:t>理论上</a:t>
            </a:r>
            <a:r>
              <a:rPr lang="zh-CN" altLang="en-US" sz="600" dirty="0"/>
              <a:t>已有研究，实现技术还未解决</a:t>
            </a:r>
            <a:r>
              <a:rPr lang="zh-CN" altLang="en-US" sz="600" dirty="0" smtClean="0"/>
              <a:t>。）课题类型：研究类，开发类</a:t>
            </a:r>
            <a:endParaRPr lang="en-US" altLang="zh-CN" sz="600" dirty="0" smtClean="0"/>
          </a:p>
          <a:p>
            <a:r>
              <a:rPr lang="zh-CN" altLang="en-US" sz="600" b="1" dirty="0"/>
              <a:t>创新点如何</a:t>
            </a:r>
            <a:r>
              <a:rPr lang="zh-CN" altLang="en-US" sz="600" b="1" dirty="0" smtClean="0"/>
              <a:t>找</a:t>
            </a:r>
            <a:r>
              <a:rPr lang="zh-CN" altLang="en-US" sz="600" dirty="0" smtClean="0"/>
              <a:t>：本</a:t>
            </a:r>
            <a:r>
              <a:rPr lang="zh-CN" altLang="en-US" sz="600" dirty="0"/>
              <a:t>领域内的顶级期刊、重要国际会议论文</a:t>
            </a:r>
            <a:r>
              <a:rPr lang="zh-CN" altLang="en-US" sz="600" dirty="0" smtClean="0"/>
              <a:t>；本</a:t>
            </a:r>
            <a:r>
              <a:rPr lang="zh-CN" altLang="en-US" sz="600" dirty="0"/>
              <a:t>领域内的重要学术研究机构和组织</a:t>
            </a:r>
            <a:r>
              <a:rPr lang="zh-CN" altLang="en-US" sz="600" dirty="0" smtClean="0"/>
              <a:t>；本领域</a:t>
            </a:r>
            <a:r>
              <a:rPr lang="zh-CN" altLang="en-US" sz="600" dirty="0"/>
              <a:t>内重要的研究组和学者</a:t>
            </a:r>
            <a:r>
              <a:rPr lang="zh-CN" altLang="en-US" sz="600" dirty="0" smtClean="0"/>
              <a:t>；重要</a:t>
            </a:r>
            <a:r>
              <a:rPr lang="zh-CN" altLang="en-US" sz="600" dirty="0"/>
              <a:t>综述文章的查阅与分析</a:t>
            </a:r>
            <a:r>
              <a:rPr lang="zh-CN" altLang="en-US" sz="600" dirty="0" smtClean="0"/>
              <a:t>；国内</a:t>
            </a:r>
            <a:r>
              <a:rPr lang="zh-CN" altLang="en-US" sz="600" dirty="0"/>
              <a:t>重要机构：基金委、科技部相关报告或项目指南</a:t>
            </a:r>
            <a:r>
              <a:rPr lang="zh-CN" altLang="en-US" sz="600" dirty="0" smtClean="0"/>
              <a:t>。</a:t>
            </a:r>
            <a:endParaRPr lang="en-US" altLang="zh-CN" sz="600" dirty="0" smtClean="0"/>
          </a:p>
          <a:p>
            <a:r>
              <a:rPr lang="zh-CN" altLang="en-US" sz="600" b="1" dirty="0"/>
              <a:t>选题</a:t>
            </a:r>
            <a:r>
              <a:rPr lang="zh-CN" altLang="en-US" sz="600" b="1" dirty="0" smtClean="0"/>
              <a:t>途径</a:t>
            </a:r>
            <a:r>
              <a:rPr lang="zh-CN" altLang="en-US" sz="600" dirty="0"/>
              <a:t>：</a:t>
            </a:r>
            <a:r>
              <a:rPr lang="zh-CN" altLang="en-US" sz="600" dirty="0" smtClean="0"/>
              <a:t>在</a:t>
            </a:r>
            <a:r>
              <a:rPr lang="zh-CN" altLang="en-US" sz="600" dirty="0"/>
              <a:t>前人研究成果的基础上进行</a:t>
            </a:r>
            <a:r>
              <a:rPr lang="zh-CN" altLang="en-US" sz="600" dirty="0" smtClean="0"/>
              <a:t>选题</a:t>
            </a:r>
            <a:r>
              <a:rPr lang="en-US" altLang="zh-CN" sz="600" dirty="0" smtClean="0"/>
              <a:t>(</a:t>
            </a:r>
            <a:r>
              <a:rPr lang="zh-CN" altLang="en-US" sz="600" dirty="0" smtClean="0"/>
              <a:t>前沿</a:t>
            </a:r>
            <a:r>
              <a:rPr lang="zh-CN" altLang="en-US" sz="600" dirty="0"/>
              <a:t>性</a:t>
            </a:r>
            <a:r>
              <a:rPr lang="zh-CN" altLang="en-US" sz="600" dirty="0" smtClean="0"/>
              <a:t>问题</a:t>
            </a:r>
            <a:r>
              <a:rPr lang="en-US" altLang="zh-CN" sz="600" dirty="0"/>
              <a:t>/</a:t>
            </a:r>
            <a:r>
              <a:rPr lang="zh-CN" altLang="en-US" sz="600" dirty="0" smtClean="0"/>
              <a:t>改进型问题</a:t>
            </a:r>
            <a:r>
              <a:rPr lang="en-US" altLang="zh-CN" sz="600" dirty="0" smtClean="0"/>
              <a:t>)</a:t>
            </a:r>
            <a:r>
              <a:rPr lang="zh-CN" altLang="en-US" sz="600" dirty="0" smtClean="0"/>
              <a:t>；</a:t>
            </a:r>
            <a:endParaRPr lang="zh-CN" altLang="en-US" sz="600" dirty="0"/>
          </a:p>
          <a:p>
            <a:r>
              <a:rPr lang="zh-CN" altLang="en-US" sz="600" dirty="0" smtClean="0"/>
              <a:t>在</a:t>
            </a:r>
            <a:r>
              <a:rPr lang="zh-CN" altLang="en-US" sz="600" dirty="0"/>
              <a:t>前人研究忽略的地方进行</a:t>
            </a:r>
            <a:r>
              <a:rPr lang="zh-CN" altLang="en-US" sz="600" dirty="0" smtClean="0"/>
              <a:t>选题</a:t>
            </a:r>
            <a:r>
              <a:rPr lang="en-US" altLang="zh-CN" sz="600" dirty="0" smtClean="0"/>
              <a:t>(</a:t>
            </a:r>
            <a:r>
              <a:rPr lang="zh-CN" altLang="en-US" sz="600" dirty="0" smtClean="0"/>
              <a:t>前人</a:t>
            </a:r>
            <a:r>
              <a:rPr lang="zh-CN" altLang="en-US" sz="600" dirty="0"/>
              <a:t>尚未解决的</a:t>
            </a:r>
            <a:r>
              <a:rPr lang="zh-CN" altLang="en-US" sz="600" dirty="0" smtClean="0"/>
              <a:t>问题</a:t>
            </a:r>
            <a:r>
              <a:rPr lang="en-US" altLang="zh-CN" sz="600" dirty="0" smtClean="0"/>
              <a:t>/</a:t>
            </a:r>
            <a:r>
              <a:rPr lang="zh-CN" altLang="en-US" sz="600" dirty="0" smtClean="0"/>
              <a:t>前人</a:t>
            </a:r>
            <a:r>
              <a:rPr lang="zh-CN" altLang="en-US" sz="600" dirty="0"/>
              <a:t>忽略的</a:t>
            </a:r>
            <a:r>
              <a:rPr lang="zh-CN" altLang="en-US" sz="600" dirty="0" smtClean="0"/>
              <a:t>问题</a:t>
            </a:r>
            <a:r>
              <a:rPr lang="en-US" altLang="zh-CN" sz="600" dirty="0" smtClean="0"/>
              <a:t>)</a:t>
            </a:r>
            <a:r>
              <a:rPr lang="zh-CN" altLang="en-US" sz="600" dirty="0" smtClean="0"/>
              <a:t>；</a:t>
            </a:r>
            <a:endParaRPr lang="zh-CN" altLang="en-US" sz="600" dirty="0"/>
          </a:p>
          <a:p>
            <a:r>
              <a:rPr lang="zh-CN" altLang="en-US" sz="600" dirty="0" smtClean="0"/>
              <a:t>在</a:t>
            </a:r>
            <a:r>
              <a:rPr lang="zh-CN" altLang="en-US" sz="600" dirty="0"/>
              <a:t>新的科研领域中</a:t>
            </a:r>
            <a:r>
              <a:rPr lang="zh-CN" altLang="en-US" sz="600" dirty="0" smtClean="0"/>
              <a:t>选题</a:t>
            </a:r>
            <a:r>
              <a:rPr lang="en-US" altLang="zh-CN" sz="600" dirty="0" smtClean="0"/>
              <a:t>(</a:t>
            </a:r>
            <a:r>
              <a:rPr lang="zh-CN" altLang="en-US" sz="600" dirty="0" smtClean="0"/>
              <a:t>交叉</a:t>
            </a:r>
            <a:r>
              <a:rPr lang="zh-CN" altLang="en-US" sz="600" dirty="0"/>
              <a:t>学科</a:t>
            </a:r>
            <a:r>
              <a:rPr lang="zh-CN" altLang="en-US" sz="600" dirty="0" smtClean="0"/>
              <a:t>问题</a:t>
            </a:r>
            <a:r>
              <a:rPr lang="en-US" altLang="zh-CN" sz="600" dirty="0" smtClean="0"/>
              <a:t>)</a:t>
            </a:r>
            <a:r>
              <a:rPr lang="zh-CN" altLang="en-US" sz="600" dirty="0" smtClean="0"/>
              <a:t>；在</a:t>
            </a:r>
            <a:r>
              <a:rPr lang="zh-CN" altLang="en-US" sz="600" dirty="0"/>
              <a:t>意外中</a:t>
            </a:r>
            <a:r>
              <a:rPr lang="zh-CN" altLang="en-US" sz="600" dirty="0" smtClean="0"/>
              <a:t>选题。</a:t>
            </a:r>
            <a:endParaRPr lang="zh-CN" altLang="en-US" sz="600" dirty="0"/>
          </a:p>
          <a:p>
            <a:r>
              <a:rPr lang="zh-CN" altLang="en-US" sz="600" b="1" dirty="0" smtClean="0"/>
              <a:t>选题</a:t>
            </a:r>
            <a:r>
              <a:rPr lang="zh-CN" altLang="en-US" sz="600" b="1" dirty="0"/>
              <a:t>的方法</a:t>
            </a:r>
            <a:r>
              <a:rPr lang="zh-CN" altLang="en-US" sz="600" dirty="0"/>
              <a:t>：罗列需求，从容易被忽略处选题，注重异常现象、获得意外发现，开拓创新、独辟蹊径</a:t>
            </a:r>
            <a:r>
              <a:rPr lang="zh-CN" altLang="en-US" sz="600" dirty="0" smtClean="0"/>
              <a:t>。</a:t>
            </a:r>
            <a:endParaRPr lang="zh-CN" altLang="en-US" sz="600" dirty="0"/>
          </a:p>
        </p:txBody>
      </p:sp>
      <p:sp>
        <p:nvSpPr>
          <p:cNvPr id="190" name="文本框 189"/>
          <p:cNvSpPr txBox="1"/>
          <p:nvPr/>
        </p:nvSpPr>
        <p:spPr>
          <a:xfrm>
            <a:off x="4840393" y="-14822"/>
            <a:ext cx="2825327" cy="10987623"/>
          </a:xfrm>
          <a:prstGeom prst="rect">
            <a:avLst/>
          </a:prstGeom>
          <a:noFill/>
        </p:spPr>
        <p:txBody>
          <a:bodyPr wrap="square" rtlCol="0">
            <a:spAutoFit/>
          </a:bodyPr>
          <a:lstStyle/>
          <a:p>
            <a:r>
              <a:rPr lang="en-US" altLang="zh-CN" sz="600" dirty="0"/>
              <a:t>T-0</a:t>
            </a:r>
            <a:r>
              <a:rPr lang="zh-CN" altLang="en-US" sz="600" dirty="0"/>
              <a:t>工业技术理论</a:t>
            </a:r>
            <a:r>
              <a:rPr lang="en-US" altLang="zh-CN" sz="600" dirty="0"/>
              <a:t>T-1</a:t>
            </a:r>
            <a:r>
              <a:rPr lang="zh-CN" altLang="en-US" sz="600" dirty="0"/>
              <a:t>工业技术现状与发展</a:t>
            </a:r>
            <a:r>
              <a:rPr lang="en-US" altLang="zh-CN" sz="600" dirty="0"/>
              <a:t>T-2</a:t>
            </a:r>
            <a:r>
              <a:rPr lang="zh-CN" altLang="en-US" sz="600" dirty="0"/>
              <a:t>机构、团体、会议</a:t>
            </a:r>
            <a:r>
              <a:rPr lang="en-US" altLang="zh-CN" sz="600" dirty="0"/>
              <a:t>T-6</a:t>
            </a:r>
            <a:r>
              <a:rPr lang="zh-CN" altLang="en-US" sz="600" dirty="0"/>
              <a:t>参考工具书</a:t>
            </a:r>
            <a:r>
              <a:rPr lang="en-US" altLang="zh-CN" sz="600" dirty="0"/>
              <a:t>T-9</a:t>
            </a:r>
            <a:r>
              <a:rPr lang="zh-CN" altLang="en-US" sz="600" dirty="0"/>
              <a:t>工业经济</a:t>
            </a:r>
            <a:r>
              <a:rPr lang="en-US" altLang="zh-CN" sz="600" dirty="0"/>
              <a:t>TB</a:t>
            </a:r>
            <a:r>
              <a:rPr lang="zh-CN" altLang="en-US" sz="600" dirty="0"/>
              <a:t>一般工业技术</a:t>
            </a:r>
            <a:r>
              <a:rPr lang="en-US" altLang="zh-CN" sz="600" dirty="0"/>
              <a:t>TD</a:t>
            </a:r>
            <a:r>
              <a:rPr lang="zh-CN" altLang="en-US" sz="600" dirty="0"/>
              <a:t>矿业工程</a:t>
            </a:r>
            <a:r>
              <a:rPr lang="en-US" altLang="zh-CN" sz="600" dirty="0"/>
              <a:t>TE</a:t>
            </a:r>
            <a:r>
              <a:rPr lang="zh-CN" altLang="en-US" sz="600" dirty="0"/>
              <a:t>石油、天然气工业</a:t>
            </a:r>
            <a:r>
              <a:rPr lang="en-US" altLang="zh-CN" sz="600" dirty="0"/>
              <a:t>TF</a:t>
            </a:r>
            <a:r>
              <a:rPr lang="zh-CN" altLang="en-US" sz="600" dirty="0"/>
              <a:t>冶金工业</a:t>
            </a:r>
            <a:r>
              <a:rPr lang="en-US" altLang="zh-CN" sz="600" dirty="0"/>
              <a:t>TG</a:t>
            </a:r>
            <a:r>
              <a:rPr lang="zh-CN" altLang="en-US" sz="600" dirty="0"/>
              <a:t>金属学与金属工艺</a:t>
            </a:r>
            <a:r>
              <a:rPr lang="en-US" altLang="zh-CN" sz="600" dirty="0"/>
              <a:t>TH</a:t>
            </a:r>
            <a:r>
              <a:rPr lang="zh-CN" altLang="en-US" sz="600" dirty="0"/>
              <a:t>机械、仪表工业</a:t>
            </a:r>
            <a:r>
              <a:rPr lang="en-US" altLang="zh-CN" sz="600" dirty="0"/>
              <a:t>TJ</a:t>
            </a:r>
            <a:r>
              <a:rPr lang="zh-CN" altLang="en-US" sz="600" dirty="0"/>
              <a:t>武器工业</a:t>
            </a:r>
            <a:r>
              <a:rPr lang="en-US" altLang="zh-CN" sz="600" dirty="0"/>
              <a:t>TK</a:t>
            </a:r>
            <a:r>
              <a:rPr lang="zh-CN" altLang="en-US" sz="600" dirty="0"/>
              <a:t>能源与动力工程</a:t>
            </a:r>
            <a:r>
              <a:rPr lang="en-US" altLang="zh-CN" sz="600" dirty="0"/>
              <a:t>TL</a:t>
            </a:r>
            <a:r>
              <a:rPr lang="zh-CN" altLang="en-US" sz="600" dirty="0"/>
              <a:t>原子能技术</a:t>
            </a:r>
            <a:r>
              <a:rPr lang="en-US" altLang="zh-CN" sz="600" dirty="0"/>
              <a:t>TM</a:t>
            </a:r>
            <a:r>
              <a:rPr lang="zh-CN" altLang="en-US" sz="600" dirty="0"/>
              <a:t>电工技术</a:t>
            </a:r>
            <a:r>
              <a:rPr lang="en-US" altLang="zh-CN" sz="600" dirty="0"/>
              <a:t>TN</a:t>
            </a:r>
            <a:r>
              <a:rPr lang="zh-CN" altLang="en-US" sz="600" dirty="0"/>
              <a:t>无线电电子学、电信技术</a:t>
            </a:r>
            <a:r>
              <a:rPr lang="en-US" altLang="zh-CN" sz="600" dirty="0"/>
              <a:t>TP</a:t>
            </a:r>
            <a:r>
              <a:rPr lang="zh-CN" altLang="en-US" sz="600" dirty="0"/>
              <a:t>自动化技术、计算机技术</a:t>
            </a:r>
            <a:r>
              <a:rPr lang="en-US" altLang="zh-CN" sz="600" dirty="0"/>
              <a:t>TQ</a:t>
            </a:r>
            <a:r>
              <a:rPr lang="zh-CN" altLang="en-US" sz="600" dirty="0"/>
              <a:t>化学工业</a:t>
            </a:r>
            <a:r>
              <a:rPr lang="en-US" altLang="zh-CN" sz="600" dirty="0"/>
              <a:t>TS</a:t>
            </a:r>
            <a:r>
              <a:rPr lang="zh-CN" altLang="en-US" sz="600" dirty="0"/>
              <a:t>轻工业、手工业</a:t>
            </a:r>
            <a:r>
              <a:rPr lang="en-US" altLang="zh-CN" sz="600" dirty="0"/>
              <a:t>TU</a:t>
            </a:r>
            <a:r>
              <a:rPr lang="zh-CN" altLang="en-US" sz="600" dirty="0"/>
              <a:t>建筑科学</a:t>
            </a:r>
            <a:r>
              <a:rPr lang="en-US" altLang="zh-CN" sz="600" dirty="0"/>
              <a:t>TV</a:t>
            </a:r>
            <a:r>
              <a:rPr lang="zh-CN" altLang="en-US" sz="600" dirty="0" smtClean="0"/>
              <a:t>水利工程</a:t>
            </a:r>
            <a:endParaRPr lang="en-US" altLang="zh-CN" sz="600" dirty="0" smtClean="0"/>
          </a:p>
          <a:p>
            <a:r>
              <a:rPr lang="zh-CN" altLang="en-US" sz="600" b="1" dirty="0"/>
              <a:t>文献标识码</a:t>
            </a:r>
            <a:r>
              <a:rPr lang="en-US" altLang="zh-CN" sz="600" b="1" dirty="0"/>
              <a:t>/</a:t>
            </a:r>
            <a:r>
              <a:rPr lang="zh-CN" altLang="en-US" sz="600" b="1" dirty="0"/>
              <a:t>标志码</a:t>
            </a:r>
            <a:r>
              <a:rPr lang="zh-CN" altLang="en-US" sz="600" dirty="0"/>
              <a:t>（学术及技术类型标识</a:t>
            </a:r>
            <a:r>
              <a:rPr lang="zh-CN" altLang="en-US" sz="600" dirty="0" smtClean="0"/>
              <a:t>）：</a:t>
            </a:r>
            <a:endParaRPr lang="en-US" altLang="zh-CN" sz="600" dirty="0" smtClean="0"/>
          </a:p>
          <a:p>
            <a:r>
              <a:rPr lang="en-US" altLang="zh-CN" sz="600" dirty="0" smtClean="0"/>
              <a:t> </a:t>
            </a:r>
            <a:r>
              <a:rPr lang="en-US" altLang="zh-CN" sz="600" dirty="0"/>
              <a:t>A——</a:t>
            </a:r>
            <a:r>
              <a:rPr lang="zh-CN" altLang="en-US" sz="600" dirty="0"/>
              <a:t>理论与应用研究学术论文</a:t>
            </a:r>
            <a:r>
              <a:rPr lang="en-US" altLang="zh-CN" sz="600" dirty="0"/>
              <a:t>(</a:t>
            </a:r>
            <a:r>
              <a:rPr lang="zh-CN" altLang="en-US" sz="600" dirty="0"/>
              <a:t>包括综述报告</a:t>
            </a:r>
            <a:r>
              <a:rPr lang="en-US" altLang="zh-CN" sz="600" dirty="0"/>
              <a:t>)</a:t>
            </a:r>
          </a:p>
          <a:p>
            <a:r>
              <a:rPr lang="en-US" altLang="zh-CN" sz="600" dirty="0"/>
              <a:t> B——</a:t>
            </a:r>
            <a:r>
              <a:rPr lang="zh-CN" altLang="en-US" sz="600" dirty="0"/>
              <a:t>实用性技术成果报告</a:t>
            </a:r>
            <a:r>
              <a:rPr lang="en-US" altLang="zh-CN" sz="600" dirty="0"/>
              <a:t>(</a:t>
            </a:r>
            <a:r>
              <a:rPr lang="zh-CN" altLang="en-US" sz="600" dirty="0"/>
              <a:t>科技</a:t>
            </a:r>
            <a:r>
              <a:rPr lang="en-US" altLang="zh-CN" sz="600" dirty="0"/>
              <a:t>),</a:t>
            </a:r>
            <a:r>
              <a:rPr lang="zh-CN" altLang="en-US" sz="600" dirty="0"/>
              <a:t>理论学习与社会实践总结</a:t>
            </a:r>
            <a:r>
              <a:rPr lang="en-US" altLang="zh-CN" sz="600" dirty="0"/>
              <a:t>(</a:t>
            </a:r>
            <a:r>
              <a:rPr lang="zh-CN" altLang="en-US" sz="600" dirty="0"/>
              <a:t>社科</a:t>
            </a:r>
            <a:r>
              <a:rPr lang="en-US" altLang="zh-CN" sz="600" dirty="0"/>
              <a:t>)</a:t>
            </a:r>
          </a:p>
          <a:p>
            <a:r>
              <a:rPr lang="en-US" altLang="zh-CN" sz="600" dirty="0"/>
              <a:t> C——</a:t>
            </a:r>
            <a:r>
              <a:rPr lang="zh-CN" altLang="en-US" sz="600" dirty="0"/>
              <a:t>业务指导与技术管理性文章</a:t>
            </a:r>
            <a:r>
              <a:rPr lang="en-US" altLang="zh-CN" sz="600" dirty="0"/>
              <a:t>(</a:t>
            </a:r>
            <a:r>
              <a:rPr lang="zh-CN" altLang="en-US" sz="600" dirty="0"/>
              <a:t>包括领导讲话</a:t>
            </a:r>
            <a:r>
              <a:rPr lang="en-US" altLang="zh-CN" sz="600" dirty="0"/>
              <a:t>,</a:t>
            </a:r>
            <a:r>
              <a:rPr lang="zh-CN" altLang="en-US" sz="600" dirty="0"/>
              <a:t>特约评论等</a:t>
            </a:r>
            <a:r>
              <a:rPr lang="en-US" altLang="zh-CN" sz="600" dirty="0"/>
              <a:t>)</a:t>
            </a:r>
          </a:p>
          <a:p>
            <a:r>
              <a:rPr lang="en-US" altLang="zh-CN" sz="600" dirty="0"/>
              <a:t> D——</a:t>
            </a:r>
            <a:r>
              <a:rPr lang="zh-CN" altLang="en-US" sz="600" dirty="0"/>
              <a:t>一般动态性信息</a:t>
            </a:r>
            <a:r>
              <a:rPr lang="en-US" altLang="zh-CN" sz="600" dirty="0"/>
              <a:t>(</a:t>
            </a:r>
            <a:r>
              <a:rPr lang="zh-CN" altLang="en-US" sz="600" dirty="0"/>
              <a:t>通讯、报道、会议活动、专访等</a:t>
            </a:r>
            <a:r>
              <a:rPr lang="en-US" altLang="zh-CN" sz="600" dirty="0"/>
              <a:t>)</a:t>
            </a:r>
          </a:p>
          <a:p>
            <a:r>
              <a:rPr lang="en-US" altLang="zh-CN" sz="600" dirty="0"/>
              <a:t> E——</a:t>
            </a:r>
            <a:r>
              <a:rPr lang="zh-CN" altLang="en-US" sz="600" dirty="0"/>
              <a:t>文件</a:t>
            </a:r>
            <a:r>
              <a:rPr lang="en-US" altLang="zh-CN" sz="600" dirty="0"/>
              <a:t>,</a:t>
            </a:r>
            <a:r>
              <a:rPr lang="zh-CN" altLang="en-US" sz="600" dirty="0"/>
              <a:t>资料</a:t>
            </a:r>
            <a:r>
              <a:rPr lang="en-US" altLang="zh-CN" sz="600" dirty="0"/>
              <a:t>(</a:t>
            </a:r>
            <a:r>
              <a:rPr lang="zh-CN" altLang="en-US" sz="600" dirty="0"/>
              <a:t>包括历史资料</a:t>
            </a:r>
            <a:r>
              <a:rPr lang="en-US" altLang="zh-CN" sz="600" dirty="0"/>
              <a:t>,</a:t>
            </a:r>
            <a:r>
              <a:rPr lang="zh-CN" altLang="en-US" sz="600" dirty="0"/>
              <a:t>统计资料</a:t>
            </a:r>
            <a:r>
              <a:rPr lang="en-US" altLang="zh-CN" sz="600" dirty="0"/>
              <a:t>,</a:t>
            </a:r>
            <a:r>
              <a:rPr lang="zh-CN" altLang="en-US" sz="600" dirty="0"/>
              <a:t>机构</a:t>
            </a:r>
            <a:r>
              <a:rPr lang="en-US" altLang="zh-CN" sz="600" dirty="0"/>
              <a:t>,</a:t>
            </a:r>
            <a:r>
              <a:rPr lang="zh-CN" altLang="en-US" sz="600" dirty="0"/>
              <a:t>人物</a:t>
            </a:r>
            <a:r>
              <a:rPr lang="en-US" altLang="zh-CN" sz="600" dirty="0"/>
              <a:t>,</a:t>
            </a:r>
            <a:r>
              <a:rPr lang="zh-CN" altLang="en-US" sz="600" dirty="0"/>
              <a:t>书刊</a:t>
            </a:r>
            <a:r>
              <a:rPr lang="en-US" altLang="zh-CN" sz="600" dirty="0"/>
              <a:t>,</a:t>
            </a:r>
            <a:r>
              <a:rPr lang="zh-CN" altLang="en-US" sz="600" dirty="0"/>
              <a:t>知识介绍等</a:t>
            </a:r>
            <a:r>
              <a:rPr lang="en-US" altLang="zh-CN" sz="600" dirty="0"/>
              <a:t>)</a:t>
            </a:r>
          </a:p>
          <a:p>
            <a:r>
              <a:rPr lang="zh-CN" altLang="en-US" sz="600" dirty="0"/>
              <a:t>文章编号包括</a:t>
            </a:r>
            <a:r>
              <a:rPr lang="en-US" altLang="zh-CN" sz="600" dirty="0"/>
              <a:t>ISSN</a:t>
            </a:r>
            <a:r>
              <a:rPr lang="zh-CN" altLang="en-US" sz="600" dirty="0"/>
              <a:t>号、年、卷、期、页等，由编辑人员给出</a:t>
            </a:r>
            <a:r>
              <a:rPr lang="zh-CN" altLang="en-US" sz="600" dirty="0" smtClean="0"/>
              <a:t>。</a:t>
            </a:r>
            <a:endParaRPr lang="en-US" altLang="zh-CN" sz="600" dirty="0" smtClean="0"/>
          </a:p>
          <a:p>
            <a:r>
              <a:rPr lang="zh-CN" altLang="en-US" sz="600" b="1" dirty="0" smtClean="0"/>
              <a:t>数据库</a:t>
            </a:r>
            <a:r>
              <a:rPr lang="zh-CN" altLang="en-US" sz="600" dirty="0" smtClean="0"/>
              <a:t>：学会性质数据库（</a:t>
            </a:r>
            <a:r>
              <a:rPr lang="en-US" altLang="zh-CN" sz="600" dirty="0" smtClean="0"/>
              <a:t>IEEE </a:t>
            </a:r>
            <a:r>
              <a:rPr lang="en-US" altLang="zh-CN" sz="600" dirty="0" err="1" smtClean="0"/>
              <a:t>Xplore</a:t>
            </a:r>
            <a:r>
              <a:rPr lang="en-US" altLang="zh-CN" sz="600" dirty="0" smtClean="0"/>
              <a:t> Digital Library</a:t>
            </a:r>
            <a:r>
              <a:rPr lang="zh-CN" altLang="en-US" sz="600" dirty="0" smtClean="0"/>
              <a:t>电气电子工程师学会</a:t>
            </a:r>
            <a:r>
              <a:rPr lang="en-US" altLang="zh-CN" sz="600" dirty="0" smtClean="0"/>
              <a:t>, ASME Digital Collection</a:t>
            </a:r>
            <a:r>
              <a:rPr lang="zh-CN" altLang="en-US" sz="600" dirty="0" smtClean="0"/>
              <a:t>美国机械工程师学会</a:t>
            </a:r>
            <a:r>
              <a:rPr lang="en-US" altLang="zh-CN" sz="600" dirty="0" smtClean="0"/>
              <a:t>; AIII ARC</a:t>
            </a:r>
            <a:r>
              <a:rPr lang="zh-CN" altLang="en-US" sz="600" dirty="0"/>
              <a:t>美国航空航天学会</a:t>
            </a:r>
            <a:r>
              <a:rPr lang="en-US" altLang="zh-CN" sz="600" dirty="0" smtClean="0"/>
              <a:t>; ACM Digital Library</a:t>
            </a:r>
            <a:r>
              <a:rPr lang="zh-CN" altLang="en-US" sz="600" dirty="0" smtClean="0"/>
              <a:t>美国计算机学会</a:t>
            </a:r>
            <a:r>
              <a:rPr lang="en-US" altLang="zh-CN" sz="600" dirty="0" smtClean="0"/>
              <a:t>; APS</a:t>
            </a:r>
            <a:r>
              <a:rPr lang="zh-CN" altLang="en-US" sz="600" dirty="0" smtClean="0"/>
              <a:t>美国</a:t>
            </a:r>
            <a:r>
              <a:rPr lang="zh-CN" altLang="en-US" sz="600" dirty="0"/>
              <a:t>物理学会</a:t>
            </a:r>
            <a:r>
              <a:rPr lang="en-US" altLang="zh-CN" sz="600" dirty="0" smtClean="0"/>
              <a:t>; ACS</a:t>
            </a:r>
            <a:r>
              <a:rPr lang="zh-CN" altLang="en-US" sz="600" dirty="0" smtClean="0"/>
              <a:t>美国化学学会</a:t>
            </a:r>
            <a:r>
              <a:rPr lang="en-US" altLang="zh-CN" sz="600" dirty="0" smtClean="0"/>
              <a:t>; RSC</a:t>
            </a:r>
            <a:r>
              <a:rPr lang="zh-CN" altLang="en-US" sz="600" dirty="0"/>
              <a:t>英国皇家化学学会</a:t>
            </a:r>
            <a:r>
              <a:rPr lang="zh-CN" altLang="en-US" sz="600" dirty="0" smtClean="0"/>
              <a:t>）；出版集团的数据库（</a:t>
            </a:r>
            <a:r>
              <a:rPr lang="en-US" altLang="zh-CN" sz="600" dirty="0" smtClean="0"/>
              <a:t>Nature; </a:t>
            </a:r>
            <a:r>
              <a:rPr lang="en-US" altLang="zh-CN" sz="600" dirty="0"/>
              <a:t>Science Online; Elsevier </a:t>
            </a:r>
            <a:r>
              <a:rPr lang="en-US" altLang="zh-CN" sz="600" dirty="0" smtClean="0"/>
              <a:t>Science-Direct </a:t>
            </a:r>
            <a:r>
              <a:rPr lang="en-US" altLang="zh-CN" sz="600" dirty="0" err="1"/>
              <a:t>OnSite</a:t>
            </a:r>
            <a:r>
              <a:rPr lang="en-US" altLang="zh-CN" sz="600" dirty="0"/>
              <a:t>(SDOL</a:t>
            </a:r>
            <a:r>
              <a:rPr lang="en-US" altLang="zh-CN" sz="600" dirty="0" smtClean="0"/>
              <a:t>), </a:t>
            </a:r>
            <a:r>
              <a:rPr lang="en-US" altLang="zh-CN" sz="600" dirty="0" err="1" smtClean="0"/>
              <a:t>SpringerLink</a:t>
            </a:r>
            <a:r>
              <a:rPr lang="en-US" altLang="zh-CN" sz="600" dirty="0" smtClean="0"/>
              <a:t>; </a:t>
            </a:r>
            <a:r>
              <a:rPr lang="en-US" altLang="zh-CN" sz="600" dirty="0" err="1" smtClean="0"/>
              <a:t>Wilry</a:t>
            </a:r>
            <a:r>
              <a:rPr lang="en-US" altLang="zh-CN" sz="600" dirty="0" smtClean="0"/>
              <a:t> Blackwell; Taylor &amp; Francis Group; Sage</a:t>
            </a:r>
            <a:r>
              <a:rPr lang="zh-CN" altLang="en-US" sz="600" dirty="0" smtClean="0"/>
              <a:t>）、中文数据库（</a:t>
            </a:r>
            <a:r>
              <a:rPr lang="en-US" altLang="zh-CN" sz="600" dirty="0" smtClean="0"/>
              <a:t>CNKI</a:t>
            </a:r>
            <a:r>
              <a:rPr lang="zh-CN" altLang="en-US" sz="600" dirty="0" smtClean="0"/>
              <a:t>，维普，万方）</a:t>
            </a:r>
            <a:endParaRPr lang="en-US" altLang="zh-CN" sz="600" dirty="0" smtClean="0"/>
          </a:p>
          <a:p>
            <a:r>
              <a:rPr lang="zh-CN" altLang="en-US" sz="600" b="1" dirty="0"/>
              <a:t>世界</a:t>
            </a:r>
            <a:r>
              <a:rPr lang="en-US" altLang="zh-CN" sz="600" b="1" dirty="0"/>
              <a:t>5</a:t>
            </a:r>
            <a:r>
              <a:rPr lang="zh-CN" altLang="en-US" sz="600" b="1" dirty="0"/>
              <a:t>大出版</a:t>
            </a:r>
            <a:r>
              <a:rPr lang="zh-CN" altLang="en-US" sz="600" b="1" dirty="0" smtClean="0"/>
              <a:t>集团</a:t>
            </a:r>
            <a:r>
              <a:rPr lang="en-US" altLang="zh-CN" sz="600" b="1" dirty="0" smtClean="0"/>
              <a:t>: </a:t>
            </a:r>
            <a:r>
              <a:rPr lang="en-US" altLang="zh-CN" sz="600" dirty="0" smtClean="0"/>
              <a:t>Elsevier/</a:t>
            </a:r>
            <a:r>
              <a:rPr lang="zh-CN" altLang="en-US" sz="600" dirty="0" smtClean="0"/>
              <a:t>爱</a:t>
            </a:r>
            <a:r>
              <a:rPr lang="zh-CN" altLang="en-US" sz="600" dirty="0"/>
              <a:t>思唯</a:t>
            </a:r>
            <a:r>
              <a:rPr lang="zh-CN" altLang="en-US" sz="600" dirty="0" smtClean="0"/>
              <a:t>尔</a:t>
            </a:r>
            <a:r>
              <a:rPr lang="en-US" altLang="zh-CN" sz="600" dirty="0" smtClean="0"/>
              <a:t>(1880</a:t>
            </a:r>
            <a:r>
              <a:rPr lang="zh-CN" altLang="en-US" sz="600" dirty="0" smtClean="0"/>
              <a:t>阿姆斯特丹</a:t>
            </a:r>
            <a:r>
              <a:rPr lang="en-US" altLang="zh-CN" sz="600" dirty="0" smtClean="0"/>
              <a:t>),Springer-</a:t>
            </a:r>
            <a:r>
              <a:rPr lang="en-US" altLang="zh-CN" sz="600" dirty="0" err="1" smtClean="0"/>
              <a:t>Verlag</a:t>
            </a:r>
            <a:r>
              <a:rPr lang="en-US" altLang="zh-CN" sz="600" dirty="0" smtClean="0"/>
              <a:t>/</a:t>
            </a:r>
            <a:r>
              <a:rPr lang="zh-CN" altLang="en-US" sz="600" dirty="0" smtClean="0"/>
              <a:t>施普林格</a:t>
            </a:r>
            <a:r>
              <a:rPr lang="en-US" altLang="zh-CN" sz="600" dirty="0" smtClean="0"/>
              <a:t>(1842 </a:t>
            </a:r>
            <a:r>
              <a:rPr lang="zh-CN" altLang="en-US" sz="600" dirty="0" smtClean="0"/>
              <a:t>柏林</a:t>
            </a:r>
            <a:r>
              <a:rPr lang="en-US" altLang="zh-CN" sz="600" dirty="0" smtClean="0"/>
              <a:t>),Wiley/John Wiley/</a:t>
            </a:r>
            <a:r>
              <a:rPr lang="zh-CN" altLang="en-US" sz="600" dirty="0" smtClean="0"/>
              <a:t>约翰威立</a:t>
            </a:r>
            <a:r>
              <a:rPr lang="zh-CN" altLang="en-US" sz="600" dirty="0"/>
              <a:t>国际出版</a:t>
            </a:r>
            <a:r>
              <a:rPr lang="zh-CN" altLang="en-US" sz="600" dirty="0" smtClean="0"/>
              <a:t>公司</a:t>
            </a:r>
            <a:r>
              <a:rPr lang="en-US" altLang="zh-CN" sz="600" dirty="0" smtClean="0"/>
              <a:t>(1807 </a:t>
            </a:r>
            <a:r>
              <a:rPr lang="zh-CN" altLang="en-US" sz="600" dirty="0" smtClean="0"/>
              <a:t>美国</a:t>
            </a:r>
            <a:r>
              <a:rPr lang="en-US" altLang="zh-CN" sz="600" dirty="0" smtClean="0"/>
              <a:t>),Taylor </a:t>
            </a:r>
            <a:r>
              <a:rPr lang="en-US" altLang="zh-CN" sz="600" dirty="0"/>
              <a:t>&amp; Francis </a:t>
            </a:r>
            <a:r>
              <a:rPr lang="en-US" altLang="zh-CN" sz="600" dirty="0" smtClean="0"/>
              <a:t>Group/</a:t>
            </a:r>
            <a:r>
              <a:rPr lang="zh-CN" altLang="en-US" sz="600" dirty="0" smtClean="0"/>
              <a:t>泰</a:t>
            </a:r>
            <a:r>
              <a:rPr lang="zh-CN" altLang="en-US" sz="600" dirty="0"/>
              <a:t>勒</a:t>
            </a:r>
            <a:r>
              <a:rPr lang="en-US" altLang="zh-CN" sz="600" dirty="0"/>
              <a:t>-</a:t>
            </a:r>
            <a:r>
              <a:rPr lang="zh-CN" altLang="en-US" sz="600" dirty="0"/>
              <a:t>弗朗西斯出版</a:t>
            </a:r>
            <a:r>
              <a:rPr lang="zh-CN" altLang="en-US" sz="600" dirty="0" smtClean="0"/>
              <a:t>集团</a:t>
            </a:r>
            <a:r>
              <a:rPr lang="en-US" altLang="zh-CN" sz="600" dirty="0" smtClean="0"/>
              <a:t>(1798 </a:t>
            </a:r>
            <a:r>
              <a:rPr lang="zh-CN" altLang="en-US" sz="600" dirty="0" smtClean="0"/>
              <a:t>英国</a:t>
            </a:r>
            <a:r>
              <a:rPr lang="en-US" altLang="zh-CN" sz="600" dirty="0" smtClean="0"/>
              <a:t>), SAGE(1965</a:t>
            </a:r>
            <a:r>
              <a:rPr lang="zh-CN" altLang="en-US" sz="600" dirty="0" smtClean="0"/>
              <a:t>美国</a:t>
            </a:r>
            <a:r>
              <a:rPr lang="en-US" altLang="zh-CN" sz="600" dirty="0" smtClean="0"/>
              <a:t>)</a:t>
            </a:r>
          </a:p>
          <a:p>
            <a:r>
              <a:rPr lang="zh-CN" altLang="en-US" sz="600" b="1" dirty="0"/>
              <a:t>索引</a:t>
            </a:r>
            <a:r>
              <a:rPr lang="zh-CN" altLang="en-US" sz="600" dirty="0"/>
              <a:t>（</a:t>
            </a:r>
            <a:r>
              <a:rPr lang="en-US" altLang="zh-CN" sz="600" dirty="0"/>
              <a:t>Index</a:t>
            </a:r>
            <a:r>
              <a:rPr lang="zh-CN" altLang="en-US" sz="600" dirty="0" smtClean="0"/>
              <a:t>）：对</a:t>
            </a:r>
            <a:r>
              <a:rPr lang="zh-CN" altLang="en-US" sz="600" dirty="0"/>
              <a:t>一组信息集合的有系统的</a:t>
            </a:r>
            <a:r>
              <a:rPr lang="zh-CN" altLang="en-US" sz="600" dirty="0" smtClean="0"/>
              <a:t>指引；索引</a:t>
            </a:r>
            <a:r>
              <a:rPr lang="zh-CN" altLang="en-US" sz="600" dirty="0"/>
              <a:t>是一种附属性的检索工具，通常称为辅助索引。索引具有便于检索，揭示事物比较深入、全面、明细等方面的优点</a:t>
            </a:r>
            <a:r>
              <a:rPr lang="zh-CN" altLang="en-US" sz="600" dirty="0" smtClean="0"/>
              <a:t>。在</a:t>
            </a:r>
            <a:r>
              <a:rPr lang="zh-CN" altLang="en-US" sz="600" dirty="0"/>
              <a:t>关系数据库中，索引是一种单独的、物理的对数据库表中一列或多列的值进行排序的一种存储结构，它是某个表中一列或若干列值的集合和相应的指向表中物理标识这些值的数据页的逻辑指针清单。索引的作用相当于图书的目录，可以根据目录中的页码快速找到所需的内容</a:t>
            </a:r>
            <a:r>
              <a:rPr lang="zh-CN" altLang="en-US" sz="600" dirty="0" smtClean="0"/>
              <a:t>。</a:t>
            </a:r>
            <a:endParaRPr lang="en-US" altLang="zh-CN" sz="600" dirty="0" smtClean="0"/>
          </a:p>
          <a:p>
            <a:r>
              <a:rPr lang="zh-CN" altLang="en-US" sz="600" b="1" dirty="0" smtClean="0"/>
              <a:t>索引工具</a:t>
            </a:r>
            <a:r>
              <a:rPr lang="zh-CN" altLang="en-US" sz="600" dirty="0" smtClean="0"/>
              <a:t>：</a:t>
            </a:r>
            <a:r>
              <a:rPr lang="en-US" altLang="zh-CN" sz="600" dirty="0" smtClean="0"/>
              <a:t>SCI(Science </a:t>
            </a:r>
            <a:r>
              <a:rPr lang="en-US" altLang="zh-CN" sz="600" dirty="0"/>
              <a:t>Citation </a:t>
            </a:r>
            <a:r>
              <a:rPr lang="en-US" altLang="zh-CN" sz="600" dirty="0" smtClean="0"/>
              <a:t>Index) </a:t>
            </a:r>
            <a:r>
              <a:rPr lang="zh-CN" altLang="en-US" sz="600" dirty="0" smtClean="0"/>
              <a:t>科学</a:t>
            </a:r>
            <a:r>
              <a:rPr lang="zh-CN" altLang="en-US" sz="600" dirty="0"/>
              <a:t>引文</a:t>
            </a:r>
            <a:r>
              <a:rPr lang="zh-CN" altLang="en-US" sz="600" dirty="0" smtClean="0"/>
              <a:t>索引；</a:t>
            </a:r>
            <a:r>
              <a:rPr lang="en-US" altLang="zh-CN" sz="600" dirty="0" smtClean="0"/>
              <a:t>SSCI(Social </a:t>
            </a:r>
            <a:r>
              <a:rPr lang="en-US" altLang="zh-CN" sz="600" dirty="0"/>
              <a:t>Sciences Citation </a:t>
            </a:r>
            <a:r>
              <a:rPr lang="en-US" altLang="zh-CN" sz="600" dirty="0" smtClean="0"/>
              <a:t>Index)</a:t>
            </a:r>
            <a:r>
              <a:rPr lang="zh-CN" altLang="en-US" sz="600" dirty="0" smtClean="0"/>
              <a:t>社会科学</a:t>
            </a:r>
            <a:r>
              <a:rPr lang="zh-CN" altLang="en-US" sz="600" dirty="0"/>
              <a:t>引文</a:t>
            </a:r>
            <a:r>
              <a:rPr lang="zh-CN" altLang="en-US" sz="600" dirty="0" smtClean="0"/>
              <a:t>索引；</a:t>
            </a:r>
            <a:r>
              <a:rPr lang="en-US" altLang="zh-CN" sz="600" dirty="0" smtClean="0"/>
              <a:t>A&amp;HCI(Arts </a:t>
            </a:r>
            <a:r>
              <a:rPr lang="en-US" altLang="zh-CN" sz="600" dirty="0"/>
              <a:t>&amp; Humanities Citation </a:t>
            </a:r>
            <a:r>
              <a:rPr lang="en-US" altLang="zh-CN" sz="600" dirty="0" smtClean="0"/>
              <a:t>Index)</a:t>
            </a:r>
            <a:r>
              <a:rPr lang="zh-CN" altLang="en-US" sz="600" dirty="0" smtClean="0"/>
              <a:t>艺术</a:t>
            </a:r>
            <a:r>
              <a:rPr lang="zh-CN" altLang="en-US" sz="600" dirty="0"/>
              <a:t>与人文科学引文</a:t>
            </a:r>
            <a:r>
              <a:rPr lang="zh-CN" altLang="en-US" sz="600" dirty="0" smtClean="0"/>
              <a:t>索引；</a:t>
            </a:r>
            <a:r>
              <a:rPr lang="en-US" altLang="zh-CN" sz="600" dirty="0" smtClean="0"/>
              <a:t>CPCI/ISTP(Conference </a:t>
            </a:r>
            <a:r>
              <a:rPr lang="en-US" altLang="zh-CN" sz="600" dirty="0"/>
              <a:t>Proceedings Citation </a:t>
            </a:r>
            <a:r>
              <a:rPr lang="en-US" altLang="zh-CN" sz="600" dirty="0" smtClean="0"/>
              <a:t>Index)</a:t>
            </a:r>
            <a:r>
              <a:rPr lang="zh-CN" altLang="en-US" sz="600" dirty="0" smtClean="0"/>
              <a:t>会</a:t>
            </a:r>
            <a:r>
              <a:rPr lang="zh-CN" altLang="en-US" sz="600" dirty="0"/>
              <a:t>议论文引文</a:t>
            </a:r>
            <a:r>
              <a:rPr lang="zh-CN" altLang="en-US" sz="600" dirty="0" smtClean="0"/>
              <a:t>索引；</a:t>
            </a:r>
            <a:r>
              <a:rPr lang="en-US" altLang="zh-CN" sz="600" dirty="0" smtClean="0"/>
              <a:t>EI </a:t>
            </a:r>
            <a:r>
              <a:rPr lang="en-US" altLang="zh-CN" sz="600" dirty="0"/>
              <a:t>(</a:t>
            </a:r>
            <a:r>
              <a:rPr lang="en-US" altLang="zh-CN" sz="600" dirty="0" smtClean="0"/>
              <a:t>Engineering Index/</a:t>
            </a:r>
            <a:r>
              <a:rPr lang="en-US" altLang="zh-CN" sz="600" dirty="0"/>
              <a:t>Engineering </a:t>
            </a:r>
            <a:r>
              <a:rPr lang="en-US" altLang="zh-CN" sz="600" dirty="0" smtClean="0"/>
              <a:t>Village)</a:t>
            </a:r>
            <a:r>
              <a:rPr lang="zh-CN" altLang="en-US" sz="600" dirty="0" smtClean="0"/>
              <a:t>工程索引；</a:t>
            </a:r>
            <a:r>
              <a:rPr lang="en-US" altLang="zh-CN" sz="600" dirty="0" smtClean="0"/>
              <a:t>ISR(Index </a:t>
            </a:r>
            <a:r>
              <a:rPr lang="en-US" altLang="zh-CN" sz="600" dirty="0"/>
              <a:t>to Scientific </a:t>
            </a:r>
            <a:r>
              <a:rPr lang="en-US" altLang="zh-CN" sz="600" dirty="0" smtClean="0"/>
              <a:t>Reviews)</a:t>
            </a:r>
            <a:r>
              <a:rPr lang="zh-CN" altLang="en-US" sz="600" dirty="0" smtClean="0"/>
              <a:t>科技</a:t>
            </a:r>
            <a:r>
              <a:rPr lang="zh-CN" altLang="en-US" sz="600" dirty="0"/>
              <a:t>评论索引</a:t>
            </a:r>
          </a:p>
          <a:p>
            <a:r>
              <a:rPr lang="en-US" altLang="zh-CN" sz="600" dirty="0" smtClean="0"/>
              <a:t>SCI,SSCI,A&amp;HCI,CPCI</a:t>
            </a:r>
            <a:r>
              <a:rPr lang="zh-CN" altLang="en-US" sz="600" dirty="0" smtClean="0"/>
              <a:t>集成</a:t>
            </a:r>
            <a:r>
              <a:rPr lang="zh-CN" altLang="en-US" sz="600" dirty="0"/>
              <a:t>在</a:t>
            </a:r>
            <a:r>
              <a:rPr lang="en-US" altLang="zh-CN" sz="600" dirty="0"/>
              <a:t>Web of </a:t>
            </a:r>
            <a:r>
              <a:rPr lang="en-US" altLang="zh-CN" sz="600" dirty="0" smtClean="0"/>
              <a:t>Science,</a:t>
            </a:r>
            <a:r>
              <a:rPr lang="zh-CN" altLang="en-US" sz="600" dirty="0" smtClean="0"/>
              <a:t>统称</a:t>
            </a:r>
            <a:r>
              <a:rPr lang="zh-CN" altLang="en-US" sz="600" dirty="0"/>
              <a:t>为“</a:t>
            </a:r>
            <a:r>
              <a:rPr lang="en-US" altLang="zh-CN" sz="600" dirty="0"/>
              <a:t>Web of Science</a:t>
            </a:r>
            <a:r>
              <a:rPr lang="zh-CN" altLang="en-US" sz="600" dirty="0"/>
              <a:t>核心合</a:t>
            </a:r>
            <a:r>
              <a:rPr lang="zh-CN" altLang="en-US" sz="600" dirty="0" smtClean="0"/>
              <a:t>集</a:t>
            </a:r>
            <a:endParaRPr lang="en-US" altLang="zh-CN" sz="600" dirty="0" smtClean="0"/>
          </a:p>
          <a:p>
            <a:r>
              <a:rPr lang="en-US" altLang="zh-CN" sz="600" dirty="0" smtClean="0"/>
              <a:t>SCI</a:t>
            </a:r>
            <a:r>
              <a:rPr lang="zh-CN" altLang="en-US" sz="600" dirty="0"/>
              <a:t>、</a:t>
            </a:r>
            <a:r>
              <a:rPr lang="en-US" altLang="zh-CN" sz="600" dirty="0"/>
              <a:t>EI</a:t>
            </a:r>
            <a:r>
              <a:rPr lang="zh-CN" altLang="en-US" sz="600" dirty="0"/>
              <a:t>、</a:t>
            </a:r>
            <a:r>
              <a:rPr lang="en-US" altLang="zh-CN" sz="600" dirty="0"/>
              <a:t>CPCI</a:t>
            </a:r>
            <a:r>
              <a:rPr lang="zh-CN" altLang="en-US" sz="600" dirty="0"/>
              <a:t>（</a:t>
            </a:r>
            <a:r>
              <a:rPr lang="en-US" altLang="zh-CN" sz="600" dirty="0"/>
              <a:t>ISTP</a:t>
            </a:r>
            <a:r>
              <a:rPr lang="zh-CN" altLang="en-US" sz="600" dirty="0"/>
              <a:t>）、</a:t>
            </a:r>
            <a:r>
              <a:rPr lang="en-US" altLang="zh-CN" sz="600" dirty="0"/>
              <a:t>ISR</a:t>
            </a:r>
            <a:r>
              <a:rPr lang="zh-CN" altLang="en-US" sz="600" dirty="0"/>
              <a:t>被称为国际四大索引机构（前面</a:t>
            </a:r>
            <a:r>
              <a:rPr lang="en-US" altLang="zh-CN" sz="600" dirty="0"/>
              <a:t>3</a:t>
            </a:r>
            <a:r>
              <a:rPr lang="zh-CN" altLang="en-US" sz="600" dirty="0"/>
              <a:t>项被称为三大）</a:t>
            </a:r>
            <a:r>
              <a:rPr lang="zh-CN" altLang="en-US" sz="600" dirty="0" smtClean="0"/>
              <a:t>。</a:t>
            </a:r>
            <a:endParaRPr lang="en-US" altLang="zh-CN" sz="600" dirty="0" smtClean="0"/>
          </a:p>
          <a:p>
            <a:r>
              <a:rPr lang="zh-CN" altLang="en-US" sz="600" dirty="0" smtClean="0"/>
              <a:t>国内：</a:t>
            </a:r>
            <a:r>
              <a:rPr lang="en-US" altLang="zh-CN" sz="600" dirty="0" smtClean="0"/>
              <a:t>CSCD (Chinese </a:t>
            </a:r>
            <a:r>
              <a:rPr lang="en-US" altLang="zh-CN" sz="600" dirty="0"/>
              <a:t>Science Citation </a:t>
            </a:r>
            <a:r>
              <a:rPr lang="en-US" altLang="zh-CN" sz="600" dirty="0" smtClean="0"/>
              <a:t>Database)</a:t>
            </a:r>
            <a:r>
              <a:rPr lang="zh-CN" altLang="en-US" sz="600" dirty="0" smtClean="0"/>
              <a:t>中国</a:t>
            </a:r>
            <a:r>
              <a:rPr lang="zh-CN" altLang="en-US" sz="600" dirty="0"/>
              <a:t>科学引文</a:t>
            </a:r>
            <a:r>
              <a:rPr lang="zh-CN" altLang="en-US" sz="600" dirty="0" smtClean="0"/>
              <a:t>数据库；</a:t>
            </a:r>
            <a:r>
              <a:rPr lang="en-US" altLang="zh-CN" sz="600" dirty="0" smtClean="0"/>
              <a:t>CSSCI(Chinese </a:t>
            </a:r>
            <a:r>
              <a:rPr lang="en-US" altLang="zh-CN" sz="600" dirty="0"/>
              <a:t>Social Sciences Citation </a:t>
            </a:r>
            <a:r>
              <a:rPr lang="en-US" altLang="zh-CN" sz="600" dirty="0" smtClean="0"/>
              <a:t>Index)</a:t>
            </a:r>
            <a:r>
              <a:rPr lang="zh-CN" altLang="en-US" sz="600" dirty="0" smtClean="0"/>
              <a:t>中文</a:t>
            </a:r>
            <a:r>
              <a:rPr lang="zh-CN" altLang="en-US" sz="600" dirty="0"/>
              <a:t>社会科学引文</a:t>
            </a:r>
            <a:r>
              <a:rPr lang="zh-CN" altLang="en-US" sz="600" dirty="0" smtClean="0"/>
              <a:t>索引</a:t>
            </a:r>
            <a:endParaRPr lang="en-US" altLang="zh-CN" sz="600" dirty="0" smtClean="0"/>
          </a:p>
          <a:p>
            <a:r>
              <a:rPr lang="zh-CN" altLang="en-US" sz="600" b="1" dirty="0" smtClean="0"/>
              <a:t>文献检索方法</a:t>
            </a:r>
            <a:r>
              <a:rPr lang="zh-CN" altLang="en-US" sz="600" dirty="0" smtClean="0"/>
              <a:t>：</a:t>
            </a:r>
            <a:r>
              <a:rPr lang="zh-CN" altLang="en-US" sz="600" dirty="0"/>
              <a:t>①</a:t>
            </a:r>
            <a:r>
              <a:rPr lang="zh-CN" altLang="en-US" sz="600" dirty="0" smtClean="0"/>
              <a:t>直接法</a:t>
            </a:r>
            <a:r>
              <a:rPr lang="zh-CN" altLang="en-US" sz="600" dirty="0"/>
              <a:t>（常规法</a:t>
            </a:r>
            <a:r>
              <a:rPr lang="zh-CN" altLang="en-US" sz="600" dirty="0" smtClean="0"/>
              <a:t>），直接</a:t>
            </a:r>
            <a:r>
              <a:rPr lang="zh-CN" altLang="en-US" sz="600" dirty="0"/>
              <a:t>利用文献检索工具或检索系统来查找</a:t>
            </a:r>
            <a:r>
              <a:rPr lang="zh-CN" altLang="en-US" sz="600" dirty="0" smtClean="0"/>
              <a:t>文献，</a:t>
            </a:r>
            <a:r>
              <a:rPr lang="zh-CN" altLang="en-US" sz="600" dirty="0"/>
              <a:t>是一种常规的科学检索方法。分为顺查法、逆查法和抽查法</a:t>
            </a:r>
            <a:r>
              <a:rPr lang="zh-CN" altLang="en-US" sz="600" dirty="0" smtClean="0"/>
              <a:t>。</a:t>
            </a:r>
            <a:r>
              <a:rPr lang="zh-CN" altLang="en-US" sz="600" dirty="0"/>
              <a:t>②</a:t>
            </a:r>
            <a:r>
              <a:rPr lang="zh-CN" altLang="en-US" sz="600" dirty="0" smtClean="0"/>
              <a:t>追溯法（引文法），</a:t>
            </a:r>
            <a:r>
              <a:rPr lang="zh-CN" altLang="en-US" sz="600" dirty="0"/>
              <a:t>是一种跟踪查找法。是利用文献</a:t>
            </a:r>
            <a:r>
              <a:rPr lang="en-US" altLang="zh-CN" sz="600" dirty="0"/>
              <a:t>(</a:t>
            </a:r>
            <a:r>
              <a:rPr lang="zh-CN" altLang="en-US" sz="600" dirty="0"/>
              <a:t>尤其是评述性论文或有关专著</a:t>
            </a:r>
            <a:r>
              <a:rPr lang="en-US" altLang="zh-CN" sz="600" dirty="0"/>
              <a:t>) </a:t>
            </a:r>
            <a:r>
              <a:rPr lang="zh-CN" altLang="en-US" sz="600" dirty="0"/>
              <a:t>后面所附的参考文献，进行逐一地追踪查找原文</a:t>
            </a:r>
            <a:r>
              <a:rPr lang="zh-CN" altLang="en-US" sz="600" dirty="0" smtClean="0"/>
              <a:t>。③循环法</a:t>
            </a:r>
            <a:r>
              <a:rPr lang="zh-CN" altLang="en-US" sz="600" dirty="0"/>
              <a:t>（综合法、交替法</a:t>
            </a:r>
            <a:r>
              <a:rPr lang="zh-CN" altLang="en-US" sz="600" dirty="0" smtClean="0"/>
              <a:t>）前</a:t>
            </a:r>
            <a:r>
              <a:rPr lang="zh-CN" altLang="en-US" sz="600" dirty="0"/>
              <a:t>两种方法的综合。利用检索工具或检索系统进行常规检索，再利用文献后所附参考文献进行追溯检索，分期分段交替使用这两种方法，直到满足要求为止</a:t>
            </a:r>
            <a:r>
              <a:rPr lang="zh-CN" altLang="en-US" sz="600" dirty="0" smtClean="0"/>
              <a:t>。较</a:t>
            </a:r>
            <a:r>
              <a:rPr lang="zh-CN" altLang="en-US" sz="600" dirty="0"/>
              <a:t>全面较准确，尤其</a:t>
            </a:r>
            <a:r>
              <a:rPr lang="zh-CN" altLang="en-US" sz="600" dirty="0" smtClean="0"/>
              <a:t>适用于过去</a:t>
            </a:r>
            <a:r>
              <a:rPr lang="zh-CN" altLang="en-US" sz="600" dirty="0"/>
              <a:t>年代内文献较少的课题</a:t>
            </a:r>
            <a:r>
              <a:rPr lang="zh-CN" altLang="en-US" sz="600" dirty="0" smtClean="0"/>
              <a:t>。</a:t>
            </a:r>
            <a:endParaRPr lang="en-US" altLang="zh-CN" sz="600" dirty="0" smtClean="0"/>
          </a:p>
          <a:p>
            <a:r>
              <a:rPr lang="zh-CN" altLang="en-US" sz="600" b="1" dirty="0" smtClean="0"/>
              <a:t>顺</a:t>
            </a:r>
            <a:r>
              <a:rPr lang="zh-CN" altLang="en-US" sz="600" b="1" dirty="0"/>
              <a:t>查</a:t>
            </a:r>
            <a:r>
              <a:rPr lang="zh-CN" altLang="en-US" sz="600" b="1" dirty="0" smtClean="0"/>
              <a:t>法</a:t>
            </a:r>
            <a:r>
              <a:rPr lang="zh-CN" altLang="en-US" sz="600" dirty="0" smtClean="0"/>
              <a:t>：按照</a:t>
            </a:r>
            <a:r>
              <a:rPr lang="zh-CN" altLang="en-US" sz="600" dirty="0"/>
              <a:t>时间顺序，由远及近地利用检索系统进行</a:t>
            </a:r>
            <a:r>
              <a:rPr lang="zh-CN" altLang="en-US" sz="600" dirty="0" smtClean="0"/>
              <a:t>文献检索。这种方法能收集</a:t>
            </a:r>
            <a:r>
              <a:rPr lang="zh-CN" altLang="en-US" sz="600" dirty="0"/>
              <a:t>到某一课题的系统文献，它适用于较大课题的文献检索</a:t>
            </a:r>
            <a:r>
              <a:rPr lang="zh-CN" altLang="en-US" sz="600" dirty="0" smtClean="0"/>
              <a:t>。例如已知某课题的起始年代，现在需要了解其发展的全过程，就可以用顺查法从最初的年代开始，逐渐向近期查找。该</a:t>
            </a:r>
            <a:r>
              <a:rPr lang="zh-CN" altLang="en-US" sz="600" dirty="0"/>
              <a:t>方法优点是漏检率低，但工作量大。</a:t>
            </a:r>
          </a:p>
          <a:p>
            <a:r>
              <a:rPr lang="zh-CN" altLang="en-US" sz="600" b="1" dirty="0" smtClean="0"/>
              <a:t>逆</a:t>
            </a:r>
            <a:r>
              <a:rPr lang="zh-CN" altLang="en-US" sz="600" b="1" dirty="0"/>
              <a:t>查</a:t>
            </a:r>
            <a:r>
              <a:rPr lang="zh-CN" altLang="en-US" sz="600" b="1" dirty="0" smtClean="0"/>
              <a:t>法</a:t>
            </a:r>
            <a:r>
              <a:rPr lang="zh-CN" altLang="en-US" sz="600" dirty="0" smtClean="0"/>
              <a:t>：由近及远</a:t>
            </a:r>
            <a:r>
              <a:rPr lang="zh-CN" altLang="en-US" sz="600" dirty="0"/>
              <a:t>，从新到旧，逆着时间的顺序利用检索工具进行文献</a:t>
            </a:r>
            <a:r>
              <a:rPr lang="zh-CN" altLang="en-US" sz="600" dirty="0" smtClean="0"/>
              <a:t>信息检索。</a:t>
            </a:r>
            <a:r>
              <a:rPr lang="zh-CN" altLang="en-US" sz="600" dirty="0"/>
              <a:t>此方法的重点是放在近期文献，只需查到基本满足需要时为止</a:t>
            </a:r>
            <a:r>
              <a:rPr lang="zh-CN" altLang="en-US" sz="600" dirty="0" smtClean="0"/>
              <a:t>。使用</a:t>
            </a:r>
            <a:r>
              <a:rPr lang="zh-CN" altLang="en-US" sz="600" dirty="0"/>
              <a:t>这种方法可以最快地获得新资料</a:t>
            </a:r>
            <a:r>
              <a:rPr lang="zh-CN" altLang="en-US" sz="600" dirty="0" smtClean="0"/>
              <a:t>，既</a:t>
            </a:r>
            <a:r>
              <a:rPr lang="zh-CN" altLang="en-US" sz="600" dirty="0"/>
              <a:t>概括了前期的成果，又反映了最新水平和动向</a:t>
            </a:r>
            <a:r>
              <a:rPr lang="zh-CN" altLang="en-US" sz="600" dirty="0" smtClean="0"/>
              <a:t>，工作量</a:t>
            </a:r>
            <a:r>
              <a:rPr lang="zh-CN" altLang="en-US" sz="600" dirty="0"/>
              <a:t>小</a:t>
            </a:r>
            <a:r>
              <a:rPr lang="zh-CN" altLang="en-US" sz="600" dirty="0" smtClean="0"/>
              <a:t>，漏检</a:t>
            </a:r>
            <a:r>
              <a:rPr lang="zh-CN" altLang="en-US" sz="600" dirty="0"/>
              <a:t>率较高，主要用于新课题立项前的调研。</a:t>
            </a:r>
          </a:p>
          <a:p>
            <a:r>
              <a:rPr lang="zh-CN" altLang="en-US" sz="600" b="1" dirty="0" smtClean="0"/>
              <a:t>抽查法</a:t>
            </a:r>
            <a:r>
              <a:rPr lang="zh-CN" altLang="en-US" sz="600" dirty="0" smtClean="0"/>
              <a:t>：针对</a:t>
            </a:r>
            <a:r>
              <a:rPr lang="zh-CN" altLang="en-US" sz="600" dirty="0"/>
              <a:t>项目</a:t>
            </a:r>
            <a:r>
              <a:rPr lang="en-US" altLang="zh-CN" sz="600" dirty="0"/>
              <a:t>/</a:t>
            </a:r>
            <a:r>
              <a:rPr lang="zh-CN" altLang="en-US" sz="600" dirty="0"/>
              <a:t>主题的特点，选择有关该项目</a:t>
            </a:r>
            <a:r>
              <a:rPr lang="en-US" altLang="zh-CN" sz="600" dirty="0"/>
              <a:t>/</a:t>
            </a:r>
            <a:r>
              <a:rPr lang="zh-CN" altLang="en-US" sz="600" dirty="0"/>
              <a:t>主题的文献信息，最可能出现或最多出现的时段，利用检索工具进行重点</a:t>
            </a:r>
            <a:r>
              <a:rPr lang="zh-CN" altLang="en-US" sz="600" dirty="0" smtClean="0"/>
              <a:t>检索。适合于</a:t>
            </a:r>
            <a:r>
              <a:rPr lang="zh-CN" altLang="en-US" sz="600" dirty="0"/>
              <a:t>检索某一领域研究高潮很</a:t>
            </a:r>
            <a:r>
              <a:rPr lang="zh-CN" altLang="en-US" sz="600" dirty="0" smtClean="0"/>
              <a:t>明显、</a:t>
            </a:r>
            <a:r>
              <a:rPr lang="zh-CN" altLang="en-US" sz="600" dirty="0"/>
              <a:t>某一学科的发展阶段很</a:t>
            </a:r>
            <a:r>
              <a:rPr lang="zh-CN" altLang="en-US" sz="600" dirty="0" smtClean="0"/>
              <a:t>清晰、</a:t>
            </a:r>
            <a:r>
              <a:rPr lang="zh-CN" altLang="en-US" sz="600" dirty="0"/>
              <a:t>某一事物出现频率在某一阶段很突出的课题。该</a:t>
            </a:r>
            <a:r>
              <a:rPr lang="zh-CN" altLang="en-US" sz="600" dirty="0" smtClean="0"/>
              <a:t>方法花</a:t>
            </a:r>
            <a:r>
              <a:rPr lang="zh-CN" altLang="en-US" sz="600" dirty="0"/>
              <a:t>时</a:t>
            </a:r>
            <a:r>
              <a:rPr lang="zh-CN" altLang="en-US" sz="600" dirty="0" smtClean="0"/>
              <a:t>较少、能</a:t>
            </a:r>
            <a:r>
              <a:rPr lang="zh-CN" altLang="en-US" sz="600" dirty="0"/>
              <a:t>查到较多有效</a:t>
            </a:r>
            <a:r>
              <a:rPr lang="zh-CN" altLang="en-US" sz="600" dirty="0" smtClean="0"/>
              <a:t>文献。</a:t>
            </a:r>
            <a:endParaRPr lang="zh-CN" altLang="en-US" sz="600" dirty="0"/>
          </a:p>
          <a:p>
            <a:r>
              <a:rPr lang="zh-CN" altLang="en-US" sz="600" b="1" dirty="0"/>
              <a:t>追溯</a:t>
            </a:r>
            <a:r>
              <a:rPr lang="zh-CN" altLang="en-US" sz="600" b="1" dirty="0" smtClean="0"/>
              <a:t>法</a:t>
            </a:r>
            <a:r>
              <a:rPr lang="zh-CN" altLang="en-US" sz="600" dirty="0" smtClean="0"/>
              <a:t>：从</a:t>
            </a:r>
            <a:r>
              <a:rPr lang="zh-CN" altLang="en-US" sz="600" dirty="0"/>
              <a:t>已有的文献后所列的参考文献入手，逐一追查原文，从这些新查到的原文后面所附的参考文献再逐一追查、不断扩检的检索方法。</a:t>
            </a:r>
          </a:p>
          <a:p>
            <a:r>
              <a:rPr lang="zh-CN" altLang="en-US" sz="600" b="1" dirty="0" smtClean="0"/>
              <a:t>循环法</a:t>
            </a:r>
            <a:r>
              <a:rPr lang="zh-CN" altLang="en-US" sz="600" dirty="0" smtClean="0"/>
              <a:t>（综合法</a:t>
            </a:r>
            <a:r>
              <a:rPr lang="zh-CN" altLang="en-US" sz="600" dirty="0"/>
              <a:t>、</a:t>
            </a:r>
            <a:r>
              <a:rPr lang="zh-CN" altLang="en-US" sz="600" dirty="0" smtClean="0"/>
              <a:t>分段法）：直接法</a:t>
            </a:r>
            <a:r>
              <a:rPr lang="zh-CN" altLang="en-US" sz="600" dirty="0"/>
              <a:t>和追溯法的结合</a:t>
            </a:r>
            <a:r>
              <a:rPr lang="zh-CN" altLang="en-US" sz="600" dirty="0" smtClean="0"/>
              <a:t>。即</a:t>
            </a:r>
            <a:r>
              <a:rPr lang="zh-CN" altLang="en-US" sz="600" dirty="0"/>
              <a:t>先利用检索</a:t>
            </a:r>
            <a:r>
              <a:rPr lang="zh-CN" altLang="en-US" sz="600" dirty="0" smtClean="0"/>
              <a:t>工具（</a:t>
            </a:r>
            <a:r>
              <a:rPr lang="zh-CN" altLang="en-US" sz="600" dirty="0"/>
              <a:t>系统）检索到一批文献，再以这些文献末尾的参考目标为线索逆向查找，如此循环进行，直到满足要求时为止</a:t>
            </a:r>
            <a:r>
              <a:rPr lang="zh-CN" altLang="en-US" sz="600" dirty="0" smtClean="0"/>
              <a:t>。该方法保证</a:t>
            </a:r>
            <a:r>
              <a:rPr lang="zh-CN" altLang="en-US" sz="600" dirty="0"/>
              <a:t>所查的资料较全面、系统</a:t>
            </a:r>
            <a:r>
              <a:rPr lang="zh-CN" altLang="en-US" sz="600" dirty="0" smtClean="0"/>
              <a:t>。</a:t>
            </a:r>
            <a:endParaRPr lang="en-US" altLang="zh-CN" sz="600" dirty="0" smtClean="0"/>
          </a:p>
          <a:p>
            <a:r>
              <a:rPr lang="zh-CN" altLang="en-US" sz="600" b="1" dirty="0" smtClean="0"/>
              <a:t>检索式</a:t>
            </a:r>
            <a:r>
              <a:rPr lang="zh-CN" altLang="en-US" sz="600" dirty="0" smtClean="0"/>
              <a:t>：</a:t>
            </a:r>
            <a:r>
              <a:rPr lang="en-US" altLang="zh-CN" sz="600" dirty="0" smtClean="0"/>
              <a:t>AND,OR,NOT</a:t>
            </a:r>
            <a:r>
              <a:rPr lang="zh-CN" altLang="en-US" sz="600" dirty="0"/>
              <a:t>；邻近</a:t>
            </a:r>
            <a:r>
              <a:rPr lang="zh-CN" altLang="en-US" sz="600" dirty="0" smtClean="0"/>
              <a:t>运算符：逻辑与的</a:t>
            </a:r>
            <a:r>
              <a:rPr lang="zh-CN" altLang="en-US" sz="600" dirty="0"/>
              <a:t>特殊形式</a:t>
            </a:r>
            <a:r>
              <a:rPr lang="zh-CN" altLang="en-US" sz="600" dirty="0" smtClean="0"/>
              <a:t>，邻近</a:t>
            </a:r>
            <a:r>
              <a:rPr lang="zh-CN" altLang="en-US" sz="600" dirty="0"/>
              <a:t>算符连接的两个检索词必须同时出现</a:t>
            </a:r>
            <a:r>
              <a:rPr lang="zh-CN" altLang="en-US" sz="600" dirty="0" smtClean="0"/>
              <a:t>在一</a:t>
            </a:r>
            <a:r>
              <a:rPr lang="zh-CN" altLang="en-US" sz="600" dirty="0"/>
              <a:t>篇文献中，且两词的邻近关系必须符合</a:t>
            </a:r>
            <a:r>
              <a:rPr lang="zh-CN" altLang="en-US" sz="600" dirty="0" smtClean="0"/>
              <a:t>一定条件。</a:t>
            </a:r>
            <a:endParaRPr lang="en-US" altLang="zh-CN" sz="600" dirty="0" smtClean="0"/>
          </a:p>
          <a:p>
            <a:r>
              <a:rPr lang="en-US" altLang="zh-CN" sz="600" dirty="0" smtClean="0"/>
              <a:t>W,W/N,WITH,WITHIN</a:t>
            </a:r>
            <a:r>
              <a:rPr lang="zh-CN" altLang="en-US" sz="600" dirty="0" smtClean="0"/>
              <a:t>：两词相邻，按输入顺序排列</a:t>
            </a:r>
            <a:endParaRPr lang="en-US" altLang="zh-CN" sz="600" dirty="0" smtClean="0"/>
          </a:p>
          <a:p>
            <a:r>
              <a:rPr lang="en-US" altLang="zh-CN" sz="600" dirty="0" smtClean="0"/>
              <a:t>N,NEAR,ADJ</a:t>
            </a:r>
            <a:r>
              <a:rPr lang="zh-CN" altLang="en-US" sz="600" dirty="0" smtClean="0"/>
              <a:t>：两词相邻，顺序可颠倒</a:t>
            </a:r>
            <a:endParaRPr lang="en-US" altLang="zh-CN" sz="600" dirty="0" smtClean="0"/>
          </a:p>
          <a:p>
            <a:r>
              <a:rPr lang="en-US" altLang="zh-CN" sz="600" dirty="0" err="1" smtClean="0"/>
              <a:t>nW</a:t>
            </a:r>
            <a:r>
              <a:rPr lang="en-US" altLang="zh-CN" sz="600" dirty="0" smtClean="0"/>
              <a:t>/</a:t>
            </a:r>
            <a:r>
              <a:rPr lang="en-US" altLang="zh-CN" sz="600" dirty="0" err="1" smtClean="0"/>
              <a:t>nN</a:t>
            </a:r>
            <a:r>
              <a:rPr lang="zh-CN" altLang="en-US" sz="600" dirty="0" smtClean="0"/>
              <a:t>：同上，两词之间允许插入</a:t>
            </a:r>
            <a:r>
              <a:rPr lang="en-US" altLang="zh-CN" sz="600" dirty="0" smtClean="0"/>
              <a:t>n</a:t>
            </a:r>
            <a:r>
              <a:rPr lang="zh-CN" altLang="en-US" sz="600" dirty="0" smtClean="0"/>
              <a:t>个词；     </a:t>
            </a:r>
            <a:r>
              <a:rPr lang="en-US" altLang="zh-CN" sz="600" dirty="0" smtClean="0"/>
              <a:t>F</a:t>
            </a:r>
            <a:r>
              <a:rPr lang="zh-CN" altLang="en-US" sz="600" dirty="0" smtClean="0"/>
              <a:t>：两词同在一个标引字段</a:t>
            </a:r>
            <a:endParaRPr lang="en-US" altLang="zh-CN" sz="600" dirty="0" smtClean="0"/>
          </a:p>
          <a:p>
            <a:r>
              <a:rPr lang="zh-CN" altLang="en-US" sz="600" b="1" dirty="0"/>
              <a:t>截词</a:t>
            </a:r>
            <a:r>
              <a:rPr lang="zh-CN" altLang="en-US" sz="600" b="1" dirty="0" smtClean="0"/>
              <a:t>检索</a:t>
            </a:r>
            <a:r>
              <a:rPr lang="zh-CN" altLang="en-US" sz="600" dirty="0" smtClean="0"/>
              <a:t>：截</a:t>
            </a:r>
            <a:r>
              <a:rPr lang="zh-CN" altLang="en-US" sz="600" dirty="0"/>
              <a:t>词符“</a:t>
            </a:r>
            <a:r>
              <a:rPr lang="en-US" altLang="zh-CN" sz="600" dirty="0" smtClean="0"/>
              <a:t>?”</a:t>
            </a:r>
            <a:r>
              <a:rPr lang="zh-CN" altLang="en-US" sz="600" dirty="0" smtClean="0"/>
              <a:t>，将</a:t>
            </a:r>
            <a:r>
              <a:rPr lang="zh-CN" altLang="en-US" sz="600" dirty="0"/>
              <a:t>检索词在适当的地方截断，截词检索是用截断词的一个局部进行的检索，凡是满足这个截词所有字符</a:t>
            </a:r>
            <a:r>
              <a:rPr lang="en-US" altLang="zh-CN" sz="600" dirty="0"/>
              <a:t>(</a:t>
            </a:r>
            <a:r>
              <a:rPr lang="zh-CN" altLang="en-US" sz="600" dirty="0"/>
              <a:t>串</a:t>
            </a:r>
            <a:r>
              <a:rPr lang="en-US" altLang="zh-CN" sz="600" dirty="0"/>
              <a:t>)</a:t>
            </a:r>
            <a:r>
              <a:rPr lang="zh-CN" altLang="en-US" sz="600" dirty="0"/>
              <a:t>的记录，系统都为命中。 </a:t>
            </a:r>
          </a:p>
          <a:p>
            <a:r>
              <a:rPr lang="zh-CN" altLang="en-US" sz="600" dirty="0" smtClean="0"/>
              <a:t>截</a:t>
            </a:r>
            <a:r>
              <a:rPr lang="zh-CN" altLang="en-US" sz="600" dirty="0"/>
              <a:t>词</a:t>
            </a:r>
            <a:r>
              <a:rPr lang="zh-CN" altLang="en-US" sz="600" dirty="0" smtClean="0"/>
              <a:t>位置</a:t>
            </a:r>
            <a:r>
              <a:rPr lang="en-US" altLang="zh-CN" sz="600" dirty="0" smtClean="0"/>
              <a:t>(</a:t>
            </a:r>
            <a:r>
              <a:rPr lang="zh-CN" altLang="en-US" sz="600" dirty="0" smtClean="0"/>
              <a:t>前</a:t>
            </a:r>
            <a:r>
              <a:rPr lang="zh-CN" altLang="en-US" sz="600" dirty="0"/>
              <a:t>截断、后截断、中</a:t>
            </a:r>
            <a:r>
              <a:rPr lang="zh-CN" altLang="en-US" sz="600" dirty="0" smtClean="0"/>
              <a:t>截断</a:t>
            </a:r>
            <a:r>
              <a:rPr lang="en-US" altLang="zh-CN" sz="600" dirty="0" smtClean="0"/>
              <a:t>); </a:t>
            </a:r>
            <a:r>
              <a:rPr lang="zh-CN" altLang="en-US" sz="600" dirty="0" smtClean="0"/>
              <a:t>截</a:t>
            </a:r>
            <a:r>
              <a:rPr lang="zh-CN" altLang="en-US" sz="600" dirty="0"/>
              <a:t>词的字符</a:t>
            </a:r>
            <a:r>
              <a:rPr lang="zh-CN" altLang="en-US" sz="600" dirty="0" smtClean="0"/>
              <a:t>数量</a:t>
            </a:r>
            <a:r>
              <a:rPr lang="en-US" altLang="zh-CN" sz="600" dirty="0" smtClean="0"/>
              <a:t>(</a:t>
            </a:r>
            <a:r>
              <a:rPr lang="zh-CN" altLang="en-US" sz="600" dirty="0" smtClean="0"/>
              <a:t>非</a:t>
            </a:r>
            <a:r>
              <a:rPr lang="zh-CN" altLang="en-US" sz="600" dirty="0"/>
              <a:t>限制截断、限制</a:t>
            </a:r>
            <a:r>
              <a:rPr lang="zh-CN" altLang="en-US" sz="600" dirty="0" smtClean="0"/>
              <a:t>截断</a:t>
            </a:r>
            <a:r>
              <a:rPr lang="en-US" altLang="zh-CN" sz="600" dirty="0" smtClean="0"/>
              <a:t>)</a:t>
            </a:r>
          </a:p>
          <a:p>
            <a:r>
              <a:rPr lang="zh-CN" altLang="en-US" sz="600" dirty="0"/>
              <a:t>非限制截断</a:t>
            </a:r>
            <a:r>
              <a:rPr lang="zh-CN" altLang="en-US" sz="600" dirty="0" smtClean="0"/>
              <a:t>：检索</a:t>
            </a:r>
            <a:r>
              <a:rPr lang="zh-CN" altLang="en-US" sz="600" dirty="0"/>
              <a:t>词词干</a:t>
            </a:r>
            <a:r>
              <a:rPr lang="zh-CN" altLang="en-US" sz="600" dirty="0" smtClean="0"/>
              <a:t>后加</a:t>
            </a:r>
            <a:r>
              <a:rPr lang="zh-CN" altLang="en-US" sz="600" dirty="0"/>
              <a:t>一个截词符，表示不限制词尾可变化的字符位数</a:t>
            </a:r>
            <a:r>
              <a:rPr lang="zh-CN" altLang="en-US" sz="600" dirty="0" smtClean="0"/>
              <a:t>，查找</a:t>
            </a:r>
            <a:r>
              <a:rPr lang="zh-CN" altLang="en-US" sz="600" dirty="0"/>
              <a:t>词干相同的所有词</a:t>
            </a:r>
            <a:r>
              <a:rPr lang="zh-CN" altLang="en-US" sz="600" dirty="0" smtClean="0"/>
              <a:t>。</a:t>
            </a:r>
            <a:r>
              <a:rPr lang="en-US" altLang="zh-CN" sz="600" dirty="0" smtClean="0"/>
              <a:t>(</a:t>
            </a:r>
            <a:r>
              <a:rPr lang="en-US" altLang="zh-CN" sz="600" dirty="0" err="1" smtClean="0"/>
              <a:t>comput</a:t>
            </a:r>
            <a:r>
              <a:rPr lang="en-US" altLang="zh-CN" sz="600" dirty="0" smtClean="0"/>
              <a:t>-&gt;compute, computed, computes)</a:t>
            </a:r>
            <a:r>
              <a:rPr lang="zh-CN" altLang="en-US" sz="600" dirty="0" smtClean="0"/>
              <a:t> </a:t>
            </a:r>
            <a:endParaRPr lang="en-US" altLang="zh-CN" sz="600" dirty="0" smtClean="0"/>
          </a:p>
          <a:p>
            <a:r>
              <a:rPr lang="zh-CN" altLang="en-US" sz="600" dirty="0" smtClean="0"/>
              <a:t>限制截断：在</a:t>
            </a:r>
            <a:r>
              <a:rPr lang="zh-CN" altLang="en-US" sz="600" dirty="0"/>
              <a:t>检索词词干后面加若干个截词符，表示限制可变化的字符数。</a:t>
            </a:r>
          </a:p>
          <a:p>
            <a:r>
              <a:rPr lang="en-US" altLang="zh-CN" sz="600" dirty="0" smtClean="0"/>
              <a:t>(fib</a:t>
            </a:r>
            <a:r>
              <a:rPr lang="en-US" altLang="zh-CN" sz="600" dirty="0"/>
              <a:t>?? </a:t>
            </a:r>
            <a:r>
              <a:rPr lang="en-US" altLang="zh-CN" sz="600" dirty="0" smtClean="0"/>
              <a:t>-&gt;</a:t>
            </a:r>
            <a:r>
              <a:rPr lang="en-US" altLang="zh-CN" sz="600" dirty="0" err="1" smtClean="0"/>
              <a:t>fiber,fibre</a:t>
            </a:r>
            <a:r>
              <a:rPr lang="en-US" altLang="zh-CN" sz="600" dirty="0" smtClean="0"/>
              <a:t>;   colo?1r -&gt;</a:t>
            </a:r>
            <a:r>
              <a:rPr lang="en-US" altLang="zh-CN" sz="600" dirty="0" err="1" smtClean="0"/>
              <a:t>colour</a:t>
            </a:r>
            <a:r>
              <a:rPr lang="en-US" altLang="zh-CN" sz="600" dirty="0" smtClean="0"/>
              <a:t>)</a:t>
            </a:r>
          </a:p>
          <a:p>
            <a:r>
              <a:rPr lang="en-US" altLang="zh-CN" sz="600" b="1" dirty="0" smtClean="0"/>
              <a:t>Web of Science(WOS)</a:t>
            </a:r>
            <a:r>
              <a:rPr lang="zh-CN" altLang="en-US" sz="600" dirty="0" smtClean="0"/>
              <a:t>核心合集：</a:t>
            </a:r>
            <a:r>
              <a:rPr lang="en-US" altLang="zh-CN" sz="600" dirty="0" smtClean="0"/>
              <a:t>SCI-EXPANDED, SSCI, CPCI, CPCI-SSH</a:t>
            </a:r>
          </a:p>
          <a:p>
            <a:r>
              <a:rPr lang="zh-CN" altLang="en-US" sz="600" dirty="0"/>
              <a:t>严格筛选，注重</a:t>
            </a:r>
            <a:r>
              <a:rPr lang="zh-CN" altLang="en-US" sz="600" dirty="0" smtClean="0"/>
              <a:t>质量；时间</a:t>
            </a:r>
            <a:r>
              <a:rPr lang="zh-CN" altLang="en-US" sz="600" dirty="0"/>
              <a:t>跨度大，文献信息丰富（深度</a:t>
            </a:r>
            <a:r>
              <a:rPr lang="zh-CN" altLang="en-US" sz="600" dirty="0" smtClean="0"/>
              <a:t>）学科</a:t>
            </a:r>
            <a:r>
              <a:rPr lang="zh-CN" altLang="en-US" sz="600" dirty="0"/>
              <a:t>覆盖范围广，且具有代表性（广度</a:t>
            </a:r>
            <a:r>
              <a:rPr lang="zh-CN" altLang="en-US" sz="600" dirty="0" smtClean="0"/>
              <a:t>）；文献检索</a:t>
            </a:r>
            <a:r>
              <a:rPr lang="zh-CN" altLang="en-US" sz="600" dirty="0"/>
              <a:t>、分析、管理、使用一体融合（方便</a:t>
            </a:r>
            <a:r>
              <a:rPr lang="zh-CN" altLang="en-US" sz="600" dirty="0" smtClean="0"/>
              <a:t>）</a:t>
            </a:r>
            <a:endParaRPr lang="en-US" altLang="zh-CN" sz="600" dirty="0" smtClean="0"/>
          </a:p>
          <a:p>
            <a:r>
              <a:rPr lang="zh-CN" altLang="en-US" sz="600" dirty="0" smtClean="0"/>
              <a:t>分析工具：</a:t>
            </a:r>
            <a:r>
              <a:rPr lang="en-US" altLang="zh-CN" sz="600" dirty="0" err="1" smtClean="0"/>
              <a:t>InCites,Journal</a:t>
            </a:r>
            <a:r>
              <a:rPr lang="en-US" altLang="zh-CN" sz="600" dirty="0" smtClean="0"/>
              <a:t> Citation Reports, Essential Science Indicators</a:t>
            </a:r>
          </a:p>
          <a:p>
            <a:r>
              <a:rPr lang="zh-CN" altLang="en-US" sz="600" dirty="0" smtClean="0"/>
              <a:t>个人文献管理工具：</a:t>
            </a:r>
            <a:r>
              <a:rPr lang="en-US" altLang="zh-CN" sz="600" dirty="0" smtClean="0"/>
              <a:t>EndNote, </a:t>
            </a:r>
            <a:r>
              <a:rPr lang="en-US" altLang="zh-CN" sz="600" dirty="0" err="1" smtClean="0"/>
              <a:t>Mendeley</a:t>
            </a:r>
            <a:r>
              <a:rPr lang="en-US" altLang="zh-CN" sz="600" dirty="0" smtClean="0"/>
              <a:t>, </a:t>
            </a:r>
            <a:r>
              <a:rPr lang="en-US" altLang="zh-CN" sz="600" dirty="0" err="1" smtClean="0"/>
              <a:t>Bibtex</a:t>
            </a:r>
            <a:endParaRPr lang="en-US" altLang="zh-CN" sz="600" dirty="0" smtClean="0"/>
          </a:p>
          <a:p>
            <a:r>
              <a:rPr lang="zh-CN" altLang="en-US" sz="600" b="1" dirty="0" smtClean="0"/>
              <a:t>文献阅读</a:t>
            </a:r>
            <a:r>
              <a:rPr lang="zh-CN" altLang="en-US" sz="600" dirty="0" smtClean="0"/>
              <a:t>：文章</a:t>
            </a:r>
            <a:r>
              <a:rPr lang="zh-CN" altLang="en-US" sz="600" dirty="0"/>
              <a:t>是科学界最普及的交流方式和展示</a:t>
            </a:r>
            <a:r>
              <a:rPr lang="zh-CN" altLang="en-US" sz="600" dirty="0" smtClean="0"/>
              <a:t>平台①知道</a:t>
            </a:r>
            <a:r>
              <a:rPr lang="zh-CN" altLang="en-US" sz="600" dirty="0"/>
              <a:t>该研究领域的研究进展与发展</a:t>
            </a:r>
            <a:r>
              <a:rPr lang="zh-CN" altLang="en-US" sz="600" dirty="0" smtClean="0"/>
              <a:t>趋势；②找到</a:t>
            </a:r>
            <a:r>
              <a:rPr lang="zh-CN" altLang="en-US" sz="600" dirty="0"/>
              <a:t>感兴趣的</a:t>
            </a:r>
            <a:r>
              <a:rPr lang="zh-CN" altLang="en-US" sz="600" dirty="0" smtClean="0"/>
              <a:t>题目；③避免</a:t>
            </a:r>
            <a:r>
              <a:rPr lang="zh-CN" altLang="en-US" sz="600" dirty="0"/>
              <a:t>重复</a:t>
            </a:r>
            <a:r>
              <a:rPr lang="zh-CN" altLang="en-US" sz="600" dirty="0" smtClean="0"/>
              <a:t>劳动。</a:t>
            </a:r>
            <a:endParaRPr lang="en-US" altLang="zh-CN" sz="600" dirty="0" smtClean="0"/>
          </a:p>
          <a:p>
            <a:r>
              <a:rPr lang="zh-CN" altLang="en-US" sz="600" b="1" dirty="0" smtClean="0"/>
              <a:t>阅读内容</a:t>
            </a:r>
            <a:r>
              <a:rPr lang="zh-CN" altLang="en-US" sz="600" dirty="0" smtClean="0"/>
              <a:t>：①课题</a:t>
            </a:r>
            <a:r>
              <a:rPr lang="zh-CN" altLang="en-US" sz="600" dirty="0"/>
              <a:t>未定</a:t>
            </a:r>
            <a:r>
              <a:rPr lang="zh-CN" altLang="en-US" sz="600" dirty="0" smtClean="0"/>
              <a:t>时，确定大致</a:t>
            </a:r>
            <a:r>
              <a:rPr lang="zh-CN" altLang="en-US" sz="600" dirty="0"/>
              <a:t>的研究范围，粗、泛、大，注意综述文献，理出几个大的方向。从研究方向、领域、课题入手，发现小枝节，步步深入</a:t>
            </a:r>
            <a:r>
              <a:rPr lang="zh-CN" altLang="en-US" sz="600" dirty="0" smtClean="0"/>
              <a:t>。在</a:t>
            </a:r>
            <a:r>
              <a:rPr lang="zh-CN" altLang="en-US" sz="600" dirty="0"/>
              <a:t>初期广泛阅读的基础上，发现疑点、热点，学习别人是怎么发现</a:t>
            </a:r>
            <a:r>
              <a:rPr lang="zh-CN" altLang="en-US" sz="600" dirty="0" smtClean="0"/>
              <a:t>问题，</a:t>
            </a:r>
            <a:r>
              <a:rPr lang="zh-CN" altLang="en-US" sz="600" dirty="0"/>
              <a:t>对某一问题的共同看法和分歧</a:t>
            </a:r>
            <a:r>
              <a:rPr lang="zh-CN" altLang="en-US" sz="600" dirty="0" smtClean="0"/>
              <a:t>。由</a:t>
            </a:r>
            <a:r>
              <a:rPr lang="zh-CN" altLang="en-US" sz="600" dirty="0"/>
              <a:t>一个小枝节扩展开去，根据自己的兴趣，选择合适的切入点，确定课题</a:t>
            </a:r>
            <a:r>
              <a:rPr lang="zh-CN" altLang="en-US" sz="600" dirty="0" smtClean="0"/>
              <a:t>。（具有</a:t>
            </a:r>
            <a:r>
              <a:rPr lang="zh-CN" altLang="en-US" sz="600" dirty="0"/>
              <a:t>重要价值的</a:t>
            </a:r>
            <a:r>
              <a:rPr lang="zh-CN" altLang="en-US" sz="600" dirty="0" smtClean="0"/>
              <a:t>综述）</a:t>
            </a:r>
            <a:endParaRPr lang="zh-CN" altLang="en-US" sz="600" dirty="0"/>
          </a:p>
          <a:p>
            <a:r>
              <a:rPr lang="zh-CN" altLang="en-US" sz="600" dirty="0" smtClean="0"/>
              <a:t>②课题</a:t>
            </a:r>
            <a:r>
              <a:rPr lang="zh-CN" altLang="en-US" sz="600" dirty="0"/>
              <a:t>确定</a:t>
            </a:r>
            <a:r>
              <a:rPr lang="zh-CN" altLang="en-US" sz="600" dirty="0" smtClean="0"/>
              <a:t>时，由</a:t>
            </a:r>
            <a:r>
              <a:rPr lang="zh-CN" altLang="en-US" sz="600" dirty="0"/>
              <a:t>面</a:t>
            </a:r>
            <a:r>
              <a:rPr lang="zh-CN" altLang="en-US" sz="600" dirty="0" smtClean="0"/>
              <a:t>到点，关注</a:t>
            </a:r>
            <a:r>
              <a:rPr lang="zh-CN" altLang="en-US" sz="600" dirty="0"/>
              <a:t>重点作者、重点机构，查专题，逐步扩展自己的学术视野，构建个人对该问题的学术思想和看法</a:t>
            </a:r>
            <a:r>
              <a:rPr lang="zh-CN" altLang="en-US" sz="600" dirty="0" smtClean="0"/>
              <a:t>。由</a:t>
            </a:r>
            <a:r>
              <a:rPr lang="zh-CN" altLang="en-US" sz="600" dirty="0"/>
              <a:t>杂到</a:t>
            </a:r>
            <a:r>
              <a:rPr lang="zh-CN" altLang="en-US" sz="600" dirty="0" smtClean="0"/>
              <a:t>精，对</a:t>
            </a:r>
            <a:r>
              <a:rPr lang="zh-CN" altLang="en-US" sz="600" dirty="0"/>
              <a:t>课题方向形成</a:t>
            </a:r>
            <a:r>
              <a:rPr lang="zh-CN" altLang="en-US" sz="600" dirty="0" smtClean="0"/>
              <a:t>个人文献</a:t>
            </a:r>
            <a:r>
              <a:rPr lang="zh-CN" altLang="en-US" sz="600" dirty="0"/>
              <a:t>重要性判断，仔细阅读精选的文献，向专深发展</a:t>
            </a:r>
            <a:r>
              <a:rPr lang="zh-CN" altLang="en-US" sz="600" dirty="0" smtClean="0"/>
              <a:t>。追溯</a:t>
            </a:r>
            <a:r>
              <a:rPr lang="en-US" altLang="zh-CN" sz="600" dirty="0" smtClean="0"/>
              <a:t>idea</a:t>
            </a:r>
            <a:r>
              <a:rPr lang="zh-CN" altLang="en-US" sz="600" dirty="0" smtClean="0"/>
              <a:t>脉络，阅读精选参考</a:t>
            </a:r>
            <a:r>
              <a:rPr lang="zh-CN" altLang="en-US" sz="600" dirty="0"/>
              <a:t>文献，</a:t>
            </a:r>
            <a:r>
              <a:rPr lang="zh-CN" altLang="en-US" sz="600" dirty="0" smtClean="0"/>
              <a:t>可以更好理解</a:t>
            </a:r>
            <a:r>
              <a:rPr lang="zh-CN" altLang="en-US" sz="600" dirty="0"/>
              <a:t>论文，查找到更多有价值的资料。</a:t>
            </a:r>
          </a:p>
          <a:p>
            <a:r>
              <a:rPr lang="zh-CN" altLang="en-US" sz="600" dirty="0" smtClean="0"/>
              <a:t>③论文</a:t>
            </a:r>
            <a:r>
              <a:rPr lang="zh-CN" altLang="en-US" sz="600" dirty="0"/>
              <a:t>撰写</a:t>
            </a:r>
            <a:r>
              <a:rPr lang="zh-CN" altLang="en-US" sz="600" dirty="0" smtClean="0"/>
              <a:t>中，“超级全”：有</a:t>
            </a:r>
            <a:r>
              <a:rPr lang="zh-CN" altLang="en-US" sz="600" dirty="0"/>
              <a:t>目的的扩展</a:t>
            </a:r>
            <a:r>
              <a:rPr lang="zh-CN" altLang="en-US" sz="600" dirty="0" smtClean="0"/>
              <a:t>文献，如</a:t>
            </a:r>
            <a:r>
              <a:rPr lang="zh-CN" altLang="en-US" sz="600" dirty="0"/>
              <a:t>研究“</a:t>
            </a:r>
            <a:r>
              <a:rPr lang="en-US" altLang="zh-CN" sz="600" dirty="0"/>
              <a:t>A</a:t>
            </a:r>
            <a:r>
              <a:rPr lang="zh-CN" altLang="en-US" sz="600" dirty="0"/>
              <a:t>对象</a:t>
            </a:r>
            <a:r>
              <a:rPr lang="en-US" altLang="zh-CN" sz="600" dirty="0"/>
              <a:t>+B</a:t>
            </a:r>
            <a:r>
              <a:rPr lang="zh-CN" altLang="en-US" sz="600" dirty="0"/>
              <a:t>方法</a:t>
            </a:r>
            <a:r>
              <a:rPr lang="zh-CN" altLang="en-US" sz="600" dirty="0" smtClean="0"/>
              <a:t>”可</a:t>
            </a:r>
            <a:r>
              <a:rPr lang="zh-CN" altLang="en-US" sz="600" dirty="0"/>
              <a:t>扩展到不加限制的“</a:t>
            </a:r>
            <a:r>
              <a:rPr lang="en-US" altLang="zh-CN" sz="600" dirty="0"/>
              <a:t>B</a:t>
            </a:r>
            <a:r>
              <a:rPr lang="zh-CN" altLang="en-US" sz="600" dirty="0"/>
              <a:t>方法”</a:t>
            </a:r>
            <a:r>
              <a:rPr lang="en-US" altLang="zh-CN" sz="600" dirty="0"/>
              <a:t>(</a:t>
            </a:r>
            <a:r>
              <a:rPr lang="zh-CN" altLang="en-US" sz="600" dirty="0"/>
              <a:t>通用性</a:t>
            </a:r>
            <a:r>
              <a:rPr lang="en-US" altLang="zh-CN" sz="600" dirty="0" smtClean="0"/>
              <a:t>)</a:t>
            </a:r>
            <a:r>
              <a:rPr lang="zh-CN" altLang="en-US" sz="600" dirty="0" smtClean="0"/>
              <a:t>；关注</a:t>
            </a:r>
            <a:r>
              <a:rPr lang="zh-CN" altLang="en-US" sz="600" dirty="0"/>
              <a:t>该领域最新状态</a:t>
            </a:r>
            <a:r>
              <a:rPr lang="zh-CN" altLang="en-US" sz="600" dirty="0" smtClean="0"/>
              <a:t>，阅读</a:t>
            </a:r>
            <a:r>
              <a:rPr lang="zh-CN" altLang="en-US" sz="600" dirty="0"/>
              <a:t>并补充最新文献。</a:t>
            </a:r>
          </a:p>
          <a:p>
            <a:r>
              <a:rPr lang="zh-CN" altLang="en-US" sz="600" b="1" dirty="0" smtClean="0"/>
              <a:t>影响</a:t>
            </a:r>
            <a:r>
              <a:rPr lang="zh-CN" altLang="en-US" sz="600" b="1" dirty="0"/>
              <a:t>因子</a:t>
            </a:r>
            <a:r>
              <a:rPr lang="zh-CN" altLang="en-US" sz="600" dirty="0"/>
              <a:t>（</a:t>
            </a:r>
            <a:r>
              <a:rPr lang="en-US" altLang="zh-CN" sz="600" dirty="0"/>
              <a:t>Impact Factor</a:t>
            </a:r>
            <a:r>
              <a:rPr lang="zh-CN" altLang="en-US" sz="600" dirty="0"/>
              <a:t>，</a:t>
            </a:r>
            <a:r>
              <a:rPr lang="en-US" altLang="zh-CN" sz="600" dirty="0"/>
              <a:t>IF</a:t>
            </a:r>
            <a:r>
              <a:rPr lang="zh-CN" altLang="en-US" sz="600" dirty="0" smtClean="0"/>
              <a:t>）：美国</a:t>
            </a:r>
            <a:r>
              <a:rPr lang="en-US" altLang="zh-CN" sz="600" dirty="0"/>
              <a:t>ISI</a:t>
            </a:r>
            <a:r>
              <a:rPr lang="zh-CN" altLang="en-US" sz="600" dirty="0"/>
              <a:t>（科学信息研究所）的</a:t>
            </a:r>
            <a:r>
              <a:rPr lang="en-US" altLang="zh-CN" sz="600" dirty="0"/>
              <a:t>JCR</a:t>
            </a:r>
            <a:r>
              <a:rPr lang="zh-CN" altLang="en-US" sz="600" dirty="0"/>
              <a:t>（期刊引证报告）</a:t>
            </a:r>
            <a:r>
              <a:rPr lang="zh-CN" altLang="en-US" sz="600" dirty="0" smtClean="0"/>
              <a:t>中数据</a:t>
            </a:r>
            <a:r>
              <a:rPr lang="zh-CN" altLang="en-US" sz="600" dirty="0"/>
              <a:t>。 即某期刊前两年发表的论文在统计当年的被引用总次数除以该期刊在前两年内发表的论文总数。这是一个国际上通行的期刊评价指标</a:t>
            </a:r>
            <a:r>
              <a:rPr lang="zh-CN" altLang="en-US" sz="600" dirty="0" smtClean="0"/>
              <a:t>。</a:t>
            </a:r>
            <a:endParaRPr lang="en-US" altLang="zh-CN" sz="600" dirty="0" smtClean="0"/>
          </a:p>
          <a:p>
            <a:r>
              <a:rPr lang="zh-CN" altLang="en-US" sz="600" b="1" dirty="0"/>
              <a:t>文献阅读</a:t>
            </a:r>
            <a:r>
              <a:rPr lang="zh-CN" altLang="en-US" sz="600" b="1" dirty="0" smtClean="0"/>
              <a:t>顺序</a:t>
            </a:r>
            <a:r>
              <a:rPr lang="zh-CN" altLang="en-US" sz="600" dirty="0" smtClean="0"/>
              <a:t>：①摘要略读：是否</a:t>
            </a:r>
            <a:r>
              <a:rPr lang="zh-CN" altLang="en-US" sz="600" dirty="0"/>
              <a:t>跟自己的研究方向</a:t>
            </a:r>
            <a:r>
              <a:rPr lang="zh-CN" altLang="en-US" sz="600" dirty="0" smtClean="0"/>
              <a:t>相关；②引言概读：作者</a:t>
            </a:r>
            <a:r>
              <a:rPr lang="zh-CN" altLang="en-US" sz="600" dirty="0"/>
              <a:t>是怎么阐述其研究</a:t>
            </a:r>
            <a:r>
              <a:rPr lang="zh-CN" altLang="en-US" sz="600" dirty="0" smtClean="0"/>
              <a:t>思路</a:t>
            </a:r>
            <a:r>
              <a:rPr lang="zh-CN" altLang="en-US" sz="600" dirty="0"/>
              <a:t>，</a:t>
            </a:r>
            <a:r>
              <a:rPr lang="zh-CN" altLang="en-US" sz="600" dirty="0" smtClean="0"/>
              <a:t>是</a:t>
            </a:r>
            <a:r>
              <a:rPr lang="zh-CN" altLang="en-US" sz="600" dirty="0"/>
              <a:t>怎么得出要做所做研究的</a:t>
            </a:r>
            <a:r>
              <a:rPr lang="zh-CN" altLang="en-US" sz="600" dirty="0" smtClean="0"/>
              <a:t>想法；③全文精读：觉得</a:t>
            </a:r>
            <a:r>
              <a:rPr lang="zh-CN" altLang="en-US" sz="600" dirty="0"/>
              <a:t>以上几点都比较合乎自己的研究方向，那么就开始全面的仔细阅读全文</a:t>
            </a:r>
            <a:r>
              <a:rPr lang="zh-CN" altLang="en-US" sz="600" dirty="0" smtClean="0"/>
              <a:t>。</a:t>
            </a:r>
            <a:endParaRPr lang="en-US" altLang="zh-CN" sz="600" dirty="0" smtClean="0"/>
          </a:p>
          <a:p>
            <a:r>
              <a:rPr lang="zh-CN" altLang="en-US" sz="600" dirty="0" smtClean="0"/>
              <a:t>先看</a:t>
            </a:r>
            <a:r>
              <a:rPr lang="zh-CN" altLang="en-US" sz="600" dirty="0"/>
              <a:t>题目，然后看摘要，再看引言和结论，尽量找到一些关键点，通过这些要素的阅读，确认文字是值得读的</a:t>
            </a:r>
            <a:r>
              <a:rPr lang="zh-CN" altLang="en-US" sz="600" dirty="0" smtClean="0"/>
              <a:t>；对</a:t>
            </a:r>
            <a:r>
              <a:rPr lang="zh-CN" altLang="en-US" sz="600" dirty="0"/>
              <a:t>确信有价值的论文，认真仔细通读全文</a:t>
            </a:r>
            <a:r>
              <a:rPr lang="zh-CN" altLang="en-US" sz="600" dirty="0" smtClean="0"/>
              <a:t>；认为</a:t>
            </a:r>
            <a:r>
              <a:rPr lang="zh-CN" altLang="en-US" sz="600" dirty="0"/>
              <a:t>与论文相关，或能带来不同观点和思考时</a:t>
            </a:r>
            <a:r>
              <a:rPr lang="zh-CN" altLang="en-US" sz="600" dirty="0" smtClean="0"/>
              <a:t>，继续</a:t>
            </a:r>
            <a:r>
              <a:rPr lang="zh-CN" altLang="en-US" sz="600" dirty="0"/>
              <a:t>阅读其他部分</a:t>
            </a:r>
            <a:r>
              <a:rPr lang="zh-CN" altLang="en-US" sz="600" dirty="0" smtClean="0"/>
              <a:t>。</a:t>
            </a:r>
            <a:endParaRPr lang="en-US" altLang="zh-CN" sz="600" dirty="0" smtClean="0"/>
          </a:p>
          <a:p>
            <a:r>
              <a:rPr lang="zh-CN" altLang="en-US" sz="600" b="1" dirty="0" smtClean="0"/>
              <a:t>总结文献</a:t>
            </a:r>
            <a:r>
              <a:rPr lang="zh-CN" altLang="en-US" sz="600" dirty="0" smtClean="0"/>
              <a:t>：文献</a:t>
            </a:r>
            <a:r>
              <a:rPr lang="zh-CN" altLang="en-US" sz="600" dirty="0"/>
              <a:t>提出的关键问题是什么</a:t>
            </a:r>
            <a:r>
              <a:rPr lang="en-US" altLang="zh-CN" sz="600" dirty="0" smtClean="0"/>
              <a:t>?</a:t>
            </a:r>
            <a:r>
              <a:rPr lang="zh-CN" altLang="en-US" sz="600" dirty="0" smtClean="0"/>
              <a:t>同</a:t>
            </a:r>
            <a:r>
              <a:rPr lang="zh-CN" altLang="en-US" sz="600" dirty="0"/>
              <a:t>领域、同主题所描述的问题是否有不同的表达形式</a:t>
            </a:r>
            <a:r>
              <a:rPr lang="zh-CN" altLang="en-US" sz="600" dirty="0" smtClean="0"/>
              <a:t>？同</a:t>
            </a:r>
            <a:r>
              <a:rPr lang="zh-CN" altLang="en-US" sz="600" dirty="0"/>
              <a:t>一研究内容是否有不同的方法</a:t>
            </a:r>
            <a:r>
              <a:rPr lang="zh-CN" altLang="en-US" sz="600" dirty="0" smtClean="0"/>
              <a:t>？是否</a:t>
            </a:r>
            <a:r>
              <a:rPr lang="zh-CN" altLang="en-US" sz="600" dirty="0"/>
              <a:t>有替代的方法</a:t>
            </a:r>
            <a:r>
              <a:rPr lang="zh-CN" altLang="en-US" sz="600" dirty="0" smtClean="0"/>
              <a:t>？</a:t>
            </a:r>
            <a:endParaRPr lang="en-US" altLang="zh-CN" sz="600" dirty="0" smtClean="0"/>
          </a:p>
          <a:p>
            <a:r>
              <a:rPr lang="zh-CN" altLang="en-US" sz="600" b="1" dirty="0"/>
              <a:t>六顶思考</a:t>
            </a:r>
            <a:r>
              <a:rPr lang="zh-CN" altLang="en-US" sz="600" b="1" dirty="0" smtClean="0"/>
              <a:t>帽</a:t>
            </a:r>
            <a:r>
              <a:rPr lang="zh-CN" altLang="en-US" sz="600" dirty="0" smtClean="0"/>
              <a:t>（</a:t>
            </a:r>
            <a:r>
              <a:rPr lang="en-US" altLang="zh-CN" sz="600" dirty="0" smtClean="0"/>
              <a:t>Edward de Bono</a:t>
            </a:r>
            <a:r>
              <a:rPr lang="zh-CN" altLang="en-US" sz="600" dirty="0" smtClean="0"/>
              <a:t>）：资料</a:t>
            </a:r>
            <a:r>
              <a:rPr lang="zh-CN" altLang="en-US" sz="600" dirty="0"/>
              <a:t>与</a:t>
            </a:r>
            <a:r>
              <a:rPr lang="zh-CN" altLang="en-US" sz="600" dirty="0" smtClean="0"/>
              <a:t>信息，积极</a:t>
            </a:r>
            <a:r>
              <a:rPr lang="zh-CN" altLang="en-US" sz="600" dirty="0"/>
              <a:t>与</a:t>
            </a:r>
            <a:r>
              <a:rPr lang="zh-CN" altLang="en-US" sz="600" dirty="0" smtClean="0"/>
              <a:t>乐观，创新</a:t>
            </a:r>
            <a:r>
              <a:rPr lang="zh-CN" altLang="en-US" sz="600" dirty="0"/>
              <a:t>与</a:t>
            </a:r>
            <a:r>
              <a:rPr lang="zh-CN" altLang="en-US" sz="600" dirty="0" smtClean="0"/>
              <a:t>冒险，直觉</a:t>
            </a:r>
            <a:r>
              <a:rPr lang="zh-CN" altLang="en-US" sz="600" dirty="0"/>
              <a:t>与</a:t>
            </a:r>
            <a:r>
              <a:rPr lang="zh-CN" altLang="en-US" sz="600" dirty="0" smtClean="0"/>
              <a:t>感情，逻辑</a:t>
            </a:r>
            <a:r>
              <a:rPr lang="zh-CN" altLang="en-US" sz="600" dirty="0"/>
              <a:t>与</a:t>
            </a:r>
            <a:r>
              <a:rPr lang="zh-CN" altLang="en-US" sz="600" dirty="0" smtClean="0"/>
              <a:t>批判，系统</a:t>
            </a:r>
            <a:r>
              <a:rPr lang="zh-CN" altLang="en-US" sz="600" dirty="0"/>
              <a:t>与</a:t>
            </a:r>
            <a:r>
              <a:rPr lang="zh-CN" altLang="en-US" sz="600" dirty="0" smtClean="0"/>
              <a:t>控制</a:t>
            </a:r>
            <a:endParaRPr lang="en-US" altLang="zh-CN" sz="600" dirty="0" smtClean="0"/>
          </a:p>
          <a:p>
            <a:r>
              <a:rPr lang="zh-CN" altLang="en-US" sz="600" dirty="0"/>
              <a:t>白色思考帽：思考、搜集各环节信息，找出基础数据和事实依据</a:t>
            </a:r>
            <a:r>
              <a:rPr lang="zh-CN" altLang="en-US" sz="600" dirty="0" smtClean="0"/>
              <a:t>。</a:t>
            </a:r>
            <a:endParaRPr lang="en-US" altLang="zh-CN" sz="600" dirty="0" smtClean="0"/>
          </a:p>
          <a:p>
            <a:r>
              <a:rPr lang="zh-CN" altLang="en-US" sz="600" dirty="0" smtClean="0"/>
              <a:t>黄色</a:t>
            </a:r>
            <a:r>
              <a:rPr lang="zh-CN" altLang="en-US" sz="600" dirty="0"/>
              <a:t>思考帽：积极表达乐观、满怀希望的设性观点。</a:t>
            </a:r>
          </a:p>
          <a:p>
            <a:r>
              <a:rPr lang="zh-CN" altLang="en-US" sz="600" dirty="0" smtClean="0"/>
              <a:t>黑色</a:t>
            </a:r>
            <a:r>
              <a:rPr lang="zh-CN" altLang="en-US" sz="600" dirty="0"/>
              <a:t>思考帽：运用否定、质疑的看法，进行批判性阅读。</a:t>
            </a:r>
          </a:p>
          <a:p>
            <a:r>
              <a:rPr lang="zh-CN" altLang="en-US" sz="600" dirty="0" smtClean="0"/>
              <a:t>绿色</a:t>
            </a:r>
            <a:r>
              <a:rPr lang="zh-CN" altLang="en-US" sz="600" dirty="0"/>
              <a:t>思考帽：提出创造性的思考。</a:t>
            </a:r>
          </a:p>
          <a:p>
            <a:r>
              <a:rPr lang="zh-CN" altLang="en-US" sz="600" dirty="0" smtClean="0"/>
              <a:t>红色</a:t>
            </a:r>
            <a:r>
              <a:rPr lang="zh-CN" altLang="en-US" sz="600" dirty="0"/>
              <a:t>思考帽：直观表达直觉、感受、预感等方面的看法。</a:t>
            </a:r>
          </a:p>
          <a:p>
            <a:r>
              <a:rPr lang="zh-CN" altLang="en-US" sz="600" dirty="0" smtClean="0"/>
              <a:t>蓝色</a:t>
            </a:r>
            <a:r>
              <a:rPr lang="zh-CN" altLang="en-US" sz="600" dirty="0"/>
              <a:t>思考帽：规划和管理整个思考过程，得出</a:t>
            </a:r>
            <a:r>
              <a:rPr lang="zh-CN" altLang="en-US" sz="600" dirty="0" smtClean="0"/>
              <a:t>结论</a:t>
            </a:r>
            <a:r>
              <a:rPr lang="en-US" altLang="zh-CN" sz="600" dirty="0" smtClean="0"/>
              <a:t>.</a:t>
            </a:r>
          </a:p>
          <a:p>
            <a:r>
              <a:rPr lang="zh-CN" altLang="en-US" sz="600" b="1" dirty="0" smtClean="0"/>
              <a:t>批判</a:t>
            </a:r>
            <a:r>
              <a:rPr lang="zh-CN" altLang="en-US" sz="600" b="1" dirty="0"/>
              <a:t>性</a:t>
            </a:r>
            <a:r>
              <a:rPr lang="zh-CN" altLang="en-US" sz="600" b="1" dirty="0" smtClean="0"/>
              <a:t>阅读</a:t>
            </a:r>
            <a:r>
              <a:rPr lang="zh-CN" altLang="en-US" sz="600" dirty="0" smtClean="0"/>
              <a:t>：①阅读</a:t>
            </a:r>
            <a:r>
              <a:rPr lang="zh-CN" altLang="en-US" sz="600" dirty="0"/>
              <a:t>文献综述，发现</a:t>
            </a:r>
            <a:r>
              <a:rPr lang="zh-CN" altLang="en-US" sz="600" dirty="0" smtClean="0"/>
              <a:t>空白</a:t>
            </a:r>
            <a:r>
              <a:rPr lang="zh-CN" altLang="en-US" sz="600" dirty="0"/>
              <a:t>；</a:t>
            </a:r>
            <a:r>
              <a:rPr lang="zh-CN" altLang="en-US" sz="600" dirty="0" smtClean="0"/>
              <a:t>②数据</a:t>
            </a:r>
            <a:r>
              <a:rPr lang="zh-CN" altLang="en-US" sz="600" dirty="0"/>
              <a:t>和方法，仔细查看数据是否真实，方法是否得当</a:t>
            </a:r>
            <a:r>
              <a:rPr lang="zh-CN" altLang="en-US" sz="600" dirty="0" smtClean="0"/>
              <a:t>。③理论</a:t>
            </a:r>
            <a:r>
              <a:rPr lang="zh-CN" altLang="en-US" sz="600" dirty="0"/>
              <a:t>认识，是否认同，是否到位。检查预期的假设是否有</a:t>
            </a:r>
            <a:r>
              <a:rPr lang="zh-CN" altLang="en-US" sz="600" dirty="0" smtClean="0"/>
              <a:t>理论依据；④研究</a:t>
            </a:r>
            <a:r>
              <a:rPr lang="zh-CN" altLang="en-US" sz="600" dirty="0"/>
              <a:t>结果往往出现了</a:t>
            </a:r>
            <a:r>
              <a:rPr lang="zh-CN" altLang="en-US" sz="600" dirty="0" smtClean="0"/>
              <a:t>“新知识”，</a:t>
            </a:r>
            <a:r>
              <a:rPr lang="zh-CN" altLang="en-US" sz="600" dirty="0"/>
              <a:t>如何认识，如何继续</a:t>
            </a:r>
            <a:r>
              <a:rPr lang="zh-CN" altLang="en-US" sz="600" dirty="0" smtClean="0"/>
              <a:t>。证实</a:t>
            </a:r>
            <a:r>
              <a:rPr lang="zh-CN" altLang="en-US" sz="600" dirty="0"/>
              <a:t>或改进前人的结果</a:t>
            </a:r>
            <a:r>
              <a:rPr lang="zh-CN" altLang="en-US" sz="600" dirty="0" smtClean="0"/>
              <a:t>，或提出</a:t>
            </a:r>
            <a:r>
              <a:rPr lang="zh-CN" altLang="en-US" sz="600" dirty="0"/>
              <a:t>新的观点</a:t>
            </a:r>
            <a:r>
              <a:rPr lang="zh-CN" altLang="en-US" sz="600" dirty="0" smtClean="0"/>
              <a:t>。；⑤讨论与</a:t>
            </a:r>
            <a:r>
              <a:rPr lang="zh-CN" altLang="en-US" sz="600" dirty="0"/>
              <a:t>前人的研究建立起联系。呼应引言，引言提出的是将要做什么，讨论告诉读者的是做了些什么</a:t>
            </a:r>
            <a:r>
              <a:rPr lang="zh-CN" altLang="en-US" sz="600" dirty="0" smtClean="0"/>
              <a:t>。⑥结论</a:t>
            </a:r>
            <a:r>
              <a:rPr lang="zh-CN" altLang="en-US" sz="600" dirty="0"/>
              <a:t>是梳理研究和发现的启示，证实自己的观点</a:t>
            </a:r>
            <a:r>
              <a:rPr lang="zh-CN" altLang="en-US" sz="600" dirty="0" smtClean="0"/>
              <a:t>。</a:t>
            </a:r>
            <a:endParaRPr lang="en-US" altLang="zh-CN" sz="600" dirty="0" smtClean="0"/>
          </a:p>
        </p:txBody>
      </p:sp>
      <p:sp>
        <p:nvSpPr>
          <p:cNvPr id="191" name="文本框 190"/>
          <p:cNvSpPr txBox="1"/>
          <p:nvPr/>
        </p:nvSpPr>
        <p:spPr>
          <a:xfrm>
            <a:off x="2279650" y="5134937"/>
            <a:ext cx="966931" cy="200055"/>
          </a:xfrm>
          <a:prstGeom prst="rect">
            <a:avLst/>
          </a:prstGeom>
          <a:noFill/>
        </p:spPr>
        <p:txBody>
          <a:bodyPr wrap="none" rtlCol="0">
            <a:spAutoFit/>
          </a:bodyPr>
          <a:lstStyle/>
          <a:p>
            <a:r>
              <a:rPr lang="en-US" altLang="zh-CN" sz="700" b="1" dirty="0" smtClean="0">
                <a:latin typeface="+mj-lt"/>
              </a:rPr>
              <a:t>2 </a:t>
            </a:r>
            <a:r>
              <a:rPr lang="zh-CN" altLang="en-US" sz="700" b="1" dirty="0" smtClean="0">
                <a:latin typeface="+mj-lt"/>
              </a:rPr>
              <a:t>科技文献检索方法</a:t>
            </a:r>
            <a:endParaRPr lang="en-US" altLang="zh-CN" sz="700" b="1" dirty="0">
              <a:latin typeface="+mj-lt"/>
            </a:endParaRPr>
          </a:p>
        </p:txBody>
      </p:sp>
      <p:sp>
        <p:nvSpPr>
          <p:cNvPr id="192" name="文本框 191"/>
          <p:cNvSpPr txBox="1"/>
          <p:nvPr/>
        </p:nvSpPr>
        <p:spPr>
          <a:xfrm>
            <a:off x="2272877" y="5234964"/>
            <a:ext cx="2761114" cy="5447645"/>
          </a:xfrm>
          <a:prstGeom prst="rect">
            <a:avLst/>
          </a:prstGeom>
          <a:noFill/>
        </p:spPr>
        <p:txBody>
          <a:bodyPr wrap="square" rtlCol="0">
            <a:spAutoFit/>
          </a:bodyPr>
          <a:lstStyle/>
          <a:p>
            <a:r>
              <a:rPr lang="zh-CN" altLang="en-US" sz="600" b="1" dirty="0" smtClean="0"/>
              <a:t>信息</a:t>
            </a:r>
            <a:r>
              <a:rPr lang="zh-CN" altLang="en-US" sz="600" dirty="0" smtClean="0"/>
              <a:t>：物质</a:t>
            </a:r>
            <a:r>
              <a:rPr lang="zh-CN" altLang="en-US" sz="600" dirty="0"/>
              <a:t>存在的一种方式、形态或运动状态，也是事物的一种普遍属性，一般指数据、消息中所包含的意义，</a:t>
            </a:r>
            <a:r>
              <a:rPr lang="zh-CN" altLang="en-US" sz="600" dirty="0" smtClean="0"/>
              <a:t>可使</a:t>
            </a:r>
            <a:r>
              <a:rPr lang="zh-CN" altLang="en-US" sz="600" dirty="0"/>
              <a:t>消息中所描述事件的不确定性减少。</a:t>
            </a:r>
          </a:p>
          <a:p>
            <a:r>
              <a:rPr lang="zh-CN" altLang="en-US" sz="600" b="1" dirty="0" smtClean="0"/>
              <a:t>知识</a:t>
            </a:r>
            <a:r>
              <a:rPr lang="zh-CN" altLang="en-US" sz="600" dirty="0" smtClean="0"/>
              <a:t>：信息</a:t>
            </a:r>
            <a:r>
              <a:rPr lang="zh-CN" altLang="en-US" sz="600" dirty="0"/>
              <a:t>的一部分，是一种特定的人类信息。知识是人类社会实践经验的总结，是人的主观世界对于客观世界的概括和如实反映。</a:t>
            </a:r>
          </a:p>
          <a:p>
            <a:r>
              <a:rPr lang="zh-CN" altLang="en-US" sz="600" b="1" dirty="0" smtClean="0"/>
              <a:t>文献</a:t>
            </a:r>
            <a:r>
              <a:rPr lang="zh-CN" altLang="en-US" sz="600" dirty="0" smtClean="0"/>
              <a:t>：记录</a:t>
            </a:r>
            <a:r>
              <a:rPr lang="zh-CN" altLang="en-US" sz="600" dirty="0"/>
              <a:t>有知识的一切载体。由四要素组成：所记录的信息、记录信息的符号图像、用于记录信息的物质载体、记录的方式或手段</a:t>
            </a:r>
            <a:r>
              <a:rPr lang="zh-CN" altLang="en-US" sz="600" dirty="0" smtClean="0"/>
              <a:t>。</a:t>
            </a:r>
            <a:endParaRPr lang="en-US" altLang="zh-CN" sz="600" dirty="0" smtClean="0"/>
          </a:p>
          <a:p>
            <a:r>
              <a:rPr lang="zh-CN" altLang="en-US" sz="600" dirty="0" smtClean="0"/>
              <a:t>信息</a:t>
            </a:r>
            <a:r>
              <a:rPr lang="en-US" altLang="zh-CN" sz="600" dirty="0" smtClean="0"/>
              <a:t>(</a:t>
            </a:r>
            <a:r>
              <a:rPr lang="zh-CN" altLang="en-US" sz="600" dirty="0" smtClean="0"/>
              <a:t>客观</a:t>
            </a:r>
            <a:r>
              <a:rPr lang="zh-CN" altLang="en-US" sz="600" dirty="0"/>
              <a:t>事物本身的</a:t>
            </a:r>
            <a:r>
              <a:rPr lang="zh-CN" altLang="en-US" sz="600" dirty="0" smtClean="0"/>
              <a:t>运动</a:t>
            </a:r>
            <a:r>
              <a:rPr lang="en-US" altLang="zh-CN" sz="600" dirty="0" smtClean="0"/>
              <a:t>)-</a:t>
            </a:r>
            <a:r>
              <a:rPr lang="zh-CN" altLang="en-US" sz="600" dirty="0"/>
              <a:t>知识</a:t>
            </a:r>
            <a:r>
              <a:rPr lang="en-US" altLang="zh-CN" sz="600" dirty="0"/>
              <a:t>(</a:t>
            </a:r>
            <a:r>
              <a:rPr lang="zh-CN" altLang="en-US" sz="600" dirty="0"/>
              <a:t>系统化的信息</a:t>
            </a:r>
            <a:r>
              <a:rPr lang="en-US" altLang="zh-CN" sz="600" dirty="0" smtClean="0"/>
              <a:t>)-</a:t>
            </a:r>
            <a:r>
              <a:rPr lang="zh-CN" altLang="en-US" sz="600" dirty="0"/>
              <a:t>文献</a:t>
            </a:r>
            <a:r>
              <a:rPr lang="en-US" altLang="zh-CN" sz="600" dirty="0"/>
              <a:t>(</a:t>
            </a:r>
            <a:r>
              <a:rPr lang="zh-CN" altLang="en-US" sz="600" dirty="0"/>
              <a:t>记录下来的知识</a:t>
            </a:r>
            <a:r>
              <a:rPr lang="en-US" altLang="zh-CN" sz="600" dirty="0" smtClean="0"/>
              <a:t>)-</a:t>
            </a:r>
            <a:r>
              <a:rPr lang="zh-CN" altLang="en-US" sz="600" dirty="0"/>
              <a:t>情报</a:t>
            </a:r>
            <a:r>
              <a:rPr lang="en-US" altLang="zh-CN" sz="600" dirty="0"/>
              <a:t>(</a:t>
            </a:r>
            <a:r>
              <a:rPr lang="zh-CN" altLang="en-US" sz="600" dirty="0"/>
              <a:t>有用的知识</a:t>
            </a:r>
            <a:r>
              <a:rPr lang="en-US" altLang="zh-CN" sz="600" dirty="0" smtClean="0"/>
              <a:t>)-</a:t>
            </a:r>
            <a:r>
              <a:rPr lang="zh-CN" altLang="en-US" sz="600" dirty="0" smtClean="0"/>
              <a:t>智慧</a:t>
            </a:r>
            <a:r>
              <a:rPr lang="en-US" altLang="zh-CN" sz="600" dirty="0"/>
              <a:t>(</a:t>
            </a:r>
            <a:r>
              <a:rPr lang="zh-CN" altLang="en-US" sz="600" dirty="0"/>
              <a:t>精炼的知识</a:t>
            </a:r>
            <a:r>
              <a:rPr lang="en-US" altLang="zh-CN" sz="600" dirty="0" smtClean="0"/>
              <a:t>)</a:t>
            </a:r>
          </a:p>
          <a:p>
            <a:r>
              <a:rPr lang="zh-CN" altLang="en-US" sz="600" b="1" dirty="0" smtClean="0"/>
              <a:t>信息检索</a:t>
            </a:r>
            <a:r>
              <a:rPr lang="zh-CN" altLang="en-US" sz="600" dirty="0" smtClean="0"/>
              <a:t>：</a:t>
            </a:r>
            <a:r>
              <a:rPr lang="en-US" altLang="zh-CN" sz="600" dirty="0" smtClean="0"/>
              <a:t>(</a:t>
            </a:r>
            <a:r>
              <a:rPr lang="zh-CN" altLang="en-US" sz="600" dirty="0" smtClean="0"/>
              <a:t>广义</a:t>
            </a:r>
            <a:r>
              <a:rPr lang="en-US" altLang="zh-CN" sz="600" dirty="0" smtClean="0"/>
              <a:t>)</a:t>
            </a:r>
            <a:r>
              <a:rPr lang="zh-CN" altLang="en-US" sz="600" dirty="0" smtClean="0"/>
              <a:t> 将</a:t>
            </a:r>
            <a:r>
              <a:rPr lang="zh-CN" altLang="en-US" sz="600" dirty="0"/>
              <a:t>信息按一定的方式组织和存储起来</a:t>
            </a:r>
            <a:r>
              <a:rPr lang="en-US" altLang="zh-CN" sz="600" dirty="0"/>
              <a:t>, </a:t>
            </a:r>
            <a:r>
              <a:rPr lang="zh-CN" altLang="en-US" sz="600" dirty="0"/>
              <a:t>并根据信息用户的需要找出有关信息的过程和技术。全称为“信息存储与检索</a:t>
            </a:r>
            <a:r>
              <a:rPr lang="zh-CN" altLang="en-US" sz="600" dirty="0" smtClean="0"/>
              <a:t>”；</a:t>
            </a:r>
            <a:r>
              <a:rPr lang="en-US" altLang="zh-CN" sz="600" dirty="0" smtClean="0"/>
              <a:t>(</a:t>
            </a:r>
            <a:r>
              <a:rPr lang="zh-CN" altLang="en-US" sz="600" dirty="0" smtClean="0"/>
              <a:t>狭义</a:t>
            </a:r>
            <a:r>
              <a:rPr lang="en-US" altLang="zh-CN" sz="600" dirty="0" smtClean="0"/>
              <a:t>)</a:t>
            </a:r>
            <a:r>
              <a:rPr lang="zh-CN" altLang="en-US" sz="600" dirty="0" smtClean="0"/>
              <a:t> 该</a:t>
            </a:r>
            <a:r>
              <a:rPr lang="zh-CN" altLang="en-US" sz="600" dirty="0"/>
              <a:t>过程的后半部分</a:t>
            </a:r>
            <a:r>
              <a:rPr lang="en-US" altLang="zh-CN" sz="600" dirty="0"/>
              <a:t>,</a:t>
            </a:r>
            <a:r>
              <a:rPr lang="zh-CN" altLang="en-US" sz="600" dirty="0"/>
              <a:t>即从信息集合中找出所需要的信息的过程</a:t>
            </a:r>
            <a:r>
              <a:rPr lang="en-US" altLang="zh-CN" sz="600" dirty="0"/>
              <a:t>, </a:t>
            </a:r>
            <a:r>
              <a:rPr lang="zh-CN" altLang="en-US" sz="600" dirty="0" smtClean="0"/>
              <a:t>即人们</a:t>
            </a:r>
            <a:r>
              <a:rPr lang="zh-CN" altLang="en-US" sz="600" dirty="0"/>
              <a:t>通常所说的信息查寻。</a:t>
            </a:r>
          </a:p>
          <a:p>
            <a:r>
              <a:rPr lang="zh-CN" altLang="en-US" sz="600" b="1" dirty="0" smtClean="0"/>
              <a:t>信息检索</a:t>
            </a:r>
            <a:r>
              <a:rPr lang="zh-CN" altLang="en-US" sz="600" b="1" dirty="0"/>
              <a:t>重要性</a:t>
            </a:r>
            <a:r>
              <a:rPr lang="zh-CN" altLang="en-US" sz="600" dirty="0" smtClean="0"/>
              <a:t>：</a:t>
            </a:r>
            <a:r>
              <a:rPr lang="zh-CN" altLang="en-US" sz="600" dirty="0"/>
              <a:t>面对日益增长的文献资源，如何通过有效的方法以最少的时间与精力来获取自己所要的信息，是文献检索所要解决的问题。</a:t>
            </a:r>
          </a:p>
          <a:p>
            <a:r>
              <a:rPr lang="zh-CN" altLang="en-US" sz="600" dirty="0" smtClean="0"/>
              <a:t>对</a:t>
            </a:r>
            <a:r>
              <a:rPr lang="zh-CN" altLang="en-US" sz="600" dirty="0"/>
              <a:t>学生而言，文献信息检索是培养学生能力的基本技能和方法之一，最主要的是自学能力、研究能力、思维能力、表达能力和组织管理</a:t>
            </a:r>
            <a:r>
              <a:rPr lang="zh-CN" altLang="en-US" sz="600" dirty="0" smtClean="0"/>
              <a:t>能力的培养；</a:t>
            </a:r>
            <a:endParaRPr lang="en-US" altLang="zh-CN" sz="600" dirty="0" smtClean="0"/>
          </a:p>
          <a:p>
            <a:r>
              <a:rPr lang="zh-CN" altLang="en-US" sz="600" dirty="0" smtClean="0"/>
              <a:t>对科研工作者来说，：①</a:t>
            </a:r>
            <a:r>
              <a:rPr lang="zh-CN" altLang="en-US" sz="600" dirty="0"/>
              <a:t>信息检索能使科技工作者及时把握科技发展的动态和趋势； ②信息检索能使科研工作达到事半功倍的效果</a:t>
            </a:r>
            <a:r>
              <a:rPr lang="zh-CN" altLang="en-US" sz="600" dirty="0" smtClean="0"/>
              <a:t>；③</a:t>
            </a:r>
            <a:r>
              <a:rPr lang="zh-CN" altLang="en-US" sz="600" dirty="0"/>
              <a:t>信息检索能使信息资源得以充分的开发和利用</a:t>
            </a:r>
            <a:r>
              <a:rPr lang="zh-CN" altLang="en-US" sz="600" dirty="0" smtClean="0"/>
              <a:t>；④</a:t>
            </a:r>
            <a:r>
              <a:rPr lang="zh-CN" altLang="en-US" sz="600" dirty="0"/>
              <a:t>信息检索有利于实现资源共享</a:t>
            </a:r>
            <a:r>
              <a:rPr lang="zh-CN" altLang="en-US" sz="600" dirty="0" smtClean="0"/>
              <a:t>。</a:t>
            </a:r>
            <a:endParaRPr lang="en-US" altLang="zh-CN" sz="600" dirty="0" smtClean="0"/>
          </a:p>
          <a:p>
            <a:r>
              <a:rPr lang="zh-CN" altLang="en-US" sz="600" b="1" dirty="0"/>
              <a:t>文献检索的实际</a:t>
            </a:r>
            <a:r>
              <a:rPr lang="zh-CN" altLang="en-US" sz="600" b="1" dirty="0" smtClean="0"/>
              <a:t>作用</a:t>
            </a:r>
            <a:r>
              <a:rPr lang="zh-CN" altLang="en-US" sz="600" dirty="0" smtClean="0"/>
              <a:t>：①保证</a:t>
            </a:r>
            <a:r>
              <a:rPr lang="zh-CN" altLang="en-US" sz="600" dirty="0"/>
              <a:t>科学研究的继承性和创新性，避免重复</a:t>
            </a:r>
            <a:r>
              <a:rPr lang="zh-CN" altLang="en-US" sz="600" dirty="0" smtClean="0"/>
              <a:t>劳动；②节省</a:t>
            </a:r>
            <a:r>
              <a:rPr lang="zh-CN" altLang="en-US" sz="600" dirty="0"/>
              <a:t>信息查找时间，提高科研</a:t>
            </a:r>
            <a:r>
              <a:rPr lang="zh-CN" altLang="en-US" sz="600" dirty="0" smtClean="0"/>
              <a:t>效率；③从</a:t>
            </a:r>
            <a:r>
              <a:rPr lang="zh-CN" altLang="en-US" sz="600" dirty="0"/>
              <a:t>海量信息中准确、</a:t>
            </a:r>
            <a:r>
              <a:rPr lang="zh-CN" altLang="en-US" sz="600" dirty="0" smtClean="0"/>
              <a:t>迅速获取</a:t>
            </a:r>
            <a:r>
              <a:rPr lang="zh-CN" altLang="en-US" sz="600" dirty="0"/>
              <a:t>所需</a:t>
            </a:r>
            <a:r>
              <a:rPr lang="zh-CN" altLang="en-US" sz="600" dirty="0" smtClean="0"/>
              <a:t>信息；④挖掘</a:t>
            </a:r>
            <a:r>
              <a:rPr lang="zh-CN" altLang="en-US" sz="600" dirty="0"/>
              <a:t>分析文献获取有价值的</a:t>
            </a:r>
            <a:r>
              <a:rPr lang="zh-CN" altLang="en-US" sz="600" dirty="0" smtClean="0"/>
              <a:t>信息；⑤促进</a:t>
            </a:r>
            <a:r>
              <a:rPr lang="zh-CN" altLang="en-US" sz="600" dirty="0"/>
              <a:t>专业学习，实现终身</a:t>
            </a:r>
            <a:r>
              <a:rPr lang="zh-CN" altLang="en-US" sz="600" dirty="0" smtClean="0"/>
              <a:t>学习。</a:t>
            </a:r>
            <a:endParaRPr lang="en-US" altLang="zh-CN" sz="600" dirty="0" smtClean="0"/>
          </a:p>
          <a:p>
            <a:r>
              <a:rPr lang="zh-CN" altLang="en-US" sz="600" b="1" dirty="0" smtClean="0"/>
              <a:t>文献划分方法：</a:t>
            </a:r>
            <a:endParaRPr lang="en-US" altLang="zh-CN" sz="600" b="1" dirty="0" smtClean="0"/>
          </a:p>
          <a:p>
            <a:r>
              <a:rPr lang="zh-CN" altLang="en-US" sz="600" dirty="0"/>
              <a:t>根据</a:t>
            </a:r>
            <a:r>
              <a:rPr lang="zh-CN" altLang="en-US" sz="600" dirty="0" smtClean="0"/>
              <a:t>文献载体</a:t>
            </a:r>
            <a:r>
              <a:rPr lang="zh-CN" altLang="en-US" sz="600" dirty="0"/>
              <a:t>形式</a:t>
            </a:r>
            <a:r>
              <a:rPr lang="zh-CN" altLang="en-US" sz="600" dirty="0" smtClean="0"/>
              <a:t>划分：印刷型，缩微型，机读型，视听型</a:t>
            </a:r>
            <a:endParaRPr lang="zh-CN" altLang="en-US" sz="600" dirty="0"/>
          </a:p>
          <a:p>
            <a:r>
              <a:rPr lang="zh-CN" altLang="en-US" sz="600" dirty="0" smtClean="0"/>
              <a:t>根据文献编辑</a:t>
            </a:r>
            <a:r>
              <a:rPr lang="zh-CN" altLang="en-US" sz="600" dirty="0"/>
              <a:t>出版形式</a:t>
            </a:r>
            <a:r>
              <a:rPr lang="zh-CN" altLang="en-US" sz="600" dirty="0" smtClean="0"/>
              <a:t>划分：图书，特种文献（会议），连续出版物（期刊）</a:t>
            </a:r>
            <a:endParaRPr lang="zh-CN" altLang="en-US" sz="600" dirty="0"/>
          </a:p>
          <a:p>
            <a:r>
              <a:rPr lang="zh-CN" altLang="en-US" sz="600" dirty="0" smtClean="0"/>
              <a:t>按</a:t>
            </a:r>
            <a:r>
              <a:rPr lang="zh-CN" altLang="en-US" sz="600" dirty="0"/>
              <a:t>文献的结构等级（文献的加工程度）</a:t>
            </a:r>
            <a:r>
              <a:rPr lang="zh-CN" altLang="en-US" sz="600" dirty="0" smtClean="0"/>
              <a:t>划分：</a:t>
            </a:r>
            <a:endParaRPr lang="en-US" altLang="zh-CN" sz="600" dirty="0" smtClean="0"/>
          </a:p>
          <a:p>
            <a:r>
              <a:rPr lang="zh-CN" altLang="en-US" sz="600" b="1" dirty="0" smtClean="0"/>
              <a:t>一次文献</a:t>
            </a:r>
            <a:r>
              <a:rPr lang="en-US" altLang="zh-CN" sz="600" dirty="0" smtClean="0"/>
              <a:t>(primary document)</a:t>
            </a:r>
            <a:r>
              <a:rPr lang="zh-CN" altLang="en-US" sz="600" dirty="0" smtClean="0"/>
              <a:t>即</a:t>
            </a:r>
            <a:r>
              <a:rPr lang="zh-CN" altLang="en-US" sz="600" dirty="0"/>
              <a:t>原始</a:t>
            </a:r>
            <a:r>
              <a:rPr lang="zh-CN" altLang="en-US" sz="600" dirty="0" smtClean="0"/>
              <a:t>文献，指</a:t>
            </a:r>
            <a:r>
              <a:rPr lang="zh-CN" altLang="en-US" sz="600" dirty="0"/>
              <a:t>人们以自己的经验和研究成果为依据而形成的文献，不管文献以何种物质</a:t>
            </a:r>
            <a:r>
              <a:rPr lang="zh-CN" altLang="en-US" sz="600" dirty="0" smtClean="0"/>
              <a:t>形式出现</a:t>
            </a:r>
            <a:r>
              <a:rPr lang="zh-CN" altLang="en-US" sz="600" dirty="0"/>
              <a:t>。如期刊论文、会议论文、科技报告、专利说明书、标准等</a:t>
            </a:r>
            <a:r>
              <a:rPr lang="zh-CN" altLang="en-US" sz="600" dirty="0" smtClean="0"/>
              <a:t>。具体</a:t>
            </a:r>
            <a:r>
              <a:rPr lang="zh-CN" altLang="en-US" sz="600" dirty="0"/>
              <a:t>、详细、有较高的参考和使用价值。</a:t>
            </a:r>
          </a:p>
          <a:p>
            <a:r>
              <a:rPr lang="en-US" altLang="zh-CN" sz="600" dirty="0" smtClean="0"/>
              <a:t>(</a:t>
            </a:r>
            <a:r>
              <a:rPr lang="zh-CN" altLang="en-US" sz="600" dirty="0" smtClean="0"/>
              <a:t>如</a:t>
            </a:r>
            <a:r>
              <a:rPr lang="en-US" altLang="zh-CN" sz="600" dirty="0" smtClean="0"/>
              <a:t>IEEE</a:t>
            </a:r>
            <a:r>
              <a:rPr lang="zh-CN" altLang="en-US" sz="600" dirty="0"/>
              <a:t>文献、</a:t>
            </a:r>
            <a:r>
              <a:rPr lang="en-US" altLang="zh-CN" sz="600" dirty="0"/>
              <a:t>Elsevier Science</a:t>
            </a:r>
            <a:r>
              <a:rPr lang="zh-CN" altLang="en-US" sz="600" dirty="0"/>
              <a:t>文献、</a:t>
            </a:r>
            <a:r>
              <a:rPr lang="en-US" altLang="zh-CN" sz="600" dirty="0"/>
              <a:t>《</a:t>
            </a:r>
            <a:r>
              <a:rPr lang="zh-CN" altLang="en-US" sz="600" dirty="0"/>
              <a:t>中文科技期刊数据库</a:t>
            </a:r>
            <a:r>
              <a:rPr lang="en-US" altLang="zh-CN" sz="600" dirty="0"/>
              <a:t>》</a:t>
            </a:r>
            <a:r>
              <a:rPr lang="zh-CN" altLang="en-US" sz="600" dirty="0" smtClean="0"/>
              <a:t>文献</a:t>
            </a:r>
            <a:r>
              <a:rPr lang="en-US" altLang="zh-CN" sz="600" dirty="0" smtClean="0"/>
              <a:t>)</a:t>
            </a:r>
            <a:endParaRPr lang="zh-CN" altLang="en-US" sz="600" dirty="0"/>
          </a:p>
          <a:p>
            <a:r>
              <a:rPr lang="zh-CN" altLang="en-US" sz="600" b="1" dirty="0" smtClean="0"/>
              <a:t>二</a:t>
            </a:r>
            <a:r>
              <a:rPr lang="zh-CN" altLang="en-US" sz="600" b="1" dirty="0"/>
              <a:t>次文献</a:t>
            </a:r>
            <a:r>
              <a:rPr lang="en-US" altLang="zh-CN" sz="600" dirty="0"/>
              <a:t>(secondary document</a:t>
            </a:r>
            <a:r>
              <a:rPr lang="en-US" altLang="zh-CN" sz="600" dirty="0" smtClean="0"/>
              <a:t>)</a:t>
            </a:r>
            <a:r>
              <a:rPr lang="zh-CN" altLang="en-US" sz="600" dirty="0" smtClean="0"/>
              <a:t>是</a:t>
            </a:r>
            <a:r>
              <a:rPr lang="zh-CN" altLang="en-US" sz="600" dirty="0"/>
              <a:t>通过对大量分散、无序的一次文献进行加工、提炼、压缩和组织，成为系统的、便于查找一</a:t>
            </a:r>
            <a:r>
              <a:rPr lang="zh-CN" altLang="en-US" sz="600" dirty="0" smtClean="0"/>
              <a:t>次文献</a:t>
            </a:r>
            <a:r>
              <a:rPr lang="zh-CN" altLang="en-US" sz="600" dirty="0"/>
              <a:t>的工具。如书目、索引、文摘等。二次文献的重要性在于它可以提供一次文献的线索</a:t>
            </a:r>
            <a:r>
              <a:rPr lang="zh-CN" altLang="en-US" sz="600" dirty="0" smtClean="0"/>
              <a:t>。浓缩性</a:t>
            </a:r>
            <a:r>
              <a:rPr lang="zh-CN" altLang="en-US" sz="600" dirty="0"/>
              <a:t>、汇集性、有序性、系统性。 </a:t>
            </a:r>
            <a:r>
              <a:rPr lang="en-US" altLang="zh-CN" sz="600" dirty="0" smtClean="0"/>
              <a:t>(</a:t>
            </a:r>
            <a:r>
              <a:rPr lang="zh-CN" altLang="en-US" sz="600" dirty="0" smtClean="0"/>
              <a:t>如工程索引</a:t>
            </a:r>
            <a:r>
              <a:rPr lang="en-US" altLang="zh-CN" sz="600" dirty="0" smtClean="0"/>
              <a:t>EI</a:t>
            </a:r>
            <a:r>
              <a:rPr lang="zh-CN" altLang="en-US" sz="600" dirty="0" smtClean="0"/>
              <a:t>、</a:t>
            </a:r>
            <a:r>
              <a:rPr lang="en-US" altLang="zh-CN" sz="600" dirty="0"/>
              <a:t>ISTP </a:t>
            </a:r>
            <a:r>
              <a:rPr lang="en-US" altLang="zh-CN" sz="600" dirty="0" smtClean="0"/>
              <a:t>)</a:t>
            </a:r>
            <a:endParaRPr lang="en-US" altLang="zh-CN" sz="600" dirty="0"/>
          </a:p>
          <a:p>
            <a:r>
              <a:rPr lang="zh-CN" altLang="en-US" sz="600" b="1" dirty="0" smtClean="0"/>
              <a:t>三</a:t>
            </a:r>
            <a:r>
              <a:rPr lang="zh-CN" altLang="en-US" sz="600" b="1" dirty="0"/>
              <a:t>次文献</a:t>
            </a:r>
            <a:r>
              <a:rPr lang="en-US" altLang="zh-CN" sz="600" dirty="0"/>
              <a:t>(tertiary document</a:t>
            </a:r>
            <a:r>
              <a:rPr lang="en-US" altLang="zh-CN" sz="600" dirty="0" smtClean="0"/>
              <a:t>)</a:t>
            </a:r>
            <a:r>
              <a:rPr lang="zh-CN" altLang="en-US" sz="600" dirty="0" smtClean="0"/>
              <a:t>：利用</a:t>
            </a:r>
            <a:r>
              <a:rPr lang="zh-CN" altLang="en-US" sz="600" dirty="0"/>
              <a:t>二次文献的基础上，对检索到的一次文献进行广泛、深入的分析研究后，再次加工出来的成果。如综述、述评、进展等。 </a:t>
            </a:r>
            <a:r>
              <a:rPr lang="zh-CN" altLang="en-US" sz="600" dirty="0" smtClean="0"/>
              <a:t> </a:t>
            </a:r>
            <a:r>
              <a:rPr lang="en-US" altLang="zh-CN" sz="600" dirty="0" smtClean="0"/>
              <a:t>(</a:t>
            </a:r>
            <a:r>
              <a:rPr lang="zh-CN" altLang="en-US" sz="600" dirty="0" smtClean="0"/>
              <a:t>如百科全书</a:t>
            </a:r>
            <a:r>
              <a:rPr lang="zh-CN" altLang="en-US" sz="600" dirty="0"/>
              <a:t>、</a:t>
            </a:r>
            <a:r>
              <a:rPr lang="zh-CN" altLang="en-US" sz="600" dirty="0" smtClean="0"/>
              <a:t>年鉴</a:t>
            </a:r>
            <a:r>
              <a:rPr lang="en-US" altLang="zh-CN" sz="600" dirty="0" smtClean="0"/>
              <a:t>)</a:t>
            </a:r>
          </a:p>
          <a:p>
            <a:r>
              <a:rPr lang="zh-CN" altLang="en-US" sz="600" b="1" dirty="0" smtClean="0"/>
              <a:t>出版类型</a:t>
            </a:r>
            <a:r>
              <a:rPr lang="zh-CN" altLang="en-US" sz="600" dirty="0" smtClean="0"/>
              <a:t>：图书</a:t>
            </a:r>
            <a:r>
              <a:rPr lang="en-US" altLang="zh-CN" sz="600" dirty="0"/>
              <a:t>: </a:t>
            </a:r>
            <a:r>
              <a:rPr lang="zh-CN" altLang="en-US" sz="600" dirty="0" smtClean="0"/>
              <a:t>出版社</a:t>
            </a:r>
            <a:r>
              <a:rPr lang="zh-CN" altLang="en-US" sz="600" dirty="0"/>
              <a:t>名称和出版</a:t>
            </a:r>
            <a:r>
              <a:rPr lang="zh-CN" altLang="en-US" sz="600" dirty="0" smtClean="0"/>
              <a:t>年份；   期刊</a:t>
            </a:r>
            <a:r>
              <a:rPr lang="en-US" altLang="zh-CN" sz="600" dirty="0"/>
              <a:t>: </a:t>
            </a:r>
            <a:r>
              <a:rPr lang="zh-CN" altLang="en-US" sz="600" dirty="0" smtClean="0"/>
              <a:t>刊</a:t>
            </a:r>
            <a:r>
              <a:rPr lang="zh-CN" altLang="en-US" sz="600" dirty="0"/>
              <a:t>名、卷、期、页码、月年。 </a:t>
            </a:r>
            <a:r>
              <a:rPr lang="zh-CN" altLang="en-US" sz="600" dirty="0" smtClean="0"/>
              <a:t>         会议</a:t>
            </a:r>
            <a:r>
              <a:rPr lang="zh-CN" altLang="en-US" sz="600" dirty="0"/>
              <a:t>文献</a:t>
            </a:r>
            <a:r>
              <a:rPr lang="en-US" altLang="zh-CN" sz="600" dirty="0"/>
              <a:t>: </a:t>
            </a:r>
            <a:r>
              <a:rPr lang="zh-CN" altLang="en-US" sz="600" dirty="0"/>
              <a:t>包括会议名称、时间、地址、会议录出版单位及其地址、出版年份、会议录提供单位及其地址、页码</a:t>
            </a:r>
            <a:r>
              <a:rPr lang="zh-CN" altLang="en-US" sz="600" dirty="0" smtClean="0"/>
              <a:t>。          标准</a:t>
            </a:r>
            <a:r>
              <a:rPr lang="zh-CN" altLang="en-US" sz="600" dirty="0"/>
              <a:t>文献</a:t>
            </a:r>
            <a:r>
              <a:rPr lang="en-US" altLang="zh-CN" sz="600" dirty="0"/>
              <a:t>: </a:t>
            </a:r>
            <a:r>
              <a:rPr lang="zh-CN" altLang="en-US" sz="600" dirty="0"/>
              <a:t>一般有标准编号</a:t>
            </a:r>
            <a:r>
              <a:rPr lang="zh-CN" altLang="en-US" sz="600" dirty="0" smtClean="0"/>
              <a:t>。</a:t>
            </a:r>
            <a:endParaRPr lang="en-US" altLang="zh-CN" sz="600" dirty="0" smtClean="0"/>
          </a:p>
          <a:p>
            <a:r>
              <a:rPr lang="zh-CN" altLang="en-US" sz="600" dirty="0" smtClean="0"/>
              <a:t>专利</a:t>
            </a:r>
            <a:r>
              <a:rPr lang="zh-CN" altLang="en-US" sz="600" dirty="0"/>
              <a:t>文献</a:t>
            </a:r>
            <a:r>
              <a:rPr lang="en-US" altLang="zh-CN" sz="600" dirty="0"/>
              <a:t>: </a:t>
            </a:r>
            <a:r>
              <a:rPr lang="zh-CN" altLang="en-US" sz="600" dirty="0"/>
              <a:t>有专利国家名称或国家代号、专利号，有的还有出版时间</a:t>
            </a:r>
            <a:r>
              <a:rPr lang="zh-CN" altLang="en-US" sz="600" dirty="0" smtClean="0"/>
              <a:t>。</a:t>
            </a:r>
            <a:endParaRPr lang="en-US" altLang="zh-CN" sz="600" dirty="0" smtClean="0"/>
          </a:p>
          <a:p>
            <a:r>
              <a:rPr lang="zh-CN" altLang="en-US" sz="600" dirty="0" smtClean="0"/>
              <a:t>科技</a:t>
            </a:r>
            <a:r>
              <a:rPr lang="zh-CN" altLang="en-US" sz="600" dirty="0"/>
              <a:t>报告</a:t>
            </a:r>
            <a:r>
              <a:rPr lang="en-US" altLang="zh-CN" sz="600" dirty="0"/>
              <a:t>: </a:t>
            </a:r>
            <a:r>
              <a:rPr lang="zh-CN" altLang="en-US" sz="600" dirty="0"/>
              <a:t>最明显是出处中有报告号，有的有出版时间</a:t>
            </a:r>
            <a:r>
              <a:rPr lang="zh-CN" altLang="en-US" sz="600" dirty="0" smtClean="0"/>
              <a:t>。</a:t>
            </a:r>
            <a:endParaRPr lang="en-US" altLang="zh-CN" sz="600" dirty="0" smtClean="0"/>
          </a:p>
          <a:p>
            <a:r>
              <a:rPr lang="zh-CN" altLang="en-US" sz="600" dirty="0" smtClean="0"/>
              <a:t>学位</a:t>
            </a:r>
            <a:r>
              <a:rPr lang="zh-CN" altLang="en-US" sz="600" dirty="0"/>
              <a:t>论文</a:t>
            </a:r>
            <a:r>
              <a:rPr lang="en-US" altLang="zh-CN" sz="600" dirty="0"/>
              <a:t>: </a:t>
            </a:r>
            <a:r>
              <a:rPr lang="zh-CN" altLang="en-US" sz="600" dirty="0"/>
              <a:t>一般著录学位和学位论文名称</a:t>
            </a:r>
            <a:r>
              <a:rPr lang="en-US" altLang="zh-CN" sz="600" dirty="0"/>
              <a:t>, </a:t>
            </a:r>
            <a:r>
              <a:rPr lang="zh-CN" altLang="en-US" sz="600" dirty="0"/>
              <a:t>颁发的单位及地址、时间</a:t>
            </a:r>
            <a:r>
              <a:rPr lang="zh-CN" altLang="en-US" sz="600" dirty="0" smtClean="0"/>
              <a:t>。</a:t>
            </a:r>
            <a:endParaRPr lang="en-US" altLang="zh-CN" sz="600" dirty="0" smtClean="0"/>
          </a:p>
          <a:p>
            <a:r>
              <a:rPr lang="zh-CN" altLang="en-US" sz="600" b="1" dirty="0" smtClean="0"/>
              <a:t>文献</a:t>
            </a:r>
            <a:r>
              <a:rPr lang="zh-CN" altLang="en-US" sz="600" b="1" dirty="0"/>
              <a:t>出版物类型标识</a:t>
            </a:r>
            <a:r>
              <a:rPr lang="zh-CN" altLang="en-US" sz="600" dirty="0" smtClean="0"/>
              <a:t>：图书</a:t>
            </a:r>
            <a:r>
              <a:rPr lang="zh-CN" altLang="en-US" sz="600" dirty="0"/>
              <a:t>或专著</a:t>
            </a:r>
            <a:r>
              <a:rPr lang="en-US" altLang="zh-CN" sz="600" dirty="0"/>
              <a:t>[M]</a:t>
            </a:r>
            <a:r>
              <a:rPr lang="zh-CN" altLang="en-US" sz="600" dirty="0" smtClean="0"/>
              <a:t>；期刊</a:t>
            </a:r>
            <a:r>
              <a:rPr lang="en-US" altLang="zh-CN" sz="600" dirty="0"/>
              <a:t>[J]</a:t>
            </a:r>
            <a:r>
              <a:rPr lang="zh-CN" altLang="en-US" sz="600" dirty="0" smtClean="0"/>
              <a:t>；论文集</a:t>
            </a:r>
            <a:r>
              <a:rPr lang="en-US" altLang="zh-CN" sz="600" dirty="0"/>
              <a:t>[C]</a:t>
            </a:r>
            <a:r>
              <a:rPr lang="zh-CN" altLang="en-US" sz="600" dirty="0" smtClean="0"/>
              <a:t>；学位</a:t>
            </a:r>
            <a:r>
              <a:rPr lang="zh-CN" altLang="en-US" sz="600" dirty="0"/>
              <a:t>论文</a:t>
            </a:r>
            <a:r>
              <a:rPr lang="en-US" altLang="zh-CN" sz="600" dirty="0"/>
              <a:t>[D]</a:t>
            </a:r>
            <a:r>
              <a:rPr lang="zh-CN" altLang="en-US" sz="600" dirty="0" smtClean="0"/>
              <a:t>；标准</a:t>
            </a:r>
            <a:r>
              <a:rPr lang="en-US" altLang="zh-CN" sz="600" dirty="0"/>
              <a:t>[S]</a:t>
            </a:r>
            <a:r>
              <a:rPr lang="zh-CN" altLang="en-US" sz="600" dirty="0" smtClean="0"/>
              <a:t>；报告</a:t>
            </a:r>
            <a:r>
              <a:rPr lang="en-US" altLang="zh-CN" sz="600" dirty="0"/>
              <a:t>[R]</a:t>
            </a:r>
            <a:r>
              <a:rPr lang="zh-CN" altLang="en-US" sz="600" dirty="0" smtClean="0"/>
              <a:t>；专利</a:t>
            </a:r>
            <a:r>
              <a:rPr lang="en-US" altLang="zh-CN" sz="600" dirty="0"/>
              <a:t>[P]</a:t>
            </a:r>
            <a:r>
              <a:rPr lang="zh-CN" altLang="en-US" sz="600" dirty="0" smtClean="0"/>
              <a:t>；报纸</a:t>
            </a:r>
            <a:r>
              <a:rPr lang="en-US" altLang="zh-CN" sz="600" dirty="0"/>
              <a:t>[N]; </a:t>
            </a:r>
            <a:r>
              <a:rPr lang="zh-CN" altLang="en-US" sz="600" dirty="0" smtClean="0"/>
              <a:t>其它</a:t>
            </a:r>
            <a:r>
              <a:rPr lang="zh-CN" altLang="en-US" sz="600" dirty="0"/>
              <a:t>未说明的文献类型</a:t>
            </a:r>
            <a:r>
              <a:rPr lang="en-US" altLang="zh-CN" sz="600" dirty="0"/>
              <a:t>[Z</a:t>
            </a:r>
            <a:r>
              <a:rPr lang="en-US" altLang="zh-CN" sz="600" dirty="0" smtClean="0"/>
              <a:t>]; </a:t>
            </a:r>
            <a:r>
              <a:rPr lang="zh-CN" altLang="en-US" sz="600" dirty="0" smtClean="0"/>
              <a:t>专著</a:t>
            </a:r>
            <a:r>
              <a:rPr lang="zh-CN" altLang="en-US" sz="600" dirty="0"/>
              <a:t>或论文集的析出文献</a:t>
            </a:r>
            <a:r>
              <a:rPr lang="en-US" altLang="zh-CN" sz="600" dirty="0"/>
              <a:t>[A]</a:t>
            </a:r>
            <a:r>
              <a:rPr lang="zh-CN" altLang="en-US" sz="600" dirty="0"/>
              <a:t>；</a:t>
            </a:r>
          </a:p>
          <a:p>
            <a:r>
              <a:rPr lang="zh-CN" altLang="en-US" sz="600" b="1" dirty="0"/>
              <a:t>电子文献类型标识</a:t>
            </a:r>
            <a:r>
              <a:rPr lang="zh-CN" altLang="en-US" sz="600" dirty="0" smtClean="0"/>
              <a:t>：数据库</a:t>
            </a:r>
            <a:r>
              <a:rPr lang="en-US" altLang="zh-CN" sz="600" dirty="0"/>
              <a:t>[DB]</a:t>
            </a:r>
            <a:r>
              <a:rPr lang="zh-CN" altLang="en-US" sz="600" dirty="0"/>
              <a:t>； </a:t>
            </a:r>
            <a:r>
              <a:rPr lang="zh-CN" altLang="en-US" sz="600" dirty="0" smtClean="0"/>
              <a:t>计算机程序</a:t>
            </a:r>
            <a:r>
              <a:rPr lang="en-US" altLang="zh-CN" sz="600" dirty="0"/>
              <a:t>[CP]</a:t>
            </a:r>
            <a:r>
              <a:rPr lang="zh-CN" altLang="en-US" sz="600" dirty="0" smtClean="0"/>
              <a:t>；电子</a:t>
            </a:r>
            <a:r>
              <a:rPr lang="zh-CN" altLang="en-US" sz="600" dirty="0"/>
              <a:t>公告</a:t>
            </a:r>
            <a:r>
              <a:rPr lang="en-US" altLang="zh-CN" sz="600" dirty="0"/>
              <a:t>[EB]</a:t>
            </a:r>
          </a:p>
          <a:p>
            <a:r>
              <a:rPr lang="zh-CN" altLang="en-US" sz="600" b="1" dirty="0"/>
              <a:t>电子文献的载体类型</a:t>
            </a:r>
            <a:r>
              <a:rPr lang="zh-CN" altLang="en-US" sz="600" b="1" dirty="0" smtClean="0"/>
              <a:t>标识</a:t>
            </a:r>
            <a:r>
              <a:rPr lang="zh-CN" altLang="en-US" sz="600" dirty="0"/>
              <a:t>：</a:t>
            </a:r>
            <a:r>
              <a:rPr lang="zh-CN" altLang="en-US" sz="600" dirty="0" smtClean="0"/>
              <a:t>联机</a:t>
            </a:r>
            <a:r>
              <a:rPr lang="zh-CN" altLang="en-US" sz="600" dirty="0"/>
              <a:t>网上数据库 </a:t>
            </a:r>
            <a:r>
              <a:rPr lang="en-US" altLang="zh-CN" sz="600" dirty="0"/>
              <a:t>[DB/OL]</a:t>
            </a:r>
            <a:r>
              <a:rPr lang="zh-CN" altLang="en-US" sz="600" dirty="0" smtClean="0"/>
              <a:t>；磁带</a:t>
            </a:r>
            <a:r>
              <a:rPr lang="zh-CN" altLang="en-US" sz="600" dirty="0"/>
              <a:t>数据库 </a:t>
            </a:r>
            <a:r>
              <a:rPr lang="en-US" altLang="zh-CN" sz="600" dirty="0"/>
              <a:t>[DB/MT]</a:t>
            </a:r>
            <a:r>
              <a:rPr lang="zh-CN" altLang="en-US" sz="600" dirty="0" smtClean="0"/>
              <a:t>； </a:t>
            </a:r>
          </a:p>
          <a:p>
            <a:r>
              <a:rPr lang="zh-CN" altLang="en-US" sz="600" dirty="0" smtClean="0"/>
              <a:t>光盘图书 </a:t>
            </a:r>
            <a:r>
              <a:rPr lang="en-US" altLang="zh-CN" sz="600" dirty="0" smtClean="0"/>
              <a:t>[M/CD]</a:t>
            </a:r>
            <a:r>
              <a:rPr lang="zh-CN" altLang="en-US" sz="600" dirty="0" smtClean="0"/>
              <a:t>； 磁盘</a:t>
            </a:r>
            <a:r>
              <a:rPr lang="zh-CN" altLang="en-US" sz="600" dirty="0"/>
              <a:t>软件 </a:t>
            </a:r>
            <a:r>
              <a:rPr lang="en-US" altLang="zh-CN" sz="600" dirty="0"/>
              <a:t>[CR/DK]</a:t>
            </a:r>
            <a:r>
              <a:rPr lang="zh-CN" altLang="en-US" sz="600" dirty="0"/>
              <a:t>； </a:t>
            </a:r>
            <a:r>
              <a:rPr lang="zh-CN" altLang="en-US" sz="600" dirty="0" smtClean="0"/>
              <a:t>网上</a:t>
            </a:r>
            <a:r>
              <a:rPr lang="zh-CN" altLang="en-US" sz="600" dirty="0"/>
              <a:t>期刊 </a:t>
            </a:r>
            <a:r>
              <a:rPr lang="en-US" altLang="zh-CN" sz="600" dirty="0"/>
              <a:t>[J/OL]</a:t>
            </a:r>
            <a:r>
              <a:rPr lang="zh-CN" altLang="en-US" sz="600" dirty="0" smtClean="0"/>
              <a:t>；电子</a:t>
            </a:r>
            <a:r>
              <a:rPr lang="zh-CN" altLang="en-US" sz="600" dirty="0"/>
              <a:t>公告 </a:t>
            </a:r>
            <a:r>
              <a:rPr lang="en-US" altLang="zh-CN" sz="600" dirty="0"/>
              <a:t>[EB/OL]</a:t>
            </a:r>
            <a:r>
              <a:rPr lang="zh-CN" altLang="en-US" sz="600" dirty="0" smtClean="0"/>
              <a:t>。</a:t>
            </a:r>
            <a:endParaRPr lang="en-US" altLang="zh-CN" sz="600" dirty="0" smtClean="0"/>
          </a:p>
          <a:p>
            <a:r>
              <a:rPr lang="zh-CN" altLang="en-US" sz="600" b="1" dirty="0"/>
              <a:t>中图分类</a:t>
            </a:r>
            <a:r>
              <a:rPr lang="zh-CN" altLang="en-US" sz="600" b="1" dirty="0" smtClean="0"/>
              <a:t>号</a:t>
            </a:r>
            <a:r>
              <a:rPr lang="zh-CN" altLang="en-US" sz="600" dirty="0" smtClean="0"/>
              <a:t>：采用</a:t>
            </a:r>
            <a:r>
              <a:rPr lang="en-US" altLang="zh-CN" sz="600" dirty="0"/>
              <a:t>《</a:t>
            </a:r>
            <a:r>
              <a:rPr lang="zh-CN" altLang="en-US" sz="600" dirty="0"/>
              <a:t>中国图书馆分类法</a:t>
            </a:r>
            <a:r>
              <a:rPr lang="en-US" altLang="zh-CN" sz="600" dirty="0"/>
              <a:t>》</a:t>
            </a:r>
            <a:r>
              <a:rPr lang="zh-CN" altLang="en-US" sz="600" dirty="0"/>
              <a:t>对文献资料（图书、论文等）依照学科属性和特征，分门别类地进行有序排列而取得的分类代号</a:t>
            </a:r>
            <a:r>
              <a:rPr lang="zh-CN" altLang="en-US" sz="600" dirty="0" smtClean="0"/>
              <a:t>。在</a:t>
            </a:r>
            <a:r>
              <a:rPr lang="en-US" altLang="zh-CN" sz="600" dirty="0"/>
              <a:t>5</a:t>
            </a:r>
            <a:r>
              <a:rPr lang="zh-CN" altLang="en-US" sz="600" dirty="0"/>
              <a:t>个基本部类的基础上分为</a:t>
            </a:r>
            <a:r>
              <a:rPr lang="en-US" altLang="zh-CN" sz="600" dirty="0"/>
              <a:t>22</a:t>
            </a:r>
            <a:r>
              <a:rPr lang="zh-CN" altLang="en-US" sz="600" dirty="0"/>
              <a:t>个大类</a:t>
            </a:r>
            <a:r>
              <a:rPr lang="zh-CN" altLang="en-US" sz="600" dirty="0" smtClean="0"/>
              <a:t>，分别</a:t>
            </a:r>
            <a:r>
              <a:rPr lang="zh-CN" altLang="en-US" sz="600" dirty="0"/>
              <a:t>以拉丁字母</a:t>
            </a:r>
            <a:r>
              <a:rPr lang="en-US" altLang="zh-CN" sz="600" dirty="0"/>
              <a:t>A—Z</a:t>
            </a:r>
            <a:r>
              <a:rPr lang="zh-CN" altLang="en-US" sz="600" dirty="0" smtClean="0"/>
              <a:t>表示，大</a:t>
            </a:r>
            <a:r>
              <a:rPr lang="zh-CN" altLang="en-US" sz="600" dirty="0"/>
              <a:t>类的次序在字母后用数字作标记</a:t>
            </a:r>
            <a:r>
              <a:rPr lang="zh-CN" altLang="en-US" sz="600" dirty="0" smtClean="0"/>
              <a:t>。工业</a:t>
            </a:r>
            <a:r>
              <a:rPr lang="zh-CN" altLang="en-US" sz="600" dirty="0"/>
              <a:t>技术二级类目</a:t>
            </a:r>
            <a:r>
              <a:rPr lang="zh-CN" altLang="en-US" sz="600" dirty="0" smtClean="0"/>
              <a:t>采用双</a:t>
            </a:r>
            <a:r>
              <a:rPr lang="zh-CN" altLang="en-US" sz="600" dirty="0"/>
              <a:t>字母表示</a:t>
            </a:r>
            <a:r>
              <a:rPr lang="zh-CN" altLang="en-US" sz="600" dirty="0" smtClean="0"/>
              <a:t>。</a:t>
            </a:r>
            <a:endParaRPr lang="en-US" altLang="zh-CN" sz="600" dirty="0" smtClean="0"/>
          </a:p>
          <a:p>
            <a:r>
              <a:rPr lang="en-US" altLang="zh-CN" sz="600" dirty="0" smtClean="0"/>
              <a:t>A</a:t>
            </a:r>
            <a:r>
              <a:rPr lang="zh-CN" altLang="en-US" sz="600" dirty="0" smtClean="0"/>
              <a:t>马克思主义</a:t>
            </a:r>
            <a:r>
              <a:rPr lang="zh-CN" altLang="en-US" sz="600" dirty="0"/>
              <a:t>、列宁主义</a:t>
            </a:r>
            <a:r>
              <a:rPr lang="zh-CN" altLang="en-US" sz="600" dirty="0" smtClean="0"/>
              <a:t>、毛泽东思想</a:t>
            </a:r>
            <a:r>
              <a:rPr lang="zh-CN" altLang="en-US" sz="600" dirty="0"/>
              <a:t>、邓小平</a:t>
            </a:r>
            <a:r>
              <a:rPr lang="zh-CN" altLang="en-US" sz="600" dirty="0" smtClean="0"/>
              <a:t>理论</a:t>
            </a:r>
            <a:r>
              <a:rPr lang="en-US" altLang="zh-CN" sz="600" dirty="0" smtClean="0"/>
              <a:t>B</a:t>
            </a:r>
            <a:r>
              <a:rPr lang="zh-CN" altLang="en-US" sz="600" dirty="0" smtClean="0"/>
              <a:t>哲学</a:t>
            </a:r>
            <a:r>
              <a:rPr lang="zh-CN" altLang="en-US" sz="600" dirty="0"/>
              <a:t>、</a:t>
            </a:r>
            <a:r>
              <a:rPr lang="zh-CN" altLang="en-US" sz="600" dirty="0" smtClean="0"/>
              <a:t>宗教</a:t>
            </a:r>
            <a:r>
              <a:rPr lang="en-US" altLang="zh-CN" sz="600" dirty="0" smtClean="0"/>
              <a:t>C</a:t>
            </a:r>
            <a:r>
              <a:rPr lang="zh-CN" altLang="en-US" sz="600" dirty="0" smtClean="0"/>
              <a:t>社会科学总论</a:t>
            </a:r>
            <a:r>
              <a:rPr lang="en-US" altLang="zh-CN" sz="600" dirty="0" smtClean="0"/>
              <a:t>D</a:t>
            </a:r>
            <a:r>
              <a:rPr lang="zh-CN" altLang="en-US" sz="600" dirty="0" smtClean="0"/>
              <a:t>政治</a:t>
            </a:r>
            <a:r>
              <a:rPr lang="zh-CN" altLang="en-US" sz="600" dirty="0"/>
              <a:t>、</a:t>
            </a:r>
            <a:r>
              <a:rPr lang="zh-CN" altLang="en-US" sz="600" dirty="0" smtClean="0"/>
              <a:t>法律</a:t>
            </a:r>
            <a:r>
              <a:rPr lang="en-US" altLang="zh-CN" sz="600" dirty="0" smtClean="0"/>
              <a:t>E</a:t>
            </a:r>
            <a:r>
              <a:rPr lang="zh-CN" altLang="en-US" sz="600" dirty="0" smtClean="0"/>
              <a:t>军事</a:t>
            </a:r>
            <a:r>
              <a:rPr lang="en-US" altLang="zh-CN" sz="600" dirty="0" smtClean="0"/>
              <a:t>F</a:t>
            </a:r>
            <a:r>
              <a:rPr lang="zh-CN" altLang="en-US" sz="600" dirty="0" smtClean="0"/>
              <a:t>经济</a:t>
            </a:r>
            <a:r>
              <a:rPr lang="en-US" altLang="zh-CN" sz="600" dirty="0" smtClean="0"/>
              <a:t>G</a:t>
            </a:r>
            <a:r>
              <a:rPr lang="zh-CN" altLang="en-US" sz="600" dirty="0" smtClean="0"/>
              <a:t>文化</a:t>
            </a:r>
            <a:r>
              <a:rPr lang="zh-CN" altLang="en-US" sz="600" dirty="0"/>
              <a:t>、科学、教育、</a:t>
            </a:r>
            <a:r>
              <a:rPr lang="zh-CN" altLang="en-US" sz="600" dirty="0" smtClean="0"/>
              <a:t>体育</a:t>
            </a:r>
            <a:r>
              <a:rPr lang="en-US" altLang="zh-CN" sz="600" dirty="0" smtClean="0"/>
              <a:t>H</a:t>
            </a:r>
            <a:r>
              <a:rPr lang="zh-CN" altLang="en-US" sz="600" dirty="0" smtClean="0"/>
              <a:t>语言</a:t>
            </a:r>
            <a:r>
              <a:rPr lang="zh-CN" altLang="en-US" sz="600" dirty="0"/>
              <a:t>、</a:t>
            </a:r>
            <a:r>
              <a:rPr lang="zh-CN" altLang="en-US" sz="600" dirty="0" smtClean="0"/>
              <a:t>文字</a:t>
            </a:r>
            <a:r>
              <a:rPr lang="en-US" altLang="zh-CN" sz="600" dirty="0" smtClean="0"/>
              <a:t>I</a:t>
            </a:r>
            <a:r>
              <a:rPr lang="zh-CN" altLang="en-US" sz="600" dirty="0" smtClean="0"/>
              <a:t>文学</a:t>
            </a:r>
            <a:r>
              <a:rPr lang="en-US" altLang="zh-CN" sz="600" dirty="0" smtClean="0"/>
              <a:t>J</a:t>
            </a:r>
            <a:r>
              <a:rPr lang="zh-CN" altLang="en-US" sz="600" dirty="0" smtClean="0"/>
              <a:t>艺术</a:t>
            </a:r>
            <a:r>
              <a:rPr lang="en-US" altLang="zh-CN" sz="600" dirty="0" smtClean="0"/>
              <a:t>K</a:t>
            </a:r>
            <a:r>
              <a:rPr lang="zh-CN" altLang="en-US" sz="600" dirty="0" smtClean="0"/>
              <a:t>历史</a:t>
            </a:r>
            <a:r>
              <a:rPr lang="zh-CN" altLang="en-US" sz="600" dirty="0"/>
              <a:t>、</a:t>
            </a:r>
            <a:r>
              <a:rPr lang="zh-CN" altLang="en-US" sz="600" dirty="0" smtClean="0"/>
              <a:t>地理</a:t>
            </a:r>
            <a:r>
              <a:rPr lang="en-US" altLang="zh-CN" sz="600" dirty="0" smtClean="0"/>
              <a:t>N</a:t>
            </a:r>
            <a:r>
              <a:rPr lang="zh-CN" altLang="en-US" sz="600" dirty="0" smtClean="0"/>
              <a:t>自然科学总论</a:t>
            </a:r>
            <a:r>
              <a:rPr lang="en-US" altLang="zh-CN" sz="600" dirty="0" smtClean="0"/>
              <a:t>O</a:t>
            </a:r>
            <a:r>
              <a:rPr lang="zh-CN" altLang="en-US" sz="600" dirty="0" smtClean="0"/>
              <a:t>数</a:t>
            </a:r>
            <a:r>
              <a:rPr lang="zh-CN" altLang="en-US" sz="600" dirty="0"/>
              <a:t>理科学和</a:t>
            </a:r>
            <a:r>
              <a:rPr lang="zh-CN" altLang="en-US" sz="600" dirty="0" smtClean="0"/>
              <a:t>化学</a:t>
            </a:r>
            <a:r>
              <a:rPr lang="en-US" altLang="zh-CN" sz="600" dirty="0" smtClean="0"/>
              <a:t>P</a:t>
            </a:r>
            <a:r>
              <a:rPr lang="zh-CN" altLang="en-US" sz="600" dirty="0" smtClean="0"/>
              <a:t>天文学</a:t>
            </a:r>
            <a:r>
              <a:rPr lang="zh-CN" altLang="en-US" sz="600" dirty="0"/>
              <a:t>、</a:t>
            </a:r>
            <a:r>
              <a:rPr lang="zh-CN" altLang="en-US" sz="600" dirty="0" smtClean="0"/>
              <a:t>地球科学</a:t>
            </a:r>
            <a:r>
              <a:rPr lang="en-US" altLang="zh-CN" sz="600" dirty="0" smtClean="0"/>
              <a:t>Q</a:t>
            </a:r>
            <a:r>
              <a:rPr lang="zh-CN" altLang="en-US" sz="600" dirty="0" smtClean="0"/>
              <a:t>生物</a:t>
            </a:r>
            <a:r>
              <a:rPr lang="zh-CN" altLang="en-US" sz="600" dirty="0"/>
              <a:t>科学</a:t>
            </a:r>
          </a:p>
          <a:p>
            <a:r>
              <a:rPr lang="en-US" altLang="zh-CN" sz="600" dirty="0" smtClean="0"/>
              <a:t>R</a:t>
            </a:r>
            <a:r>
              <a:rPr lang="zh-CN" altLang="en-US" sz="600" dirty="0" smtClean="0"/>
              <a:t>医药</a:t>
            </a:r>
            <a:r>
              <a:rPr lang="zh-CN" altLang="en-US" sz="600" dirty="0"/>
              <a:t>、</a:t>
            </a:r>
            <a:r>
              <a:rPr lang="zh-CN" altLang="en-US" sz="600" dirty="0" smtClean="0"/>
              <a:t>卫生</a:t>
            </a:r>
            <a:r>
              <a:rPr lang="en-US" altLang="zh-CN" sz="600" dirty="0" smtClean="0"/>
              <a:t>S</a:t>
            </a:r>
            <a:r>
              <a:rPr lang="zh-CN" altLang="en-US" sz="600" dirty="0" smtClean="0"/>
              <a:t>农业科学</a:t>
            </a:r>
            <a:r>
              <a:rPr lang="en-US" altLang="zh-CN" sz="600" dirty="0" smtClean="0"/>
              <a:t>T</a:t>
            </a:r>
            <a:r>
              <a:rPr lang="zh-CN" altLang="en-US" sz="600" dirty="0" smtClean="0"/>
              <a:t>工业技术</a:t>
            </a:r>
            <a:r>
              <a:rPr lang="en-US" altLang="zh-CN" sz="600" dirty="0" smtClean="0"/>
              <a:t>U</a:t>
            </a:r>
            <a:r>
              <a:rPr lang="zh-CN" altLang="en-US" sz="600" dirty="0" smtClean="0"/>
              <a:t>交通运输</a:t>
            </a:r>
            <a:r>
              <a:rPr lang="en-US" altLang="zh-CN" sz="600" dirty="0" smtClean="0"/>
              <a:t>V</a:t>
            </a:r>
            <a:r>
              <a:rPr lang="zh-CN" altLang="en-US" sz="600" dirty="0" smtClean="0"/>
              <a:t>航空</a:t>
            </a:r>
            <a:r>
              <a:rPr lang="zh-CN" altLang="en-US" sz="600" dirty="0"/>
              <a:t>、</a:t>
            </a:r>
            <a:r>
              <a:rPr lang="zh-CN" altLang="en-US" sz="600" dirty="0" smtClean="0"/>
              <a:t>航天</a:t>
            </a:r>
            <a:r>
              <a:rPr lang="en-US" altLang="zh-CN" sz="600" dirty="0" smtClean="0"/>
              <a:t>X</a:t>
            </a:r>
            <a:r>
              <a:rPr lang="zh-CN" altLang="en-US" sz="600" dirty="0" smtClean="0"/>
              <a:t>环境</a:t>
            </a:r>
            <a:r>
              <a:rPr lang="zh-CN" altLang="en-US" sz="600" dirty="0"/>
              <a:t>科学、安全</a:t>
            </a:r>
            <a:r>
              <a:rPr lang="zh-CN" altLang="en-US" sz="600" dirty="0" smtClean="0"/>
              <a:t>科学</a:t>
            </a:r>
            <a:r>
              <a:rPr lang="en-US" altLang="zh-CN" sz="600" dirty="0" smtClean="0"/>
              <a:t>Z</a:t>
            </a:r>
            <a:r>
              <a:rPr lang="zh-CN" altLang="en-US" sz="600" dirty="0" smtClean="0"/>
              <a:t>综合性图书</a:t>
            </a:r>
            <a:endParaRPr lang="zh-CN" altLang="en-US" sz="600" dirty="0"/>
          </a:p>
        </p:txBody>
      </p:sp>
    </p:spTree>
    <p:extLst>
      <p:ext uri="{BB962C8B-B14F-4D97-AF65-F5344CB8AC3E}">
        <p14:creationId xmlns:p14="http://schemas.microsoft.com/office/powerpoint/2010/main" val="16936091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9955" y="-37406"/>
            <a:ext cx="2530688" cy="10802957"/>
          </a:xfrm>
          <a:prstGeom prst="rect">
            <a:avLst/>
          </a:prstGeom>
          <a:noFill/>
        </p:spPr>
        <p:txBody>
          <a:bodyPr wrap="square" rtlCol="0">
            <a:spAutoFit/>
          </a:bodyPr>
          <a:lstStyle/>
          <a:p>
            <a:r>
              <a:rPr lang="zh-CN" altLang="en-US" sz="600" b="1" dirty="0" smtClean="0">
                <a:latin typeface="+mj-lt"/>
              </a:rPr>
              <a:t>文献</a:t>
            </a:r>
            <a:r>
              <a:rPr lang="zh-CN" altLang="en-US" sz="600" b="1" dirty="0" smtClean="0">
                <a:latin typeface="+mj-lt"/>
              </a:rPr>
              <a:t>综述</a:t>
            </a:r>
            <a:r>
              <a:rPr lang="zh-CN" altLang="en-US" sz="600" dirty="0">
                <a:latin typeface="+mj-lt"/>
              </a:rPr>
              <a:t>：</a:t>
            </a:r>
            <a:r>
              <a:rPr lang="zh-CN" altLang="en-US" sz="600" dirty="0" smtClean="0">
                <a:latin typeface="+mj-lt"/>
              </a:rPr>
              <a:t>对</a:t>
            </a:r>
            <a:r>
              <a:rPr lang="zh-CN" altLang="en-US" sz="600" dirty="0">
                <a:latin typeface="+mj-lt"/>
              </a:rPr>
              <a:t>某一学科、专业或专题的大量文献进行整理筛选、分析研究和综合后提炼而成的一种学术论文，是高度浓缩的文献</a:t>
            </a:r>
            <a:r>
              <a:rPr lang="zh-CN" altLang="en-US" sz="600" dirty="0" smtClean="0">
                <a:latin typeface="+mj-lt"/>
              </a:rPr>
              <a:t>。</a:t>
            </a:r>
            <a:r>
              <a:rPr lang="zh-CN" altLang="en-US" sz="600" dirty="0">
                <a:latin typeface="+mj-lt"/>
              </a:rPr>
              <a:t>文献综述能够反映当前某一领域中某分支学科或重要专题的历史、现状、最新动态，往往能反映出有关问题的新动态、新趋势、新水平、新原理和新技术等等，并提供参考文献</a:t>
            </a:r>
            <a:r>
              <a:rPr lang="zh-CN" altLang="en-US" sz="600" dirty="0" smtClean="0">
                <a:latin typeface="+mj-lt"/>
              </a:rPr>
              <a:t>。要求</a:t>
            </a:r>
            <a:r>
              <a:rPr lang="zh-CN" altLang="en-US" sz="600" dirty="0">
                <a:latin typeface="+mj-lt"/>
              </a:rPr>
              <a:t>对文献资料进行综合分析、归纳整理</a:t>
            </a:r>
            <a:r>
              <a:rPr lang="zh-CN" altLang="en-US" sz="600" dirty="0" smtClean="0">
                <a:latin typeface="+mj-lt"/>
              </a:rPr>
              <a:t>，材料</a:t>
            </a:r>
            <a:r>
              <a:rPr lang="zh-CN" altLang="en-US" sz="600" dirty="0">
                <a:latin typeface="+mj-lt"/>
              </a:rPr>
              <a:t>更精炼明确、更有逻辑层次</a:t>
            </a:r>
            <a:r>
              <a:rPr lang="zh-CN" altLang="en-US" sz="600" dirty="0" smtClean="0">
                <a:latin typeface="+mj-lt"/>
              </a:rPr>
              <a:t>；对</a:t>
            </a:r>
            <a:r>
              <a:rPr lang="zh-CN" altLang="en-US" sz="600" dirty="0">
                <a:latin typeface="+mj-lt"/>
              </a:rPr>
              <a:t>综合整理后的文献进行比较专门的</a:t>
            </a:r>
            <a:r>
              <a:rPr lang="zh-CN" altLang="en-US" sz="600" dirty="0" smtClean="0">
                <a:latin typeface="+mj-lt"/>
              </a:rPr>
              <a:t>、全面</a:t>
            </a:r>
            <a:r>
              <a:rPr lang="zh-CN" altLang="en-US" sz="600" dirty="0">
                <a:latin typeface="+mj-lt"/>
              </a:rPr>
              <a:t>的、深入的、系统客观的论述。</a:t>
            </a:r>
          </a:p>
          <a:p>
            <a:r>
              <a:rPr lang="zh-CN" altLang="en-US" sz="600" b="1" dirty="0" smtClean="0">
                <a:latin typeface="+mj-lt"/>
              </a:rPr>
              <a:t>文献</a:t>
            </a:r>
            <a:r>
              <a:rPr lang="zh-CN" altLang="en-US" sz="600" b="1" dirty="0">
                <a:latin typeface="+mj-lt"/>
              </a:rPr>
              <a:t>综述的</a:t>
            </a:r>
            <a:r>
              <a:rPr lang="zh-CN" altLang="en-US" sz="600" b="1" dirty="0" smtClean="0">
                <a:latin typeface="+mj-lt"/>
              </a:rPr>
              <a:t>内容</a:t>
            </a:r>
            <a:r>
              <a:rPr lang="zh-CN" altLang="en-US" sz="600" dirty="0" smtClean="0">
                <a:latin typeface="+mj-lt"/>
              </a:rPr>
              <a:t>：该</a:t>
            </a:r>
            <a:r>
              <a:rPr lang="zh-CN" altLang="en-US" sz="600" dirty="0">
                <a:latin typeface="+mj-lt"/>
              </a:rPr>
              <a:t>领域的研究</a:t>
            </a:r>
            <a:r>
              <a:rPr lang="zh-CN" altLang="en-US" sz="600" dirty="0" smtClean="0">
                <a:latin typeface="+mj-lt"/>
              </a:rPr>
              <a:t>意义；研究</a:t>
            </a:r>
            <a:r>
              <a:rPr lang="zh-CN" altLang="en-US" sz="600" dirty="0">
                <a:latin typeface="+mj-lt"/>
              </a:rPr>
              <a:t>背景和发展</a:t>
            </a:r>
            <a:r>
              <a:rPr lang="zh-CN" altLang="en-US" sz="600" dirty="0" smtClean="0">
                <a:latin typeface="+mj-lt"/>
              </a:rPr>
              <a:t>脉络</a:t>
            </a:r>
            <a:r>
              <a:rPr lang="zh-CN" altLang="en-US" sz="600" dirty="0">
                <a:latin typeface="+mj-lt"/>
              </a:rPr>
              <a:t>；</a:t>
            </a:r>
            <a:r>
              <a:rPr lang="zh-CN" altLang="en-US" sz="600" dirty="0" smtClean="0">
                <a:latin typeface="+mj-lt"/>
              </a:rPr>
              <a:t>目前</a:t>
            </a:r>
            <a:r>
              <a:rPr lang="zh-CN" altLang="en-US" sz="600" dirty="0">
                <a:latin typeface="+mj-lt"/>
              </a:rPr>
              <a:t>的研究水平、存在问题及可能的</a:t>
            </a:r>
            <a:r>
              <a:rPr lang="zh-CN" altLang="en-US" sz="600" dirty="0" smtClean="0">
                <a:latin typeface="+mj-lt"/>
              </a:rPr>
              <a:t>原因； </a:t>
            </a:r>
            <a:r>
              <a:rPr lang="zh-CN" altLang="en-US" sz="600" dirty="0">
                <a:latin typeface="+mj-lt"/>
              </a:rPr>
              <a:t>进一步的研究课题、发展方向</a:t>
            </a:r>
            <a:r>
              <a:rPr lang="zh-CN" altLang="en-US" sz="600" dirty="0" smtClean="0">
                <a:latin typeface="+mj-lt"/>
              </a:rPr>
              <a:t>概况；作者</a:t>
            </a:r>
            <a:r>
              <a:rPr lang="zh-CN" altLang="en-US" sz="600" dirty="0">
                <a:latin typeface="+mj-lt"/>
              </a:rPr>
              <a:t>的见解和感想</a:t>
            </a:r>
            <a:r>
              <a:rPr lang="zh-CN" altLang="en-US" sz="600" dirty="0" smtClean="0">
                <a:latin typeface="+mj-lt"/>
              </a:rPr>
              <a:t>。</a:t>
            </a:r>
            <a:endParaRPr lang="en-US" altLang="zh-CN" sz="600" dirty="0" smtClean="0">
              <a:latin typeface="+mj-lt"/>
            </a:endParaRPr>
          </a:p>
          <a:p>
            <a:r>
              <a:rPr lang="zh-CN" altLang="en-US" sz="600" b="1" dirty="0">
                <a:latin typeface="+mj-lt"/>
              </a:rPr>
              <a:t>文献综述的</a:t>
            </a:r>
            <a:r>
              <a:rPr lang="zh-CN" altLang="en-US" sz="600" b="1" dirty="0" smtClean="0">
                <a:latin typeface="+mj-lt"/>
              </a:rPr>
              <a:t>作用</a:t>
            </a:r>
            <a:r>
              <a:rPr lang="zh-CN" altLang="en-US" sz="600" dirty="0" smtClean="0">
                <a:latin typeface="+mj-lt"/>
              </a:rPr>
              <a:t>：①历史</a:t>
            </a:r>
            <a:r>
              <a:rPr lang="zh-CN" altLang="en-US" sz="600" dirty="0">
                <a:latin typeface="+mj-lt"/>
              </a:rPr>
              <a:t>沿革</a:t>
            </a:r>
            <a:r>
              <a:rPr lang="en-US" altLang="zh-CN" sz="600" dirty="0">
                <a:latin typeface="+mj-lt"/>
              </a:rPr>
              <a:t>: </a:t>
            </a:r>
            <a:r>
              <a:rPr lang="zh-CN" altLang="en-US" sz="600" dirty="0">
                <a:latin typeface="+mj-lt"/>
              </a:rPr>
              <a:t>采用纵向对比方法，对所研究的问题加以归纳，说明达到的水平</a:t>
            </a:r>
            <a:r>
              <a:rPr lang="zh-CN" altLang="en-US" sz="600" dirty="0" smtClean="0">
                <a:latin typeface="+mj-lt"/>
              </a:rPr>
              <a:t>。②当前状况： </a:t>
            </a:r>
            <a:r>
              <a:rPr lang="zh-CN" altLang="en-US" sz="600" dirty="0">
                <a:latin typeface="+mj-lt"/>
              </a:rPr>
              <a:t>横向对比，把尚未解决的问题或人们对某一问题认识上的歧见加以揭示</a:t>
            </a:r>
            <a:r>
              <a:rPr lang="zh-CN" altLang="en-US" sz="600" dirty="0" smtClean="0">
                <a:latin typeface="+mj-lt"/>
              </a:rPr>
              <a:t>。③发展</a:t>
            </a:r>
            <a:r>
              <a:rPr lang="zh-CN" altLang="en-US" sz="600" dirty="0">
                <a:latin typeface="+mj-lt"/>
              </a:rPr>
              <a:t>趋势</a:t>
            </a:r>
            <a:r>
              <a:rPr lang="zh-CN" altLang="en-US" sz="600" dirty="0" smtClean="0">
                <a:latin typeface="+mj-lt"/>
              </a:rPr>
              <a:t>：给</a:t>
            </a:r>
            <a:r>
              <a:rPr lang="zh-CN" altLang="en-US" sz="600" dirty="0">
                <a:latin typeface="+mj-lt"/>
              </a:rPr>
              <a:t>读者启示，使从事这一课题的工作者能看到未来课题研究的方向</a:t>
            </a:r>
            <a:r>
              <a:rPr lang="zh-CN" altLang="en-US" sz="600" dirty="0" smtClean="0">
                <a:latin typeface="+mj-lt"/>
              </a:rPr>
              <a:t>。</a:t>
            </a:r>
            <a:endParaRPr lang="en-US" altLang="zh-CN" sz="600" dirty="0" smtClean="0">
              <a:latin typeface="+mj-lt"/>
            </a:endParaRPr>
          </a:p>
          <a:p>
            <a:r>
              <a:rPr lang="zh-CN" altLang="en-US" sz="600" b="1" dirty="0">
                <a:latin typeface="+mj-lt"/>
              </a:rPr>
              <a:t>写作文献综述的</a:t>
            </a:r>
            <a:r>
              <a:rPr lang="zh-CN" altLang="en-US" sz="600" b="1" dirty="0" smtClean="0">
                <a:latin typeface="+mj-lt"/>
              </a:rPr>
              <a:t>目的</a:t>
            </a:r>
            <a:r>
              <a:rPr lang="zh-CN" altLang="en-US" sz="600" dirty="0" smtClean="0">
                <a:latin typeface="+mj-lt"/>
              </a:rPr>
              <a:t>：为</a:t>
            </a:r>
            <a:r>
              <a:rPr lang="zh-CN" altLang="en-US" sz="600" dirty="0">
                <a:latin typeface="+mj-lt"/>
              </a:rPr>
              <a:t>科学研究提供科技文献方面的基础和素材</a:t>
            </a:r>
            <a:r>
              <a:rPr lang="zh-CN" altLang="en-US" sz="600" dirty="0" smtClean="0">
                <a:latin typeface="+mj-lt"/>
              </a:rPr>
              <a:t>。①对</a:t>
            </a:r>
            <a:r>
              <a:rPr lang="zh-CN" altLang="en-US" sz="600" dirty="0">
                <a:latin typeface="+mj-lt"/>
              </a:rPr>
              <a:t>初学者而言，文献综述是了解相关主题的研究历史、追踪理论前沿和发现研究问题的主要途径</a:t>
            </a:r>
            <a:r>
              <a:rPr lang="zh-CN" altLang="en-US" sz="600" dirty="0" smtClean="0">
                <a:latin typeface="+mj-lt"/>
              </a:rPr>
              <a:t>。②通过</a:t>
            </a:r>
            <a:r>
              <a:rPr lang="zh-CN" altLang="en-US" sz="600" dirty="0">
                <a:latin typeface="+mj-lt"/>
              </a:rPr>
              <a:t>收集文献资料过程，可进一步熟悉文献的查找方法和资料的积累方法；在查找的过程中同时也扩大了知识面</a:t>
            </a:r>
            <a:r>
              <a:rPr lang="zh-CN" altLang="en-US" sz="600" dirty="0" smtClean="0">
                <a:latin typeface="+mj-lt"/>
              </a:rPr>
              <a:t>。③通过</a:t>
            </a:r>
            <a:r>
              <a:rPr lang="zh-CN" altLang="en-US" sz="600" dirty="0">
                <a:latin typeface="+mj-lt"/>
              </a:rPr>
              <a:t>综述的写作过程，能提高归纳、分析、综合能力，有利于独立工作能力和科研能力的提高</a:t>
            </a:r>
            <a:r>
              <a:rPr lang="zh-CN" altLang="en-US" sz="600" dirty="0" smtClean="0">
                <a:latin typeface="+mj-lt"/>
              </a:rPr>
              <a:t>。</a:t>
            </a:r>
            <a:endParaRPr lang="en-US" altLang="zh-CN" sz="600" dirty="0" smtClean="0">
              <a:latin typeface="+mj-lt"/>
            </a:endParaRPr>
          </a:p>
          <a:p>
            <a:r>
              <a:rPr lang="zh-CN" altLang="en-US" sz="600" b="1" dirty="0">
                <a:latin typeface="+mj-lt"/>
              </a:rPr>
              <a:t>文献综述的</a:t>
            </a:r>
            <a:r>
              <a:rPr lang="zh-CN" altLang="en-US" sz="600" b="1" dirty="0" smtClean="0">
                <a:latin typeface="+mj-lt"/>
              </a:rPr>
              <a:t>分类</a:t>
            </a:r>
            <a:r>
              <a:rPr lang="zh-CN" altLang="en-US" sz="600" dirty="0" smtClean="0">
                <a:latin typeface="+mj-lt"/>
              </a:rPr>
              <a:t>：①动态性综述，就</a:t>
            </a:r>
            <a:r>
              <a:rPr lang="zh-CN" altLang="en-US" sz="600" dirty="0">
                <a:latin typeface="+mj-lt"/>
              </a:rPr>
              <a:t>某一个课题按年代和学科本身历史发展阶段，由远及近地综合分析并反映研究工作的</a:t>
            </a:r>
            <a:r>
              <a:rPr lang="zh-CN" altLang="en-US" sz="600" dirty="0" smtClean="0">
                <a:latin typeface="+mj-lt"/>
              </a:rPr>
              <a:t>进展</a:t>
            </a:r>
            <a:r>
              <a:rPr lang="zh-CN" altLang="en-US" sz="600" dirty="0">
                <a:latin typeface="+mj-lt"/>
              </a:rPr>
              <a:t>，</a:t>
            </a:r>
            <a:r>
              <a:rPr lang="zh-CN" altLang="en-US" sz="600" dirty="0" smtClean="0">
                <a:latin typeface="+mj-lt"/>
              </a:rPr>
              <a:t>按照</a:t>
            </a:r>
            <a:r>
              <a:rPr lang="zh-CN" altLang="en-US" sz="600" dirty="0">
                <a:latin typeface="+mj-lt"/>
              </a:rPr>
              <a:t>时间顺序重点介绍某一课题的阶段性成果。 </a:t>
            </a:r>
            <a:r>
              <a:rPr lang="zh-CN" altLang="en-US" sz="600" dirty="0" smtClean="0">
                <a:latin typeface="+mj-lt"/>
              </a:rPr>
              <a:t>②成就</a:t>
            </a:r>
            <a:r>
              <a:rPr lang="zh-CN" altLang="en-US" sz="600" dirty="0">
                <a:latin typeface="+mj-lt"/>
              </a:rPr>
              <a:t>性</a:t>
            </a:r>
            <a:r>
              <a:rPr lang="zh-CN" altLang="en-US" sz="600" dirty="0" smtClean="0">
                <a:latin typeface="+mj-lt"/>
              </a:rPr>
              <a:t>综述，专门</a:t>
            </a:r>
            <a:r>
              <a:rPr lang="zh-CN" altLang="en-US" sz="600" dirty="0">
                <a:latin typeface="+mj-lt"/>
              </a:rPr>
              <a:t>介绍某课题或某一项目的新成就、新技术和新</a:t>
            </a:r>
            <a:r>
              <a:rPr lang="zh-CN" altLang="en-US" sz="600" dirty="0" smtClean="0">
                <a:latin typeface="+mj-lt"/>
              </a:rPr>
              <a:t>进展</a:t>
            </a:r>
            <a:r>
              <a:rPr lang="zh-CN" altLang="en-US" sz="600" dirty="0">
                <a:latin typeface="+mj-lt"/>
              </a:rPr>
              <a:t>，</a:t>
            </a:r>
            <a:r>
              <a:rPr lang="zh-CN" altLang="en-US" sz="600" dirty="0" smtClean="0">
                <a:latin typeface="+mj-lt"/>
              </a:rPr>
              <a:t>不考虑课题</a:t>
            </a:r>
            <a:r>
              <a:rPr lang="zh-CN" altLang="en-US" sz="600" dirty="0">
                <a:latin typeface="+mj-lt"/>
              </a:rPr>
              <a:t>的历史或现状，而直接介绍所需的内容</a:t>
            </a:r>
            <a:r>
              <a:rPr lang="zh-CN" altLang="en-US" sz="600" dirty="0" smtClean="0">
                <a:latin typeface="+mj-lt"/>
              </a:rPr>
              <a:t>。③简介</a:t>
            </a:r>
            <a:r>
              <a:rPr lang="zh-CN" altLang="en-US" sz="600" dirty="0">
                <a:latin typeface="+mj-lt"/>
              </a:rPr>
              <a:t>性</a:t>
            </a:r>
            <a:r>
              <a:rPr lang="zh-CN" altLang="en-US" sz="600" dirty="0" smtClean="0">
                <a:latin typeface="+mj-lt"/>
              </a:rPr>
              <a:t>综述，对</a:t>
            </a:r>
            <a:r>
              <a:rPr lang="zh-CN" altLang="en-US" sz="600" dirty="0">
                <a:latin typeface="+mj-lt"/>
              </a:rPr>
              <a:t>某一课题多方面的事实、</a:t>
            </a:r>
            <a:r>
              <a:rPr lang="zh-CN" altLang="en-US" sz="600" dirty="0" smtClean="0">
                <a:latin typeface="+mj-lt"/>
              </a:rPr>
              <a:t>现象进行</a:t>
            </a:r>
            <a:r>
              <a:rPr lang="zh-CN" altLang="en-US" sz="600" dirty="0">
                <a:latin typeface="+mj-lt"/>
              </a:rPr>
              <a:t>综合叙述</a:t>
            </a:r>
            <a:r>
              <a:rPr lang="zh-CN" altLang="en-US" sz="600" dirty="0" smtClean="0">
                <a:latin typeface="+mj-lt"/>
              </a:rPr>
              <a:t>，按</a:t>
            </a:r>
            <a:r>
              <a:rPr lang="zh-CN" altLang="en-US" sz="600" dirty="0">
                <a:latin typeface="+mj-lt"/>
              </a:rPr>
              <a:t>内容特点来</a:t>
            </a:r>
            <a:r>
              <a:rPr lang="zh-CN" altLang="en-US" sz="600" dirty="0" smtClean="0">
                <a:latin typeface="+mj-lt"/>
              </a:rPr>
              <a:t>安排</a:t>
            </a:r>
            <a:r>
              <a:rPr lang="zh-CN" altLang="en-US" sz="600" dirty="0">
                <a:latin typeface="+mj-lt"/>
              </a:rPr>
              <a:t>，</a:t>
            </a:r>
            <a:r>
              <a:rPr lang="zh-CN" altLang="en-US" sz="600" dirty="0" smtClean="0">
                <a:latin typeface="+mj-lt"/>
              </a:rPr>
              <a:t>适合于</a:t>
            </a:r>
            <a:r>
              <a:rPr lang="zh-CN" altLang="en-US" sz="600" dirty="0">
                <a:latin typeface="+mj-lt"/>
              </a:rPr>
              <a:t>对某一问题尚未形成定论时使用</a:t>
            </a:r>
            <a:r>
              <a:rPr lang="zh-CN" altLang="en-US" sz="600" dirty="0" smtClean="0">
                <a:latin typeface="+mj-lt"/>
              </a:rPr>
              <a:t>。④争鸣</a:t>
            </a:r>
            <a:r>
              <a:rPr lang="zh-CN" altLang="en-US" sz="600" dirty="0">
                <a:latin typeface="+mj-lt"/>
              </a:rPr>
              <a:t>性</a:t>
            </a:r>
            <a:r>
              <a:rPr lang="zh-CN" altLang="en-US" sz="600" dirty="0" smtClean="0">
                <a:latin typeface="+mj-lt"/>
              </a:rPr>
              <a:t>综述，对</a:t>
            </a:r>
            <a:r>
              <a:rPr lang="zh-CN" altLang="en-US" sz="600" dirty="0">
                <a:latin typeface="+mj-lt"/>
              </a:rPr>
              <a:t>某一课题目前存在的几种学术观点进行分类、归纳和</a:t>
            </a:r>
            <a:r>
              <a:rPr lang="zh-CN" altLang="en-US" sz="600" dirty="0" smtClean="0">
                <a:latin typeface="+mj-lt"/>
              </a:rPr>
              <a:t>总结。按</a:t>
            </a:r>
            <a:r>
              <a:rPr lang="zh-CN" altLang="en-US" sz="600" dirty="0">
                <a:latin typeface="+mj-lt"/>
              </a:rPr>
              <a:t>不同的观点组织材料、分别叙述，多用原文作者列举的事实和观点，少用作者的概括、分析。 </a:t>
            </a:r>
            <a:endParaRPr lang="en-US" altLang="zh-CN" sz="600" dirty="0" smtClean="0">
              <a:latin typeface="+mj-lt"/>
            </a:endParaRPr>
          </a:p>
          <a:p>
            <a:r>
              <a:rPr lang="zh-CN" altLang="en-US" sz="600" b="1" dirty="0">
                <a:latin typeface="+mj-lt"/>
              </a:rPr>
              <a:t>文献综述的</a:t>
            </a:r>
            <a:r>
              <a:rPr lang="zh-CN" altLang="en-US" sz="600" b="1" dirty="0" smtClean="0">
                <a:latin typeface="+mj-lt"/>
              </a:rPr>
              <a:t>主体：</a:t>
            </a:r>
            <a:endParaRPr lang="en-US" altLang="zh-CN" sz="600" b="1" dirty="0" smtClean="0">
              <a:latin typeface="+mj-lt"/>
            </a:endParaRPr>
          </a:p>
          <a:p>
            <a:r>
              <a:rPr lang="zh-CN" altLang="en-US" sz="600" b="1" dirty="0">
                <a:latin typeface="+mj-lt"/>
              </a:rPr>
              <a:t>前言</a:t>
            </a:r>
            <a:r>
              <a:rPr lang="zh-CN" altLang="en-US" sz="600" dirty="0">
                <a:latin typeface="+mj-lt"/>
              </a:rPr>
              <a:t>：说明</a:t>
            </a:r>
            <a:r>
              <a:rPr lang="zh-CN" altLang="en-US" sz="600" dirty="0" smtClean="0">
                <a:latin typeface="+mj-lt"/>
              </a:rPr>
              <a:t>写作目的</a:t>
            </a:r>
            <a:r>
              <a:rPr lang="zh-CN" altLang="en-US" sz="600" dirty="0">
                <a:latin typeface="+mj-lt"/>
              </a:rPr>
              <a:t>，介绍有关的概念、</a:t>
            </a:r>
            <a:r>
              <a:rPr lang="zh-CN" altLang="en-US" sz="600" dirty="0" smtClean="0">
                <a:latin typeface="+mj-lt"/>
              </a:rPr>
              <a:t>定义及</a:t>
            </a:r>
            <a:r>
              <a:rPr lang="zh-CN" altLang="en-US" sz="600" dirty="0">
                <a:latin typeface="+mj-lt"/>
              </a:rPr>
              <a:t>综述的范围，扼要说明有关主题的现状或争论焦点，使读者</a:t>
            </a:r>
            <a:r>
              <a:rPr lang="zh-CN" altLang="en-US" sz="600" dirty="0" smtClean="0">
                <a:latin typeface="+mj-lt"/>
              </a:rPr>
              <a:t>对叙述</a:t>
            </a:r>
            <a:r>
              <a:rPr lang="zh-CN" altLang="en-US" sz="600" dirty="0">
                <a:latin typeface="+mj-lt"/>
              </a:rPr>
              <a:t>的问题</a:t>
            </a:r>
            <a:r>
              <a:rPr lang="zh-CN" altLang="en-US" sz="600" dirty="0" smtClean="0">
                <a:latin typeface="+mj-lt"/>
              </a:rPr>
              <a:t>有初步</a:t>
            </a:r>
            <a:r>
              <a:rPr lang="zh-CN" altLang="en-US" sz="600" dirty="0">
                <a:latin typeface="+mj-lt"/>
              </a:rPr>
              <a:t>的轮廓</a:t>
            </a:r>
            <a:r>
              <a:rPr lang="zh-CN" altLang="en-US" sz="600" dirty="0" smtClean="0">
                <a:latin typeface="+mj-lt"/>
              </a:rPr>
              <a:t>。首先说明</a:t>
            </a:r>
            <a:r>
              <a:rPr lang="zh-CN" altLang="en-US" sz="600" dirty="0">
                <a:latin typeface="+mj-lt"/>
              </a:rPr>
              <a:t>写作目的、研究</a:t>
            </a:r>
            <a:r>
              <a:rPr lang="zh-CN" altLang="en-US" sz="600" dirty="0" smtClean="0">
                <a:latin typeface="+mj-lt"/>
              </a:rPr>
              <a:t>领域，阐述</a:t>
            </a:r>
            <a:r>
              <a:rPr lang="zh-CN" altLang="en-US" sz="600" dirty="0">
                <a:latin typeface="+mj-lt"/>
              </a:rPr>
              <a:t>有关</a:t>
            </a:r>
            <a:r>
              <a:rPr lang="zh-CN" altLang="en-US" sz="600" dirty="0" smtClean="0">
                <a:latin typeface="+mj-lt"/>
              </a:rPr>
              <a:t>概念定义、本</a:t>
            </a:r>
            <a:r>
              <a:rPr lang="zh-CN" altLang="en-US" sz="600" dirty="0">
                <a:latin typeface="+mj-lt"/>
              </a:rPr>
              <a:t>次综述的</a:t>
            </a:r>
            <a:r>
              <a:rPr lang="zh-CN" altLang="en-US" sz="600" dirty="0" smtClean="0">
                <a:latin typeface="+mj-lt"/>
              </a:rPr>
              <a:t>框架。</a:t>
            </a:r>
            <a:endParaRPr lang="en-US" altLang="zh-CN" sz="600" dirty="0" smtClean="0">
              <a:latin typeface="+mj-lt"/>
            </a:endParaRPr>
          </a:p>
          <a:p>
            <a:r>
              <a:rPr lang="zh-CN" altLang="en-US" sz="600" b="1" dirty="0" smtClean="0">
                <a:latin typeface="+mj-lt"/>
              </a:rPr>
              <a:t>主题</a:t>
            </a:r>
            <a:r>
              <a:rPr lang="zh-CN" altLang="en-US" sz="600" dirty="0" smtClean="0">
                <a:latin typeface="+mj-lt"/>
              </a:rPr>
              <a:t>：综述</a:t>
            </a:r>
            <a:r>
              <a:rPr lang="zh-CN" altLang="en-US" sz="600" dirty="0">
                <a:latin typeface="+mj-lt"/>
              </a:rPr>
              <a:t>的主体</a:t>
            </a:r>
            <a:r>
              <a:rPr lang="zh-CN" altLang="en-US" sz="600" dirty="0" smtClean="0">
                <a:latin typeface="+mj-lt"/>
              </a:rPr>
              <a:t>，写法多样。</a:t>
            </a:r>
            <a:r>
              <a:rPr lang="zh-CN" altLang="en-US" sz="600" dirty="0">
                <a:latin typeface="+mj-lt"/>
              </a:rPr>
              <a:t>可按年代</a:t>
            </a:r>
            <a:r>
              <a:rPr lang="zh-CN" altLang="en-US" sz="600" dirty="0" smtClean="0">
                <a:latin typeface="+mj-lt"/>
              </a:rPr>
              <a:t>顺序</a:t>
            </a:r>
            <a:r>
              <a:rPr lang="en-US" altLang="zh-CN" sz="600" dirty="0" smtClean="0">
                <a:latin typeface="+mj-lt"/>
              </a:rPr>
              <a:t>/</a:t>
            </a:r>
            <a:r>
              <a:rPr lang="zh-CN" altLang="en-US" sz="600" dirty="0" smtClean="0">
                <a:latin typeface="+mj-lt"/>
              </a:rPr>
              <a:t>按</a:t>
            </a:r>
            <a:r>
              <a:rPr lang="zh-CN" altLang="en-US" sz="600" dirty="0">
                <a:latin typeface="+mj-lt"/>
              </a:rPr>
              <a:t>不同的</a:t>
            </a:r>
            <a:r>
              <a:rPr lang="zh-CN" altLang="en-US" sz="600" dirty="0" smtClean="0">
                <a:latin typeface="+mj-lt"/>
              </a:rPr>
              <a:t>问题</a:t>
            </a:r>
            <a:r>
              <a:rPr lang="en-US" altLang="zh-CN" sz="600" dirty="0" smtClean="0">
                <a:latin typeface="+mj-lt"/>
              </a:rPr>
              <a:t>/</a:t>
            </a:r>
            <a:r>
              <a:rPr lang="zh-CN" altLang="en-US" sz="600" dirty="0" smtClean="0">
                <a:latin typeface="+mj-lt"/>
              </a:rPr>
              <a:t>按</a:t>
            </a:r>
            <a:r>
              <a:rPr lang="zh-CN" altLang="en-US" sz="600" dirty="0">
                <a:latin typeface="+mj-lt"/>
              </a:rPr>
              <a:t>不同的观点</a:t>
            </a:r>
            <a:r>
              <a:rPr lang="zh-CN" altLang="en-US" sz="600" dirty="0" smtClean="0">
                <a:latin typeface="+mj-lt"/>
              </a:rPr>
              <a:t>进行综述。将</a:t>
            </a:r>
            <a:r>
              <a:rPr lang="zh-CN" altLang="en-US" sz="600" dirty="0">
                <a:latin typeface="+mj-lt"/>
              </a:rPr>
              <a:t>所搜集到的文献资料进行归纳、整理及分析比较，阐明有关主题的历史背景、现状和发展方向以及对这些问题的评述。主题</a:t>
            </a:r>
            <a:r>
              <a:rPr lang="zh-CN" altLang="en-US" sz="600" dirty="0" smtClean="0">
                <a:latin typeface="+mj-lt"/>
              </a:rPr>
              <a:t>部分特别</a:t>
            </a:r>
            <a:r>
              <a:rPr lang="zh-CN" altLang="en-US" sz="600" dirty="0">
                <a:latin typeface="+mj-lt"/>
              </a:rPr>
              <a:t>注意代表性强、具有科学性和创造性的文献引用和评述</a:t>
            </a:r>
            <a:r>
              <a:rPr lang="zh-CN" altLang="en-US" sz="600" dirty="0" smtClean="0">
                <a:latin typeface="+mj-lt"/>
              </a:rPr>
              <a:t>。</a:t>
            </a:r>
            <a:r>
              <a:rPr lang="zh-CN" altLang="en-US" sz="600" b="1" dirty="0">
                <a:latin typeface="+mj-lt"/>
              </a:rPr>
              <a:t>总结</a:t>
            </a:r>
            <a:r>
              <a:rPr lang="zh-CN" altLang="en-US" sz="600" dirty="0">
                <a:latin typeface="+mj-lt"/>
              </a:rPr>
              <a:t>：将全文主题进行扼要总结，与前言部分呼应，指出现有研究中主要方法的优缺点或认识差距，若作者对所综述的主题已有所研究，最好能提出自己的见解</a:t>
            </a:r>
            <a:r>
              <a:rPr lang="zh-CN" altLang="en-US" sz="600" dirty="0" smtClean="0">
                <a:latin typeface="+mj-lt"/>
              </a:rPr>
              <a:t>。写作</a:t>
            </a:r>
            <a:r>
              <a:rPr lang="zh-CN" altLang="en-US" sz="600" dirty="0">
                <a:latin typeface="+mj-lt"/>
              </a:rPr>
              <a:t>总结应该准确、完整、明确、精练。</a:t>
            </a:r>
          </a:p>
          <a:p>
            <a:r>
              <a:rPr lang="zh-CN" altLang="en-US" sz="600" dirty="0">
                <a:latin typeface="+mj-lt"/>
              </a:rPr>
              <a:t>①本文研究结果说明了什么问题</a:t>
            </a:r>
            <a:r>
              <a:rPr lang="zh-CN" altLang="en-US" sz="600" dirty="0" smtClean="0">
                <a:latin typeface="+mj-lt"/>
              </a:rPr>
              <a:t>；②</a:t>
            </a:r>
            <a:r>
              <a:rPr lang="zh-CN" altLang="en-US" sz="600" dirty="0">
                <a:latin typeface="+mj-lt"/>
              </a:rPr>
              <a:t>对前人有关的看法作了哪些修正、补充、发展、证实或否定</a:t>
            </a:r>
            <a:r>
              <a:rPr lang="zh-CN" altLang="en-US" sz="600" dirty="0" smtClean="0">
                <a:latin typeface="+mj-lt"/>
              </a:rPr>
              <a:t>；③</a:t>
            </a:r>
            <a:r>
              <a:rPr lang="zh-CN" altLang="en-US" sz="600" dirty="0">
                <a:latin typeface="+mj-lt"/>
              </a:rPr>
              <a:t>本文研究的不足之处或遗留未予解决的问题，以及对解决这些问题的</a:t>
            </a:r>
            <a:r>
              <a:rPr lang="zh-CN" altLang="en-US" sz="600" dirty="0" smtClean="0">
                <a:latin typeface="+mj-lt"/>
              </a:rPr>
              <a:t>可能的</a:t>
            </a:r>
            <a:r>
              <a:rPr lang="zh-CN" altLang="en-US" sz="600" dirty="0">
                <a:latin typeface="+mj-lt"/>
              </a:rPr>
              <a:t>关键点和方向。 </a:t>
            </a:r>
            <a:endParaRPr lang="en-US" altLang="zh-CN" sz="600" dirty="0" smtClean="0">
              <a:latin typeface="+mj-lt"/>
            </a:endParaRPr>
          </a:p>
          <a:p>
            <a:r>
              <a:rPr lang="zh-CN" altLang="en-US" sz="600" b="1" dirty="0" smtClean="0">
                <a:latin typeface="+mj-lt"/>
              </a:rPr>
              <a:t>参考</a:t>
            </a:r>
            <a:r>
              <a:rPr lang="zh-CN" altLang="en-US" sz="600" b="1" dirty="0">
                <a:latin typeface="+mj-lt"/>
              </a:rPr>
              <a:t>文献</a:t>
            </a:r>
            <a:r>
              <a:rPr lang="zh-CN" altLang="en-US" sz="600" dirty="0" smtClean="0">
                <a:latin typeface="+mj-lt"/>
              </a:rPr>
              <a:t>：表示</a:t>
            </a:r>
            <a:r>
              <a:rPr lang="zh-CN" altLang="en-US" sz="600" dirty="0">
                <a:latin typeface="+mj-lt"/>
              </a:rPr>
              <a:t>对被引用文献作者的尊重以及引用文献的依据</a:t>
            </a:r>
            <a:r>
              <a:rPr lang="zh-CN" altLang="en-US" sz="600" dirty="0" smtClean="0">
                <a:latin typeface="+mj-lt"/>
              </a:rPr>
              <a:t>，为</a:t>
            </a:r>
            <a:r>
              <a:rPr lang="zh-CN" altLang="en-US" sz="600" dirty="0">
                <a:latin typeface="+mj-lt"/>
              </a:rPr>
              <a:t>读者深入探讨有关问题</a:t>
            </a:r>
            <a:r>
              <a:rPr lang="zh-CN" altLang="en-US" sz="600" dirty="0" smtClean="0">
                <a:latin typeface="+mj-lt"/>
              </a:rPr>
              <a:t>提供文献</a:t>
            </a:r>
            <a:r>
              <a:rPr lang="zh-CN" altLang="en-US" sz="600" dirty="0">
                <a:latin typeface="+mj-lt"/>
              </a:rPr>
              <a:t>查找线索</a:t>
            </a:r>
            <a:r>
              <a:rPr lang="zh-CN" altLang="en-US" sz="600" dirty="0" smtClean="0">
                <a:latin typeface="+mj-lt"/>
              </a:rPr>
              <a:t>。目的：①</a:t>
            </a:r>
            <a:r>
              <a:rPr lang="zh-CN" altLang="en-US" sz="600" dirty="0">
                <a:latin typeface="+mj-lt"/>
              </a:rPr>
              <a:t>反映出真实的科学依据</a:t>
            </a:r>
            <a:r>
              <a:rPr lang="zh-CN" altLang="en-US" sz="600" dirty="0" smtClean="0">
                <a:latin typeface="+mj-lt"/>
              </a:rPr>
              <a:t>；②</a:t>
            </a:r>
            <a:r>
              <a:rPr lang="zh-CN" altLang="en-US" sz="600" dirty="0">
                <a:latin typeface="+mj-lt"/>
              </a:rPr>
              <a:t>体现严肃的科学态度，分清自己与前人的观点或成果</a:t>
            </a:r>
            <a:r>
              <a:rPr lang="zh-CN" altLang="en-US" sz="600" dirty="0" smtClean="0">
                <a:latin typeface="+mj-lt"/>
              </a:rPr>
              <a:t>；③</a:t>
            </a:r>
            <a:r>
              <a:rPr lang="zh-CN" altLang="en-US" sz="600" dirty="0">
                <a:latin typeface="+mj-lt"/>
              </a:rPr>
              <a:t>对前人应有的尊重，同时也指明资料出处，便于读者检索</a:t>
            </a:r>
            <a:r>
              <a:rPr lang="zh-CN" altLang="en-US" sz="600" dirty="0" smtClean="0">
                <a:latin typeface="+mj-lt"/>
              </a:rPr>
              <a:t>。</a:t>
            </a:r>
            <a:endParaRPr lang="en-US" altLang="zh-CN" sz="600" dirty="0" smtClean="0">
              <a:latin typeface="+mj-lt"/>
            </a:endParaRPr>
          </a:p>
          <a:p>
            <a:r>
              <a:rPr lang="zh-CN" altLang="en-US" sz="600" b="1" dirty="0">
                <a:latin typeface="+mj-lt"/>
              </a:rPr>
              <a:t>学位论文的文献</a:t>
            </a:r>
            <a:r>
              <a:rPr lang="zh-CN" altLang="en-US" sz="600" b="1" dirty="0" smtClean="0">
                <a:latin typeface="+mj-lt"/>
              </a:rPr>
              <a:t>综述</a:t>
            </a:r>
            <a:r>
              <a:rPr lang="zh-CN" altLang="en-US" sz="600" dirty="0" smtClean="0">
                <a:latin typeface="+mj-lt"/>
              </a:rPr>
              <a:t>：不是介绍</a:t>
            </a:r>
            <a:r>
              <a:rPr lang="zh-CN" altLang="en-US" sz="600" dirty="0">
                <a:latin typeface="+mj-lt"/>
              </a:rPr>
              <a:t>有关研究历史沿革，而是为了推出自己的论述和模型，核心功能是说明现有的研究状况如何，缺在哪里，我准备</a:t>
            </a:r>
            <a:r>
              <a:rPr lang="zh-CN" altLang="en-US" sz="600" dirty="0" smtClean="0">
                <a:latin typeface="+mj-lt"/>
              </a:rPr>
              <a:t>做的</a:t>
            </a:r>
            <a:r>
              <a:rPr lang="zh-CN" altLang="en-US" sz="600" dirty="0">
                <a:latin typeface="+mj-lt"/>
              </a:rPr>
              <a:t>贡献是什么</a:t>
            </a:r>
            <a:r>
              <a:rPr lang="zh-CN" altLang="en-US" sz="600" dirty="0" smtClean="0">
                <a:latin typeface="+mj-lt"/>
              </a:rPr>
              <a:t>。不强求全面细致、面面俱到</a:t>
            </a:r>
            <a:r>
              <a:rPr lang="zh-CN" altLang="en-US" sz="600" dirty="0">
                <a:latin typeface="+mj-lt"/>
              </a:rPr>
              <a:t>，</a:t>
            </a:r>
            <a:r>
              <a:rPr lang="zh-CN" altLang="en-US" sz="600" dirty="0" smtClean="0">
                <a:latin typeface="+mj-lt"/>
              </a:rPr>
              <a:t>而侧重</a:t>
            </a:r>
            <a:r>
              <a:rPr lang="zh-CN" altLang="en-US" sz="600" dirty="0">
                <a:latin typeface="+mj-lt"/>
              </a:rPr>
              <a:t>介绍与自己的研究直接相关的</a:t>
            </a:r>
            <a:r>
              <a:rPr lang="zh-CN" altLang="en-US" sz="600" dirty="0" smtClean="0">
                <a:latin typeface="+mj-lt"/>
              </a:rPr>
              <a:t>文献。针对</a:t>
            </a:r>
            <a:r>
              <a:rPr lang="zh-CN" altLang="en-US" sz="600" dirty="0">
                <a:latin typeface="+mj-lt"/>
              </a:rPr>
              <a:t>自己拟开展的研究主题、内容，综述现有方法和技术的优缺点、或未解决的问题</a:t>
            </a:r>
            <a:r>
              <a:rPr lang="zh-CN" altLang="en-US" sz="600" dirty="0" smtClean="0">
                <a:latin typeface="+mj-lt"/>
              </a:rPr>
              <a:t>，引出</a:t>
            </a:r>
            <a:r>
              <a:rPr lang="zh-CN" altLang="en-US" sz="600" dirty="0">
                <a:latin typeface="+mj-lt"/>
              </a:rPr>
              <a:t>自己拟解决的问题或对现有方法的改进</a:t>
            </a:r>
            <a:r>
              <a:rPr lang="zh-CN" altLang="en-US" sz="600" dirty="0" smtClean="0">
                <a:latin typeface="+mj-lt"/>
              </a:rPr>
              <a:t>。最后</a:t>
            </a:r>
            <a:r>
              <a:rPr lang="zh-CN" altLang="en-US" sz="600" dirty="0">
                <a:latin typeface="+mj-lt"/>
              </a:rPr>
              <a:t>研究的结果要呼应此部分所铺垫的问题</a:t>
            </a:r>
            <a:r>
              <a:rPr lang="zh-CN" altLang="en-US" sz="600" dirty="0" smtClean="0">
                <a:latin typeface="+mj-lt"/>
              </a:rPr>
              <a:t>。</a:t>
            </a:r>
            <a:endParaRPr lang="en-US" altLang="zh-CN" sz="600" dirty="0" smtClean="0">
              <a:latin typeface="+mj-lt"/>
            </a:endParaRPr>
          </a:p>
          <a:p>
            <a:r>
              <a:rPr lang="zh-CN" altLang="en-US" sz="600" dirty="0" smtClean="0">
                <a:latin typeface="+mj-lt"/>
              </a:rPr>
              <a:t>①搜集</a:t>
            </a:r>
            <a:r>
              <a:rPr lang="zh-CN" altLang="en-US" sz="600" dirty="0">
                <a:latin typeface="+mj-lt"/>
              </a:rPr>
              <a:t>文献应尽量全面，且具有时效性、</a:t>
            </a:r>
            <a:r>
              <a:rPr lang="zh-CN" altLang="en-US" sz="600" dirty="0" smtClean="0">
                <a:latin typeface="+mj-lt"/>
              </a:rPr>
              <a:t>权威性；②所</a:t>
            </a:r>
            <a:r>
              <a:rPr lang="zh-CN" altLang="en-US" sz="600" dirty="0">
                <a:latin typeface="+mj-lt"/>
              </a:rPr>
              <a:t>引用文献的代表性、可靠性和</a:t>
            </a:r>
            <a:r>
              <a:rPr lang="zh-CN" altLang="en-US" sz="600" dirty="0" smtClean="0">
                <a:latin typeface="+mj-lt"/>
              </a:rPr>
              <a:t>科学性；③忠实</a:t>
            </a:r>
            <a:r>
              <a:rPr lang="zh-CN" altLang="en-US" sz="600" dirty="0">
                <a:latin typeface="+mj-lt"/>
              </a:rPr>
              <a:t>于原始文献、评价客观</a:t>
            </a:r>
            <a:r>
              <a:rPr lang="zh-CN" altLang="en-US" sz="600" dirty="0" smtClean="0">
                <a:latin typeface="+mj-lt"/>
              </a:rPr>
              <a:t>公正，不</a:t>
            </a:r>
            <a:r>
              <a:rPr lang="zh-CN" altLang="en-US" sz="600" dirty="0">
                <a:latin typeface="+mj-lt"/>
              </a:rPr>
              <a:t>应该添加个人的观点和评论，不能篡改原始文献的内容</a:t>
            </a:r>
            <a:r>
              <a:rPr lang="zh-CN" altLang="en-US" sz="600" dirty="0" smtClean="0">
                <a:latin typeface="+mj-lt"/>
              </a:rPr>
              <a:t>。④组织</a:t>
            </a:r>
            <a:r>
              <a:rPr lang="zh-CN" altLang="en-US" sz="600" dirty="0">
                <a:latin typeface="+mj-lt"/>
              </a:rPr>
              <a:t>严密逻辑性强，评述要有</a:t>
            </a:r>
            <a:r>
              <a:rPr lang="zh-CN" altLang="en-US" sz="600" dirty="0" smtClean="0">
                <a:latin typeface="+mj-lt"/>
              </a:rPr>
              <a:t>针对性，根据</a:t>
            </a:r>
            <a:r>
              <a:rPr lang="zh-CN" altLang="en-US" sz="600" dirty="0">
                <a:latin typeface="+mj-lt"/>
              </a:rPr>
              <a:t>研究主线组织内容，且注意最后的研究结果要与此部分所铺垫的问题相</a:t>
            </a:r>
            <a:r>
              <a:rPr lang="zh-CN" altLang="en-US" sz="600" dirty="0" smtClean="0">
                <a:latin typeface="+mj-lt"/>
              </a:rPr>
              <a:t>呼应，指出</a:t>
            </a:r>
            <a:r>
              <a:rPr lang="zh-CN" altLang="en-US" sz="600" dirty="0">
                <a:latin typeface="+mj-lt"/>
              </a:rPr>
              <a:t>自己最后解决或克服了怎样的问题、缺点</a:t>
            </a:r>
            <a:r>
              <a:rPr lang="zh-CN" altLang="en-US" sz="600" dirty="0" smtClean="0">
                <a:latin typeface="+mj-lt"/>
              </a:rPr>
              <a:t>。⑤文献</a:t>
            </a:r>
            <a:r>
              <a:rPr lang="zh-CN" altLang="en-US" sz="600" dirty="0">
                <a:latin typeface="+mj-lt"/>
              </a:rPr>
              <a:t>综述的末尾必须著录所引用的参考文献</a:t>
            </a:r>
            <a:r>
              <a:rPr lang="zh-CN" altLang="en-US" sz="600" dirty="0" smtClean="0">
                <a:latin typeface="+mj-lt"/>
              </a:rPr>
              <a:t>，能够</a:t>
            </a:r>
            <a:r>
              <a:rPr lang="zh-CN" altLang="en-US" sz="600" dirty="0">
                <a:latin typeface="+mj-lt"/>
              </a:rPr>
              <a:t>反映文献综述</a:t>
            </a:r>
            <a:r>
              <a:rPr lang="zh-CN" altLang="en-US" sz="600" dirty="0" smtClean="0">
                <a:latin typeface="+mj-lt"/>
              </a:rPr>
              <a:t>主题</a:t>
            </a:r>
            <a:r>
              <a:rPr lang="zh-CN" altLang="en-US" sz="600" dirty="0">
                <a:latin typeface="+mj-lt"/>
              </a:rPr>
              <a:t>，</a:t>
            </a:r>
            <a:r>
              <a:rPr lang="zh-CN" altLang="en-US" sz="600" dirty="0" smtClean="0">
                <a:latin typeface="+mj-lt"/>
              </a:rPr>
              <a:t>作者</a:t>
            </a:r>
            <a:r>
              <a:rPr lang="zh-CN" altLang="en-US" sz="600" dirty="0">
                <a:latin typeface="+mj-lt"/>
              </a:rPr>
              <a:t>直接阅读过的文献</a:t>
            </a:r>
            <a:r>
              <a:rPr lang="zh-CN" altLang="en-US" sz="600" dirty="0" smtClean="0">
                <a:latin typeface="+mj-lt"/>
              </a:rPr>
              <a:t>。</a:t>
            </a:r>
            <a:endParaRPr lang="en-US" altLang="zh-CN" sz="600" dirty="0" smtClean="0">
              <a:latin typeface="+mj-lt"/>
            </a:endParaRPr>
          </a:p>
          <a:p>
            <a:r>
              <a:rPr lang="zh-CN" altLang="en-US" sz="600" b="1" dirty="0" smtClean="0">
                <a:latin typeface="+mj-lt"/>
              </a:rPr>
              <a:t>科技文献结构</a:t>
            </a:r>
            <a:r>
              <a:rPr lang="zh-CN" altLang="en-US" sz="600" dirty="0" smtClean="0">
                <a:latin typeface="+mj-lt"/>
              </a:rPr>
              <a:t>（</a:t>
            </a:r>
            <a:r>
              <a:rPr lang="en-US" altLang="zh-CN" sz="600" dirty="0" smtClean="0">
                <a:latin typeface="+mj-lt"/>
              </a:rPr>
              <a:t>GB7713-87</a:t>
            </a:r>
            <a:r>
              <a:rPr lang="zh-CN" altLang="en-US" sz="600" dirty="0" smtClean="0">
                <a:latin typeface="+mj-lt"/>
              </a:rPr>
              <a:t>）：前置部分</a:t>
            </a:r>
            <a:r>
              <a:rPr lang="en-US" altLang="zh-CN" sz="600" dirty="0" smtClean="0">
                <a:latin typeface="+mj-lt"/>
              </a:rPr>
              <a:t>[</a:t>
            </a:r>
            <a:r>
              <a:rPr lang="zh-CN" altLang="en-US" sz="600" dirty="0" smtClean="0">
                <a:latin typeface="+mj-lt"/>
              </a:rPr>
              <a:t>封面、封二，摘要，关键词，（目录页，插图</a:t>
            </a:r>
            <a:r>
              <a:rPr lang="en-US" altLang="zh-CN" sz="600" dirty="0" smtClean="0">
                <a:latin typeface="+mj-lt"/>
              </a:rPr>
              <a:t>/</a:t>
            </a:r>
            <a:r>
              <a:rPr lang="zh-CN" altLang="en-US" sz="600" dirty="0" smtClean="0">
                <a:latin typeface="+mj-lt"/>
              </a:rPr>
              <a:t>附表清单，符号、缩略语注释表）</a:t>
            </a:r>
            <a:r>
              <a:rPr lang="en-US" altLang="zh-CN" sz="600" dirty="0" smtClean="0">
                <a:latin typeface="+mj-lt"/>
              </a:rPr>
              <a:t>]</a:t>
            </a:r>
            <a:r>
              <a:rPr lang="zh-CN" altLang="en-US" sz="600" dirty="0" smtClean="0">
                <a:latin typeface="+mj-lt"/>
              </a:rPr>
              <a:t>，主体部分</a:t>
            </a:r>
            <a:endParaRPr lang="en-US" altLang="zh-CN" sz="600" dirty="0" smtClean="0">
              <a:latin typeface="+mj-lt"/>
            </a:endParaRPr>
          </a:p>
          <a:p>
            <a:r>
              <a:rPr lang="zh-CN" altLang="en-US" sz="600" b="1" dirty="0">
                <a:latin typeface="+mj-lt"/>
              </a:rPr>
              <a:t>期刊论文基本要素</a:t>
            </a:r>
            <a:r>
              <a:rPr lang="zh-CN" altLang="en-US" sz="600" dirty="0" smtClean="0">
                <a:latin typeface="+mj-lt"/>
              </a:rPr>
              <a:t>：前</a:t>
            </a:r>
            <a:r>
              <a:rPr lang="zh-CN" altLang="en-US" sz="600" dirty="0">
                <a:latin typeface="+mj-lt"/>
              </a:rPr>
              <a:t>置</a:t>
            </a:r>
            <a:r>
              <a:rPr lang="zh-CN" altLang="en-US" sz="600" dirty="0" smtClean="0">
                <a:latin typeface="+mj-lt"/>
              </a:rPr>
              <a:t>部分</a:t>
            </a:r>
            <a:r>
              <a:rPr lang="en-US" altLang="zh-CN" sz="600" dirty="0" smtClean="0">
                <a:latin typeface="+mj-lt"/>
              </a:rPr>
              <a:t>(</a:t>
            </a:r>
            <a:r>
              <a:rPr lang="zh-CN" altLang="en-US" sz="600" dirty="0" smtClean="0">
                <a:latin typeface="+mj-lt"/>
              </a:rPr>
              <a:t>标题 </a:t>
            </a:r>
            <a:r>
              <a:rPr lang="en-US" altLang="zh-CN" sz="600" dirty="0" smtClean="0">
                <a:latin typeface="+mj-lt"/>
              </a:rPr>
              <a:t>Title</a:t>
            </a:r>
            <a:r>
              <a:rPr lang="en-US" altLang="zh-CN" sz="600" dirty="0">
                <a:latin typeface="+mj-lt"/>
              </a:rPr>
              <a:t>,</a:t>
            </a:r>
            <a:r>
              <a:rPr lang="zh-CN" altLang="en-US" sz="600" dirty="0" smtClean="0">
                <a:latin typeface="+mj-lt"/>
              </a:rPr>
              <a:t>作者信息</a:t>
            </a:r>
            <a:r>
              <a:rPr lang="en-US" altLang="zh-CN" sz="600" dirty="0" smtClean="0">
                <a:latin typeface="+mj-lt"/>
              </a:rPr>
              <a:t>Authors</a:t>
            </a:r>
            <a:r>
              <a:rPr lang="en-US" altLang="zh-CN" sz="600" dirty="0">
                <a:latin typeface="+mj-lt"/>
              </a:rPr>
              <a:t>,</a:t>
            </a:r>
            <a:r>
              <a:rPr lang="zh-CN" altLang="en-US" sz="600" dirty="0" smtClean="0">
                <a:latin typeface="+mj-lt"/>
              </a:rPr>
              <a:t>摘要 </a:t>
            </a:r>
            <a:r>
              <a:rPr lang="en-US" altLang="zh-CN" sz="600" dirty="0" smtClean="0">
                <a:latin typeface="+mj-lt"/>
              </a:rPr>
              <a:t>Abstract</a:t>
            </a:r>
            <a:r>
              <a:rPr lang="zh-CN" altLang="en-US" sz="600" dirty="0" smtClean="0">
                <a:latin typeface="+mj-lt"/>
              </a:rPr>
              <a:t>，关键词</a:t>
            </a:r>
            <a:r>
              <a:rPr lang="en-US" altLang="zh-CN" sz="600" dirty="0" smtClean="0">
                <a:latin typeface="+mj-lt"/>
              </a:rPr>
              <a:t>Key Words</a:t>
            </a:r>
            <a:r>
              <a:rPr lang="en-US" altLang="zh-CN" sz="600" dirty="0">
                <a:latin typeface="+mj-lt"/>
              </a:rPr>
              <a:t>)</a:t>
            </a:r>
            <a:r>
              <a:rPr lang="zh-CN" altLang="en-US" sz="600" dirty="0" smtClean="0">
                <a:latin typeface="+mj-lt"/>
              </a:rPr>
              <a:t>，主体部分</a:t>
            </a:r>
            <a:r>
              <a:rPr lang="en-US" altLang="zh-CN" sz="600" dirty="0" smtClean="0">
                <a:latin typeface="+mj-lt"/>
              </a:rPr>
              <a:t>(</a:t>
            </a:r>
            <a:r>
              <a:rPr lang="zh-CN" altLang="en-US" sz="600" dirty="0" smtClean="0">
                <a:latin typeface="+mj-lt"/>
              </a:rPr>
              <a:t>引言</a:t>
            </a:r>
            <a:r>
              <a:rPr lang="en-US" altLang="zh-CN" sz="600" dirty="0" smtClean="0">
                <a:latin typeface="+mj-lt"/>
              </a:rPr>
              <a:t>Introduction</a:t>
            </a:r>
            <a:r>
              <a:rPr lang="zh-CN" altLang="en-US" sz="600" dirty="0" smtClean="0">
                <a:latin typeface="+mj-lt"/>
              </a:rPr>
              <a:t>，研究方法</a:t>
            </a:r>
            <a:r>
              <a:rPr lang="en-US" altLang="zh-CN" sz="600" dirty="0" smtClean="0">
                <a:latin typeface="+mj-lt"/>
              </a:rPr>
              <a:t>Methods</a:t>
            </a:r>
            <a:r>
              <a:rPr lang="zh-CN" altLang="en-US" sz="600" dirty="0" smtClean="0">
                <a:latin typeface="+mj-lt"/>
              </a:rPr>
              <a:t>，结论</a:t>
            </a:r>
            <a:r>
              <a:rPr lang="en-US" altLang="zh-CN" sz="600" dirty="0" err="1" smtClean="0">
                <a:latin typeface="+mj-lt"/>
              </a:rPr>
              <a:t>Results&amp;analysis</a:t>
            </a:r>
            <a:r>
              <a:rPr lang="zh-CN" altLang="en-US" sz="600" dirty="0" smtClean="0">
                <a:latin typeface="+mj-lt"/>
              </a:rPr>
              <a:t>，致谢</a:t>
            </a:r>
            <a:r>
              <a:rPr lang="en-US" altLang="zh-CN" sz="600" dirty="0" smtClean="0">
                <a:latin typeface="+mj-lt"/>
              </a:rPr>
              <a:t>Acknowledgement</a:t>
            </a:r>
            <a:r>
              <a:rPr lang="zh-CN" altLang="en-US" sz="600" dirty="0" smtClean="0">
                <a:latin typeface="+mj-lt"/>
              </a:rPr>
              <a:t>，参考文献</a:t>
            </a:r>
            <a:r>
              <a:rPr lang="en-US" altLang="zh-CN" sz="600" dirty="0" smtClean="0">
                <a:latin typeface="+mj-lt"/>
              </a:rPr>
              <a:t>References)</a:t>
            </a:r>
          </a:p>
          <a:p>
            <a:r>
              <a:rPr lang="zh-CN" altLang="en-US" sz="600" b="1" dirty="0" smtClean="0">
                <a:latin typeface="+mj-lt"/>
              </a:rPr>
              <a:t>创新性</a:t>
            </a:r>
            <a:r>
              <a:rPr lang="en-US" altLang="zh-CN" sz="600" dirty="0" smtClean="0">
                <a:latin typeface="+mj-lt"/>
              </a:rPr>
              <a:t>/</a:t>
            </a:r>
            <a:r>
              <a:rPr lang="zh-CN" altLang="en-US" sz="600" b="1" dirty="0" smtClean="0">
                <a:latin typeface="+mj-lt"/>
              </a:rPr>
              <a:t>创新类型</a:t>
            </a:r>
            <a:r>
              <a:rPr lang="zh-CN" altLang="en-US" sz="600" dirty="0" smtClean="0">
                <a:latin typeface="+mj-lt"/>
              </a:rPr>
              <a:t>：</a:t>
            </a:r>
            <a:r>
              <a:rPr lang="zh-CN" altLang="en-US" sz="600" dirty="0">
                <a:latin typeface="+mj-lt"/>
              </a:rPr>
              <a:t>①</a:t>
            </a:r>
            <a:r>
              <a:rPr lang="zh-CN" altLang="en-US" sz="600" dirty="0" smtClean="0">
                <a:latin typeface="+mj-lt"/>
              </a:rPr>
              <a:t>理论</a:t>
            </a:r>
            <a:r>
              <a:rPr lang="zh-CN" altLang="en-US" sz="600" dirty="0">
                <a:latin typeface="+mj-lt"/>
              </a:rPr>
              <a:t>创新：提出前所未有的新观点、新范畴，特别是形成新原理、新的科学</a:t>
            </a:r>
            <a:r>
              <a:rPr lang="zh-CN" altLang="en-US" sz="600" dirty="0" smtClean="0">
                <a:latin typeface="+mj-lt"/>
              </a:rPr>
              <a:t>体系；②方法</a:t>
            </a:r>
            <a:r>
              <a:rPr lang="zh-CN" altLang="en-US" sz="600" dirty="0">
                <a:latin typeface="+mj-lt"/>
              </a:rPr>
              <a:t>创新：针对具体问题，基于现有理论提出解决的策略、思路、方法、手段等，即方法层次的</a:t>
            </a:r>
            <a:r>
              <a:rPr lang="zh-CN" altLang="en-US" sz="600" dirty="0" smtClean="0">
                <a:latin typeface="+mj-lt"/>
              </a:rPr>
              <a:t>创新；③技术</a:t>
            </a:r>
            <a:r>
              <a:rPr lang="zh-CN" altLang="en-US" sz="600" dirty="0">
                <a:latin typeface="+mj-lt"/>
              </a:rPr>
              <a:t>创新：对前人创立的理论、方法等进行实验验证、工程实现或拓展应用，解决实际技术</a:t>
            </a:r>
            <a:r>
              <a:rPr lang="zh-CN" altLang="en-US" sz="600" dirty="0" smtClean="0">
                <a:latin typeface="+mj-lt"/>
              </a:rPr>
              <a:t>问题；④技术</a:t>
            </a:r>
            <a:r>
              <a:rPr lang="zh-CN" altLang="en-US" sz="600" dirty="0">
                <a:latin typeface="+mj-lt"/>
              </a:rPr>
              <a:t>改进：对前人的技术手段进行改进，提高了系统的功能和性能指标</a:t>
            </a:r>
            <a:r>
              <a:rPr lang="zh-CN" altLang="en-US" sz="600" dirty="0" smtClean="0">
                <a:latin typeface="+mj-lt"/>
              </a:rPr>
              <a:t>等 。</a:t>
            </a:r>
            <a:endParaRPr lang="en-US" altLang="zh-CN" sz="600" dirty="0" smtClean="0">
              <a:latin typeface="+mj-lt"/>
            </a:endParaRPr>
          </a:p>
          <a:p>
            <a:r>
              <a:rPr lang="zh-CN" altLang="en-US" sz="600" b="1" dirty="0" smtClean="0">
                <a:latin typeface="+mj-lt"/>
              </a:rPr>
              <a:t>论文题目要求：</a:t>
            </a:r>
            <a:r>
              <a:rPr lang="en-US" altLang="zh-CN" sz="600" b="1" dirty="0">
                <a:latin typeface="+mj-lt"/>
              </a:rPr>
              <a:t> </a:t>
            </a:r>
            <a:r>
              <a:rPr lang="zh-CN" altLang="en-US" sz="600" b="1" dirty="0" smtClean="0">
                <a:latin typeface="+mj-lt"/>
              </a:rPr>
              <a:t>准确得体</a:t>
            </a:r>
            <a:r>
              <a:rPr lang="zh-CN" altLang="en-US" sz="600" dirty="0">
                <a:latin typeface="+mj-lt"/>
              </a:rPr>
              <a:t>：</a:t>
            </a:r>
            <a:r>
              <a:rPr lang="zh-CN" altLang="en-US" sz="600" dirty="0" smtClean="0">
                <a:latin typeface="+mj-lt"/>
              </a:rPr>
              <a:t>准确表达</a:t>
            </a:r>
            <a:r>
              <a:rPr lang="zh-CN" altLang="en-US" sz="600" dirty="0">
                <a:latin typeface="+mj-lt"/>
              </a:rPr>
              <a:t>论文</a:t>
            </a:r>
            <a:r>
              <a:rPr lang="zh-CN" altLang="en-US" sz="600" dirty="0" smtClean="0">
                <a:latin typeface="+mj-lt"/>
              </a:rPr>
              <a:t>的中心</a:t>
            </a:r>
            <a:r>
              <a:rPr lang="zh-CN" altLang="en-US" sz="600" dirty="0">
                <a:latin typeface="+mj-lt"/>
              </a:rPr>
              <a:t>内容，恰如其分</a:t>
            </a:r>
            <a:r>
              <a:rPr lang="zh-CN" altLang="en-US" sz="600" dirty="0" smtClean="0">
                <a:latin typeface="+mj-lt"/>
              </a:rPr>
              <a:t>地，反映</a:t>
            </a:r>
            <a:r>
              <a:rPr lang="zh-CN" altLang="en-US" sz="600" dirty="0">
                <a:latin typeface="+mj-lt"/>
              </a:rPr>
              <a:t>研究的范围和</a:t>
            </a:r>
            <a:r>
              <a:rPr lang="zh-CN" altLang="en-US" sz="600" dirty="0" smtClean="0">
                <a:latin typeface="+mj-lt"/>
              </a:rPr>
              <a:t>达到的深度。</a:t>
            </a:r>
            <a:r>
              <a:rPr lang="en-US" altLang="zh-CN" sz="600" dirty="0">
                <a:latin typeface="+mj-lt"/>
              </a:rPr>
              <a:t> </a:t>
            </a:r>
            <a:r>
              <a:rPr lang="en-US" altLang="zh-CN" sz="600" dirty="0" smtClean="0">
                <a:latin typeface="+mj-lt"/>
              </a:rPr>
              <a:t>    </a:t>
            </a:r>
          </a:p>
          <a:p>
            <a:r>
              <a:rPr lang="zh-CN" altLang="en-US" sz="600" dirty="0" smtClean="0">
                <a:latin typeface="+mj-lt"/>
              </a:rPr>
              <a:t>例</a:t>
            </a:r>
            <a:r>
              <a:rPr lang="zh-CN" altLang="en-US" sz="600" dirty="0">
                <a:latin typeface="+mj-lt"/>
              </a:rPr>
              <a:t>：题目反映的面大，而实际内容包络的面窄</a:t>
            </a:r>
          </a:p>
          <a:p>
            <a:r>
              <a:rPr lang="en-US" altLang="zh-CN" sz="600" dirty="0" smtClean="0">
                <a:latin typeface="+mj-lt"/>
              </a:rPr>
              <a:t>(</a:t>
            </a:r>
            <a:r>
              <a:rPr lang="zh-CN" altLang="en-US" sz="600" dirty="0" smtClean="0">
                <a:latin typeface="+mj-lt"/>
              </a:rPr>
              <a:t>移动</a:t>
            </a:r>
            <a:r>
              <a:rPr lang="zh-CN" altLang="en-US" sz="600" dirty="0">
                <a:latin typeface="+mj-lt"/>
              </a:rPr>
              <a:t>机器人导航方法的</a:t>
            </a:r>
            <a:r>
              <a:rPr lang="zh-CN" altLang="en-US" sz="600" dirty="0" smtClean="0">
                <a:latin typeface="+mj-lt"/>
              </a:rPr>
              <a:t>研究</a:t>
            </a:r>
            <a:r>
              <a:rPr lang="en-US" altLang="zh-CN" sz="600" dirty="0" smtClean="0">
                <a:latin typeface="+mj-lt"/>
              </a:rPr>
              <a:t>-&gt;</a:t>
            </a:r>
            <a:r>
              <a:rPr lang="zh-CN" altLang="en-US" sz="600" dirty="0" smtClean="0">
                <a:latin typeface="+mj-lt"/>
              </a:rPr>
              <a:t>面向</a:t>
            </a:r>
            <a:r>
              <a:rPr lang="zh-CN" altLang="en-US" sz="600" dirty="0">
                <a:latin typeface="+mj-lt"/>
              </a:rPr>
              <a:t>灾害救援</a:t>
            </a:r>
            <a:r>
              <a:rPr lang="zh-CN" altLang="en-US" sz="600" dirty="0" smtClean="0">
                <a:latin typeface="+mj-lt"/>
              </a:rPr>
              <a:t>的</a:t>
            </a:r>
            <a:r>
              <a:rPr lang="en-US" altLang="zh-CN" sz="600" dirty="0" smtClean="0">
                <a:latin typeface="+mj-lt"/>
              </a:rPr>
              <a:t>xx</a:t>
            </a:r>
            <a:r>
              <a:rPr lang="zh-CN" altLang="en-US" sz="600" dirty="0" smtClean="0">
                <a:latin typeface="+mj-lt"/>
              </a:rPr>
              <a:t>视觉</a:t>
            </a:r>
            <a:r>
              <a:rPr lang="zh-CN" altLang="en-US" sz="600" dirty="0">
                <a:latin typeface="+mj-lt"/>
              </a:rPr>
              <a:t>导航方法</a:t>
            </a:r>
            <a:r>
              <a:rPr lang="zh-CN" altLang="en-US" sz="600" dirty="0" smtClean="0">
                <a:latin typeface="+mj-lt"/>
              </a:rPr>
              <a:t>研究</a:t>
            </a:r>
            <a:r>
              <a:rPr lang="en-US" altLang="zh-CN" sz="600" dirty="0" smtClean="0">
                <a:latin typeface="+mj-lt"/>
              </a:rPr>
              <a:t>)</a:t>
            </a:r>
            <a:endParaRPr lang="zh-CN" altLang="en-US" sz="600" dirty="0">
              <a:latin typeface="+mj-lt"/>
            </a:endParaRPr>
          </a:p>
          <a:p>
            <a:r>
              <a:rPr lang="zh-CN" altLang="en-US" sz="600" dirty="0" smtClean="0">
                <a:latin typeface="+mj-lt"/>
              </a:rPr>
              <a:t>题目</a:t>
            </a:r>
            <a:r>
              <a:rPr lang="zh-CN" altLang="en-US" sz="600" dirty="0">
                <a:latin typeface="+mj-lt"/>
              </a:rPr>
              <a:t>含义不清，令人</a:t>
            </a:r>
            <a:r>
              <a:rPr lang="zh-CN" altLang="en-US" sz="600" dirty="0" smtClean="0">
                <a:latin typeface="+mj-lt"/>
              </a:rPr>
              <a:t>费解</a:t>
            </a:r>
            <a:r>
              <a:rPr lang="en-US" altLang="zh-CN" sz="600" dirty="0" smtClean="0">
                <a:latin typeface="+mj-lt"/>
              </a:rPr>
              <a:t>(</a:t>
            </a:r>
            <a:r>
              <a:rPr lang="zh-CN" altLang="en-US" sz="600" dirty="0" smtClean="0">
                <a:latin typeface="+mj-lt"/>
              </a:rPr>
              <a:t>空间机器人在</a:t>
            </a:r>
            <a:r>
              <a:rPr lang="zh-CN" altLang="en-US" sz="600" dirty="0">
                <a:latin typeface="+mj-lt"/>
              </a:rPr>
              <a:t>轨</a:t>
            </a:r>
            <a:r>
              <a:rPr lang="zh-CN" altLang="en-US" sz="600" dirty="0" smtClean="0">
                <a:latin typeface="+mj-lt"/>
              </a:rPr>
              <a:t>服务动力学研究</a:t>
            </a:r>
            <a:r>
              <a:rPr lang="en-US" altLang="zh-CN" sz="600" dirty="0" smtClean="0">
                <a:latin typeface="+mj-lt"/>
              </a:rPr>
              <a:t>-&gt;</a:t>
            </a:r>
            <a:r>
              <a:rPr lang="zh-CN" altLang="en-US" sz="600" dirty="0" smtClean="0">
                <a:latin typeface="+mj-lt"/>
              </a:rPr>
              <a:t>面向在轨服务的空间机器人系统系统动力学研究</a:t>
            </a:r>
            <a:r>
              <a:rPr lang="en-US" altLang="zh-CN" sz="600" dirty="0" smtClean="0">
                <a:latin typeface="+mj-lt"/>
              </a:rPr>
              <a:t>)</a:t>
            </a:r>
            <a:r>
              <a:rPr lang="zh-CN" altLang="en-US" sz="600" dirty="0" smtClean="0">
                <a:latin typeface="+mj-lt"/>
              </a:rPr>
              <a:t>题目</a:t>
            </a:r>
            <a:r>
              <a:rPr lang="zh-CN" altLang="en-US" sz="600" dirty="0">
                <a:latin typeface="+mj-lt"/>
              </a:rPr>
              <a:t>一般化，不足以反映论文内容的</a:t>
            </a:r>
            <a:r>
              <a:rPr lang="zh-CN" altLang="en-US" sz="600" dirty="0" smtClean="0">
                <a:latin typeface="+mj-lt"/>
              </a:rPr>
              <a:t>特点</a:t>
            </a:r>
            <a:r>
              <a:rPr lang="en-US" altLang="zh-CN" sz="600" dirty="0" smtClean="0">
                <a:latin typeface="+mj-lt"/>
              </a:rPr>
              <a:t>(xx</a:t>
            </a:r>
            <a:r>
              <a:rPr lang="zh-CN" altLang="en-US" sz="600" dirty="0" smtClean="0">
                <a:latin typeface="+mj-lt"/>
              </a:rPr>
              <a:t>设计</a:t>
            </a:r>
            <a:r>
              <a:rPr lang="zh-CN" altLang="en-US" sz="600" dirty="0">
                <a:latin typeface="+mj-lt"/>
              </a:rPr>
              <a:t>与运动控制</a:t>
            </a:r>
            <a:r>
              <a:rPr lang="zh-CN" altLang="en-US" sz="600" dirty="0" smtClean="0">
                <a:latin typeface="+mj-lt"/>
              </a:rPr>
              <a:t>研究</a:t>
            </a:r>
            <a:r>
              <a:rPr lang="en-US" altLang="zh-CN" sz="600" dirty="0" smtClean="0">
                <a:latin typeface="+mj-lt"/>
              </a:rPr>
              <a:t>-&gt;xx</a:t>
            </a:r>
            <a:r>
              <a:rPr lang="zh-CN" altLang="en-US" sz="600" dirty="0" smtClean="0">
                <a:latin typeface="+mj-lt"/>
              </a:rPr>
              <a:t>线性</a:t>
            </a:r>
            <a:r>
              <a:rPr lang="zh-CN" altLang="en-US" sz="600" dirty="0">
                <a:latin typeface="+mj-lt"/>
              </a:rPr>
              <a:t>解耦设计与运动控制</a:t>
            </a:r>
            <a:r>
              <a:rPr lang="zh-CN" altLang="en-US" sz="600" dirty="0" smtClean="0">
                <a:latin typeface="+mj-lt"/>
              </a:rPr>
              <a:t>研究</a:t>
            </a:r>
            <a:r>
              <a:rPr lang="en-US" altLang="zh-CN" sz="600" dirty="0" smtClean="0">
                <a:latin typeface="+mj-lt"/>
              </a:rPr>
              <a:t>)</a:t>
            </a:r>
            <a:r>
              <a:rPr lang="zh-CN" altLang="en-US" sz="600" dirty="0" smtClean="0">
                <a:latin typeface="+mj-lt"/>
              </a:rPr>
              <a:t>不</a:t>
            </a:r>
            <a:r>
              <a:rPr lang="zh-CN" altLang="en-US" sz="600" dirty="0">
                <a:latin typeface="+mj-lt"/>
              </a:rPr>
              <a:t>注意分寸，有意无意</a:t>
            </a:r>
            <a:r>
              <a:rPr lang="zh-CN" altLang="en-US" sz="600" dirty="0" smtClean="0">
                <a:latin typeface="+mj-lt"/>
              </a:rPr>
              <a:t>拔高</a:t>
            </a:r>
            <a:r>
              <a:rPr lang="en-US" altLang="zh-CN" sz="600" dirty="0" smtClean="0">
                <a:latin typeface="+mj-lt"/>
              </a:rPr>
              <a:t>(xx</a:t>
            </a:r>
            <a:r>
              <a:rPr lang="zh-CN" altLang="en-US" sz="600" dirty="0" smtClean="0">
                <a:latin typeface="+mj-lt"/>
              </a:rPr>
              <a:t>的机理</a:t>
            </a:r>
            <a:r>
              <a:rPr lang="en-US" altLang="zh-CN" sz="600" dirty="0" smtClean="0">
                <a:latin typeface="+mj-lt"/>
              </a:rPr>
              <a:t>/</a:t>
            </a:r>
            <a:r>
              <a:rPr lang="zh-CN" altLang="en-US" sz="600" dirty="0" smtClean="0">
                <a:latin typeface="+mj-lt"/>
              </a:rPr>
              <a:t>规律</a:t>
            </a:r>
            <a:r>
              <a:rPr lang="en-US" altLang="zh-CN" sz="600" dirty="0" smtClean="0">
                <a:latin typeface="+mj-lt"/>
              </a:rPr>
              <a:t>-&gt;xx</a:t>
            </a:r>
            <a:r>
              <a:rPr lang="zh-CN" altLang="en-US" sz="600" dirty="0" smtClean="0">
                <a:latin typeface="+mj-lt"/>
              </a:rPr>
              <a:t>现象</a:t>
            </a:r>
            <a:r>
              <a:rPr lang="zh-CN" altLang="en-US" sz="600" dirty="0">
                <a:latin typeface="+mj-lt"/>
              </a:rPr>
              <a:t>的</a:t>
            </a:r>
            <a:r>
              <a:rPr lang="en-US" altLang="zh-CN" sz="600" dirty="0">
                <a:latin typeface="+mj-lt"/>
              </a:rPr>
              <a:t>(</a:t>
            </a:r>
            <a:r>
              <a:rPr lang="zh-CN" altLang="en-US" sz="600" dirty="0">
                <a:latin typeface="+mj-lt"/>
              </a:rPr>
              <a:t>一种</a:t>
            </a:r>
            <a:r>
              <a:rPr lang="en-US" altLang="zh-CN" sz="600" dirty="0">
                <a:latin typeface="+mj-lt"/>
              </a:rPr>
              <a:t>)</a:t>
            </a:r>
            <a:r>
              <a:rPr lang="zh-CN" altLang="en-US" sz="600" dirty="0" smtClean="0">
                <a:latin typeface="+mj-lt"/>
              </a:rPr>
              <a:t>解释</a:t>
            </a:r>
            <a:r>
              <a:rPr lang="en-US" altLang="zh-CN" sz="600" dirty="0">
                <a:latin typeface="+mj-lt"/>
              </a:rPr>
              <a:t>/</a:t>
            </a:r>
            <a:r>
              <a:rPr lang="zh-CN" altLang="en-US" sz="600" dirty="0" smtClean="0">
                <a:latin typeface="+mj-lt"/>
              </a:rPr>
              <a:t>机制</a:t>
            </a:r>
            <a:r>
              <a:rPr lang="en-US" altLang="zh-CN" sz="600" dirty="0" smtClean="0">
                <a:latin typeface="+mj-lt"/>
              </a:rPr>
              <a:t>)</a:t>
            </a:r>
          </a:p>
          <a:p>
            <a:r>
              <a:rPr lang="zh-CN" altLang="en-US" sz="600" b="1" dirty="0" smtClean="0">
                <a:latin typeface="+mj-lt"/>
              </a:rPr>
              <a:t>简短精炼</a:t>
            </a:r>
            <a:r>
              <a:rPr lang="zh-CN" altLang="en-US" sz="600" dirty="0">
                <a:latin typeface="+mj-lt"/>
              </a:rPr>
              <a:t>：</a:t>
            </a:r>
            <a:r>
              <a:rPr lang="zh-CN" altLang="en-US" sz="600" dirty="0" smtClean="0">
                <a:latin typeface="+mj-lt"/>
              </a:rPr>
              <a:t>① </a:t>
            </a:r>
            <a:r>
              <a:rPr lang="zh-CN" altLang="en-US" sz="600" dirty="0">
                <a:latin typeface="+mj-lt"/>
              </a:rPr>
              <a:t>尽可能删去多余的</a:t>
            </a:r>
            <a:r>
              <a:rPr lang="zh-CN" altLang="en-US" sz="600" dirty="0" smtClean="0">
                <a:latin typeface="+mj-lt"/>
              </a:rPr>
              <a:t>词语；② 避免同义词</a:t>
            </a:r>
            <a:r>
              <a:rPr lang="zh-CN" altLang="en-US" sz="600" dirty="0">
                <a:latin typeface="+mj-lt"/>
              </a:rPr>
              <a:t>或近义词连用</a:t>
            </a:r>
          </a:p>
          <a:p>
            <a:r>
              <a:rPr lang="zh-CN" altLang="en-US" sz="600" dirty="0">
                <a:latin typeface="+mj-lt"/>
              </a:rPr>
              <a:t>③ 题名不易简化时，可用加副题</a:t>
            </a:r>
            <a:r>
              <a:rPr lang="zh-CN" altLang="en-US" sz="600" dirty="0" smtClean="0">
                <a:latin typeface="+mj-lt"/>
              </a:rPr>
              <a:t>名。一般</a:t>
            </a:r>
            <a:r>
              <a:rPr lang="zh-CN" altLang="en-US" sz="600" dirty="0">
                <a:latin typeface="+mj-lt"/>
              </a:rPr>
              <a:t>不宜</a:t>
            </a:r>
            <a:r>
              <a:rPr lang="zh-CN" altLang="en-US" sz="600" dirty="0" smtClean="0">
                <a:latin typeface="+mj-lt"/>
              </a:rPr>
              <a:t>超过</a:t>
            </a:r>
            <a:r>
              <a:rPr lang="en-US" altLang="zh-CN" sz="600" dirty="0" smtClean="0">
                <a:latin typeface="+mj-lt"/>
              </a:rPr>
              <a:t>25</a:t>
            </a:r>
            <a:r>
              <a:rPr lang="zh-CN" altLang="en-US" sz="600" dirty="0" smtClean="0">
                <a:latin typeface="+mj-lt"/>
              </a:rPr>
              <a:t>字</a:t>
            </a:r>
            <a:r>
              <a:rPr lang="en-US" altLang="zh-CN" sz="600" dirty="0" smtClean="0">
                <a:latin typeface="+mj-lt"/>
              </a:rPr>
              <a:t>(</a:t>
            </a:r>
            <a:r>
              <a:rPr lang="en-US" altLang="zh-CN" sz="600" dirty="0"/>
              <a:t>GB7713.1-2006</a:t>
            </a:r>
            <a:r>
              <a:rPr lang="zh-CN" altLang="en-US" sz="600" dirty="0"/>
              <a:t> </a:t>
            </a:r>
            <a:r>
              <a:rPr lang="en-US" altLang="zh-CN" sz="600" dirty="0" smtClean="0">
                <a:latin typeface="+mj-lt"/>
              </a:rPr>
              <a:t>),</a:t>
            </a:r>
            <a:r>
              <a:rPr lang="zh-CN" altLang="en-US" sz="600" dirty="0" smtClean="0">
                <a:latin typeface="+mj-lt"/>
              </a:rPr>
              <a:t>准确</a:t>
            </a:r>
            <a:r>
              <a:rPr lang="zh-CN" altLang="en-US" sz="600" dirty="0">
                <a:latin typeface="+mj-lt"/>
              </a:rPr>
              <a:t>地</a:t>
            </a:r>
            <a:r>
              <a:rPr lang="zh-CN" altLang="en-US" sz="600" dirty="0" smtClean="0">
                <a:latin typeface="+mj-lt"/>
              </a:rPr>
              <a:t>反映最主要</a:t>
            </a:r>
            <a:r>
              <a:rPr lang="zh-CN" altLang="en-US" sz="600" dirty="0">
                <a:latin typeface="+mj-lt"/>
              </a:rPr>
              <a:t>的</a:t>
            </a:r>
            <a:r>
              <a:rPr lang="zh-CN" altLang="en-US" sz="600" dirty="0" smtClean="0">
                <a:latin typeface="+mj-lt"/>
              </a:rPr>
              <a:t>特定</a:t>
            </a:r>
            <a:r>
              <a:rPr lang="zh-CN" altLang="en-US" sz="600" dirty="0">
                <a:latin typeface="+mj-lt"/>
              </a:rPr>
              <a:t>内容”的前提下，题目字数越少越好。</a:t>
            </a:r>
          </a:p>
          <a:p>
            <a:r>
              <a:rPr lang="zh-CN" altLang="en-US" sz="600" dirty="0" smtClean="0">
                <a:latin typeface="+mj-lt"/>
              </a:rPr>
              <a:t>采用</a:t>
            </a:r>
            <a:r>
              <a:rPr lang="zh-CN" altLang="en-US" sz="600" dirty="0">
                <a:latin typeface="+mj-lt"/>
              </a:rPr>
              <a:t>副题名的</a:t>
            </a:r>
            <a:r>
              <a:rPr lang="zh-CN" altLang="en-US" sz="600" dirty="0" smtClean="0">
                <a:latin typeface="+mj-lt"/>
              </a:rPr>
              <a:t>场合</a:t>
            </a:r>
            <a:r>
              <a:rPr lang="zh-CN" altLang="en-US" sz="600" dirty="0">
                <a:latin typeface="+mj-lt"/>
              </a:rPr>
              <a:t>：</a:t>
            </a:r>
            <a:r>
              <a:rPr lang="zh-CN" altLang="en-US" sz="600" dirty="0" smtClean="0">
                <a:latin typeface="+mj-lt"/>
              </a:rPr>
              <a:t>① </a:t>
            </a:r>
            <a:r>
              <a:rPr lang="zh-CN" altLang="en-US" sz="600" dirty="0">
                <a:latin typeface="+mj-lt"/>
              </a:rPr>
              <a:t>题名语意未尽</a:t>
            </a:r>
            <a:r>
              <a:rPr lang="zh-CN" altLang="en-US" sz="600" dirty="0" smtClean="0">
                <a:latin typeface="+mj-lt"/>
              </a:rPr>
              <a:t>，副题</a:t>
            </a:r>
            <a:r>
              <a:rPr lang="zh-CN" altLang="en-US" sz="600" dirty="0">
                <a:latin typeface="+mj-lt"/>
              </a:rPr>
              <a:t>名补充</a:t>
            </a:r>
            <a:r>
              <a:rPr lang="zh-CN" altLang="en-US" sz="600" dirty="0" smtClean="0">
                <a:latin typeface="+mj-lt"/>
              </a:rPr>
              <a:t>说明特定</a:t>
            </a:r>
            <a:r>
              <a:rPr lang="zh-CN" altLang="en-US" sz="600" dirty="0">
                <a:latin typeface="+mj-lt"/>
              </a:rPr>
              <a:t>内容</a:t>
            </a:r>
            <a:r>
              <a:rPr lang="zh-CN" altLang="en-US" sz="600" dirty="0" smtClean="0">
                <a:latin typeface="+mj-lt"/>
              </a:rPr>
              <a:t>。② </a:t>
            </a:r>
            <a:r>
              <a:rPr lang="zh-CN" altLang="en-US" sz="600" dirty="0">
                <a:latin typeface="+mj-lt"/>
              </a:rPr>
              <a:t>一系列研究工作形成几篇论文，或者是分阶段的研究结果</a:t>
            </a:r>
            <a:r>
              <a:rPr lang="zh-CN" altLang="en-US" sz="600" dirty="0" smtClean="0">
                <a:latin typeface="+mj-lt"/>
              </a:rPr>
              <a:t>，用</a:t>
            </a:r>
            <a:r>
              <a:rPr lang="zh-CN" altLang="en-US" sz="600" dirty="0">
                <a:latin typeface="+mj-lt"/>
              </a:rPr>
              <a:t>不同的副题名区别其特定内容</a:t>
            </a:r>
            <a:r>
              <a:rPr lang="zh-CN" altLang="en-US" sz="600" dirty="0" smtClean="0">
                <a:latin typeface="+mj-lt"/>
              </a:rPr>
              <a:t>。③ </a:t>
            </a:r>
            <a:r>
              <a:rPr lang="zh-CN" altLang="en-US" sz="600" dirty="0">
                <a:latin typeface="+mj-lt"/>
              </a:rPr>
              <a:t>其他有</a:t>
            </a:r>
            <a:r>
              <a:rPr lang="zh-CN" altLang="en-US" sz="600" dirty="0" smtClean="0">
                <a:latin typeface="+mj-lt"/>
              </a:rPr>
              <a:t>必要作为</a:t>
            </a:r>
            <a:r>
              <a:rPr lang="zh-CN" altLang="en-US" sz="600" dirty="0">
                <a:latin typeface="+mj-lt"/>
              </a:rPr>
              <a:t>引伸或说明的情况等</a:t>
            </a:r>
            <a:r>
              <a:rPr lang="zh-CN" altLang="en-US" sz="600" dirty="0" smtClean="0">
                <a:latin typeface="+mj-lt"/>
              </a:rPr>
              <a:t>。</a:t>
            </a:r>
            <a:endParaRPr lang="en-US" altLang="zh-CN" sz="600" dirty="0" smtClean="0">
              <a:latin typeface="+mj-lt"/>
            </a:endParaRPr>
          </a:p>
          <a:p>
            <a:r>
              <a:rPr lang="zh-CN" altLang="en-US" sz="600" b="1" dirty="0" smtClean="0">
                <a:latin typeface="+mj-lt"/>
              </a:rPr>
              <a:t>便于检索</a:t>
            </a:r>
            <a:r>
              <a:rPr lang="zh-CN" altLang="en-US" sz="600" dirty="0" smtClean="0">
                <a:latin typeface="+mj-lt"/>
              </a:rPr>
              <a:t>：题目</a:t>
            </a:r>
            <a:r>
              <a:rPr lang="zh-CN" altLang="en-US" sz="600" dirty="0">
                <a:latin typeface="+mj-lt"/>
              </a:rPr>
              <a:t>所用</a:t>
            </a:r>
            <a:r>
              <a:rPr lang="zh-CN" altLang="en-US" sz="600" dirty="0" smtClean="0">
                <a:latin typeface="+mj-lt"/>
              </a:rPr>
              <a:t>词语有助于</a:t>
            </a:r>
            <a:r>
              <a:rPr lang="zh-CN" altLang="en-US" sz="600" dirty="0">
                <a:latin typeface="+mj-lt"/>
              </a:rPr>
              <a:t>选定关键词和编制题录、索引等二次文献，以便为检索提供特定的实用信息。题目一定要有反映文章内容的关键词，关键词多一些</a:t>
            </a:r>
            <a:r>
              <a:rPr lang="zh-CN" altLang="en-US" sz="600" dirty="0" smtClean="0">
                <a:latin typeface="+mj-lt"/>
              </a:rPr>
              <a:t>，避免笼统空泛，注意</a:t>
            </a:r>
            <a:r>
              <a:rPr lang="zh-CN" altLang="en-US" sz="600" dirty="0">
                <a:latin typeface="+mj-lt"/>
              </a:rPr>
              <a:t>点明论文的学科范围。</a:t>
            </a:r>
          </a:p>
          <a:p>
            <a:r>
              <a:rPr lang="zh-CN" altLang="en-US" sz="600" b="1" dirty="0" smtClean="0">
                <a:latin typeface="+mj-lt"/>
              </a:rPr>
              <a:t>容易认读</a:t>
            </a:r>
            <a:r>
              <a:rPr lang="zh-CN" altLang="en-US" sz="600" dirty="0" smtClean="0">
                <a:latin typeface="+mj-lt"/>
              </a:rPr>
              <a:t>：题目</a:t>
            </a:r>
            <a:r>
              <a:rPr lang="zh-CN" altLang="en-US" sz="600" dirty="0">
                <a:latin typeface="+mj-lt"/>
              </a:rPr>
              <a:t>中应当避免使用非共知共用的缩略词、首字母缩写字、字符、代号等</a:t>
            </a:r>
            <a:r>
              <a:rPr lang="zh-CN" altLang="en-US" sz="600" dirty="0" smtClean="0">
                <a:latin typeface="+mj-lt"/>
              </a:rPr>
              <a:t>。</a:t>
            </a:r>
            <a:r>
              <a:rPr lang="zh-CN" altLang="en-US" sz="600" b="1" dirty="0" smtClean="0">
                <a:latin typeface="+mj-lt"/>
              </a:rPr>
              <a:t>效果醒目</a:t>
            </a:r>
            <a:r>
              <a:rPr lang="zh-CN" altLang="en-US" sz="600" dirty="0" smtClean="0">
                <a:latin typeface="+mj-lt"/>
              </a:rPr>
              <a:t>。</a:t>
            </a:r>
            <a:endParaRPr lang="en-US" altLang="zh-CN" sz="600" dirty="0" smtClean="0">
              <a:latin typeface="+mj-lt"/>
            </a:endParaRPr>
          </a:p>
          <a:p>
            <a:r>
              <a:rPr lang="zh-CN" altLang="en-US" sz="600" b="1" dirty="0" smtClean="0">
                <a:latin typeface="+mj-lt"/>
              </a:rPr>
              <a:t>题目文字</a:t>
            </a:r>
            <a:r>
              <a:rPr lang="zh-CN" altLang="en-US" sz="600" b="1" dirty="0">
                <a:latin typeface="+mj-lt"/>
              </a:rPr>
              <a:t>性</a:t>
            </a:r>
            <a:r>
              <a:rPr lang="zh-CN" altLang="en-US" sz="600" b="1" dirty="0" smtClean="0">
                <a:latin typeface="+mj-lt"/>
              </a:rPr>
              <a:t>要求</a:t>
            </a:r>
            <a:r>
              <a:rPr lang="zh-CN" altLang="en-US" sz="600" dirty="0" smtClean="0">
                <a:latin typeface="+mj-lt"/>
              </a:rPr>
              <a:t>：①结构合理</a:t>
            </a:r>
            <a:r>
              <a:rPr lang="zh-CN" altLang="en-US" sz="600" dirty="0">
                <a:latin typeface="+mj-lt"/>
              </a:rPr>
              <a:t>，尽可能使用偏正</a:t>
            </a:r>
            <a:r>
              <a:rPr lang="zh-CN" altLang="en-US" sz="600" dirty="0" smtClean="0">
                <a:latin typeface="+mj-lt"/>
              </a:rPr>
              <a:t>词组，尽可能</a:t>
            </a:r>
            <a:r>
              <a:rPr lang="zh-CN" altLang="en-US" sz="600" dirty="0">
                <a:latin typeface="+mj-lt"/>
              </a:rPr>
              <a:t>不用动宾</a:t>
            </a:r>
            <a:r>
              <a:rPr lang="zh-CN" altLang="en-US" sz="600" dirty="0" smtClean="0">
                <a:latin typeface="+mj-lt"/>
              </a:rPr>
              <a:t>结构，选用</a:t>
            </a:r>
            <a:r>
              <a:rPr lang="zh-CN" altLang="en-US" sz="600" dirty="0">
                <a:latin typeface="+mj-lt"/>
              </a:rPr>
              <a:t>定语词组的</a:t>
            </a:r>
            <a:r>
              <a:rPr lang="zh-CN" altLang="en-US" sz="600" dirty="0" smtClean="0">
                <a:latin typeface="+mj-lt"/>
              </a:rPr>
              <a:t>类型，避免</a:t>
            </a:r>
            <a:r>
              <a:rPr lang="zh-CN" altLang="en-US" sz="600" dirty="0">
                <a:latin typeface="+mj-lt"/>
              </a:rPr>
              <a:t>结构</a:t>
            </a:r>
            <a:r>
              <a:rPr lang="zh-CN" altLang="en-US" sz="600" dirty="0" smtClean="0">
                <a:latin typeface="+mj-lt"/>
              </a:rPr>
              <a:t>松散；②选词准确</a:t>
            </a:r>
            <a:r>
              <a:rPr lang="zh-CN" altLang="en-US" sz="600" dirty="0">
                <a:latin typeface="+mj-lt"/>
              </a:rPr>
              <a:t>，外延和内涵要</a:t>
            </a:r>
            <a:r>
              <a:rPr lang="zh-CN" altLang="en-US" sz="600" dirty="0" smtClean="0">
                <a:latin typeface="+mj-lt"/>
              </a:rPr>
              <a:t>恰如其分；③详略得当</a:t>
            </a:r>
            <a:r>
              <a:rPr lang="zh-CN" altLang="en-US" sz="600" dirty="0">
                <a:latin typeface="+mj-lt"/>
              </a:rPr>
              <a:t>，保证语句</a:t>
            </a:r>
            <a:r>
              <a:rPr lang="zh-CN" altLang="en-US" sz="600" dirty="0" smtClean="0">
                <a:latin typeface="+mj-lt"/>
              </a:rPr>
              <a:t>通顺</a:t>
            </a:r>
            <a:r>
              <a:rPr lang="zh-CN" altLang="en-US" sz="600" dirty="0">
                <a:latin typeface="+mj-lt"/>
              </a:rPr>
              <a:t>，</a:t>
            </a:r>
            <a:r>
              <a:rPr lang="zh-CN" altLang="en-US" sz="600" dirty="0" smtClean="0">
                <a:latin typeface="+mj-lt"/>
              </a:rPr>
              <a:t>避免</a:t>
            </a:r>
            <a:r>
              <a:rPr lang="zh-CN" altLang="en-US" sz="600" dirty="0">
                <a:latin typeface="+mj-lt"/>
              </a:rPr>
              <a:t>“的”的多用和漏</a:t>
            </a:r>
            <a:r>
              <a:rPr lang="zh-CN" altLang="en-US" sz="600" dirty="0" smtClean="0">
                <a:latin typeface="+mj-lt"/>
              </a:rPr>
              <a:t>用，删去</a:t>
            </a:r>
            <a:r>
              <a:rPr lang="zh-CN" altLang="en-US" sz="600" dirty="0">
                <a:latin typeface="+mj-lt"/>
              </a:rPr>
              <a:t>多余的</a:t>
            </a:r>
            <a:r>
              <a:rPr lang="zh-CN" altLang="en-US" sz="600" dirty="0" smtClean="0">
                <a:latin typeface="+mj-lt"/>
              </a:rPr>
              <a:t>词语，不能</a:t>
            </a:r>
            <a:r>
              <a:rPr lang="zh-CN" altLang="en-US" sz="600" dirty="0">
                <a:latin typeface="+mj-lt"/>
              </a:rPr>
              <a:t>随便省略</a:t>
            </a:r>
            <a:r>
              <a:rPr lang="zh-CN" altLang="en-US" sz="600" dirty="0" smtClean="0">
                <a:latin typeface="+mj-lt"/>
              </a:rPr>
              <a:t>词语；④语序正确</a:t>
            </a:r>
            <a:r>
              <a:rPr lang="zh-CN" altLang="en-US" sz="600" dirty="0">
                <a:latin typeface="+mj-lt"/>
              </a:rPr>
              <a:t>，避免语意</a:t>
            </a:r>
            <a:r>
              <a:rPr lang="zh-CN" altLang="en-US" sz="600" dirty="0" smtClean="0">
                <a:latin typeface="+mj-lt"/>
              </a:rPr>
              <a:t>混乱（计算机辅助</a:t>
            </a:r>
            <a:r>
              <a:rPr lang="zh-CN" altLang="en-US" sz="600" dirty="0">
                <a:latin typeface="+mj-lt"/>
              </a:rPr>
              <a:t>机床几何精度</a:t>
            </a:r>
            <a:r>
              <a:rPr lang="zh-CN" altLang="en-US" sz="600" dirty="0" smtClean="0">
                <a:latin typeface="+mj-lt"/>
              </a:rPr>
              <a:t>测试</a:t>
            </a:r>
            <a:r>
              <a:rPr lang="en-US" altLang="zh-CN" sz="600" dirty="0" smtClean="0">
                <a:latin typeface="+mj-lt"/>
              </a:rPr>
              <a:t>-&gt;</a:t>
            </a:r>
            <a:r>
              <a:rPr lang="zh-CN" altLang="en-US" sz="600" dirty="0" smtClean="0">
                <a:latin typeface="+mj-lt"/>
              </a:rPr>
              <a:t>机床</a:t>
            </a:r>
            <a:r>
              <a:rPr lang="zh-CN" altLang="en-US" sz="600" dirty="0">
                <a:latin typeface="+mj-lt"/>
              </a:rPr>
              <a:t>几何精度的</a:t>
            </a:r>
            <a:r>
              <a:rPr lang="zh-CN" altLang="en-US" sz="600" dirty="0" smtClean="0">
                <a:latin typeface="+mj-lt"/>
              </a:rPr>
              <a:t>计算机辅助测试）</a:t>
            </a:r>
            <a:endParaRPr lang="en-US" altLang="zh-CN" sz="600" dirty="0" smtClean="0">
              <a:latin typeface="+mj-lt"/>
            </a:endParaRPr>
          </a:p>
          <a:p>
            <a:r>
              <a:rPr lang="zh-CN" altLang="en-US" sz="600" b="1" dirty="0" smtClean="0">
                <a:latin typeface="+mj-lt"/>
              </a:rPr>
              <a:t>摘要</a:t>
            </a:r>
            <a:r>
              <a:rPr lang="zh-CN" altLang="en-US" sz="600" dirty="0" smtClean="0">
                <a:latin typeface="+mj-lt"/>
              </a:rPr>
              <a:t>：论文</a:t>
            </a:r>
            <a:r>
              <a:rPr lang="zh-CN" altLang="en-US" sz="600" dirty="0">
                <a:latin typeface="+mj-lt"/>
              </a:rPr>
              <a:t>内容的浓缩，汇集了论文的精华并涵盖全部</a:t>
            </a:r>
            <a:r>
              <a:rPr lang="zh-CN" altLang="en-US" sz="600" dirty="0" smtClean="0">
                <a:latin typeface="+mj-lt"/>
              </a:rPr>
              <a:t>信息</a:t>
            </a:r>
            <a:r>
              <a:rPr lang="en-US" altLang="zh-CN" sz="600" dirty="0" smtClean="0">
                <a:latin typeface="+mj-lt"/>
              </a:rPr>
              <a:t>(GB7713.1-2006)</a:t>
            </a:r>
            <a:r>
              <a:rPr lang="zh-CN" altLang="en-US" sz="600" dirty="0" smtClean="0">
                <a:latin typeface="+mj-lt"/>
              </a:rPr>
              <a:t> 具有</a:t>
            </a:r>
            <a:r>
              <a:rPr lang="zh-CN" altLang="en-US" sz="600" dirty="0">
                <a:latin typeface="+mj-lt"/>
              </a:rPr>
              <a:t>独立性和自含性，即不阅读全文，就能获得必要信息</a:t>
            </a:r>
            <a:r>
              <a:rPr lang="zh-CN" altLang="en-US" sz="600" dirty="0" smtClean="0">
                <a:latin typeface="+mj-lt"/>
              </a:rPr>
              <a:t>。</a:t>
            </a:r>
            <a:endParaRPr lang="en-US" altLang="zh-CN" sz="600" dirty="0" smtClean="0">
              <a:latin typeface="+mj-lt"/>
            </a:endParaRPr>
          </a:p>
          <a:p>
            <a:r>
              <a:rPr lang="zh-CN" altLang="en-US" sz="600" dirty="0" smtClean="0">
                <a:latin typeface="+mj-lt"/>
              </a:rPr>
              <a:t>中文</a:t>
            </a:r>
            <a:r>
              <a:rPr lang="en-US" altLang="zh-CN" sz="600" dirty="0" smtClean="0">
                <a:latin typeface="+mj-lt"/>
              </a:rPr>
              <a:t>300~600</a:t>
            </a:r>
            <a:r>
              <a:rPr lang="zh-CN" altLang="en-US" sz="600" dirty="0" smtClean="0">
                <a:latin typeface="+mj-lt"/>
              </a:rPr>
              <a:t>字，英文</a:t>
            </a:r>
            <a:r>
              <a:rPr lang="en-US" altLang="zh-CN" sz="600" dirty="0" smtClean="0">
                <a:latin typeface="+mj-lt"/>
              </a:rPr>
              <a:t>300</a:t>
            </a:r>
            <a:r>
              <a:rPr lang="zh-CN" altLang="en-US" sz="600" dirty="0" smtClean="0">
                <a:latin typeface="+mj-lt"/>
              </a:rPr>
              <a:t>实词。</a:t>
            </a:r>
            <a:endParaRPr lang="en-US" altLang="zh-CN" sz="600" dirty="0" smtClean="0">
              <a:latin typeface="+mj-lt"/>
            </a:endParaRPr>
          </a:p>
          <a:p>
            <a:r>
              <a:rPr lang="zh-CN" altLang="en-US" sz="600" b="1" dirty="0">
                <a:latin typeface="+mj-lt"/>
              </a:rPr>
              <a:t>摘要的作用</a:t>
            </a:r>
            <a:r>
              <a:rPr lang="zh-CN" altLang="en-US" sz="600" dirty="0">
                <a:latin typeface="+mj-lt"/>
              </a:rPr>
              <a:t>：让读者尽快了解论文的主要内容，以补充题名的不足。为科技情报人员和计算机检索提供方便。</a:t>
            </a:r>
          </a:p>
          <a:p>
            <a:r>
              <a:rPr lang="zh-CN" altLang="en-US" sz="600" b="1" dirty="0">
                <a:latin typeface="+mj-lt"/>
              </a:rPr>
              <a:t>摘要的四</a:t>
            </a:r>
            <a:r>
              <a:rPr lang="zh-CN" altLang="en-US" sz="600" b="1" dirty="0" smtClean="0">
                <a:latin typeface="+mj-lt"/>
              </a:rPr>
              <a:t>要素</a:t>
            </a:r>
            <a:r>
              <a:rPr lang="zh-CN" altLang="en-US" sz="600" dirty="0" smtClean="0">
                <a:latin typeface="+mj-lt"/>
              </a:rPr>
              <a:t>：①目的</a:t>
            </a:r>
            <a:r>
              <a:rPr lang="zh-CN" altLang="en-US" sz="600" dirty="0">
                <a:latin typeface="+mj-lt"/>
              </a:rPr>
              <a:t>：研究、研制、调查等工作的前提、目的与任务，所涉及的主题范围，说明为什么要做此研究</a:t>
            </a:r>
            <a:r>
              <a:rPr lang="zh-CN" altLang="en-US" sz="600" dirty="0" smtClean="0">
                <a:latin typeface="+mj-lt"/>
              </a:rPr>
              <a:t>。②方法</a:t>
            </a:r>
            <a:r>
              <a:rPr lang="zh-CN" altLang="en-US" sz="600" dirty="0">
                <a:latin typeface="+mj-lt"/>
              </a:rPr>
              <a:t>：所用的原理、理论、条件、对象、材料、工艺、结构、手段、装备、程序等，说明如何做</a:t>
            </a:r>
            <a:r>
              <a:rPr lang="zh-CN" altLang="en-US" sz="600" dirty="0" smtClean="0">
                <a:latin typeface="+mj-lt"/>
              </a:rPr>
              <a:t>。③结果</a:t>
            </a:r>
            <a:r>
              <a:rPr lang="zh-CN" altLang="en-US" sz="600" dirty="0">
                <a:latin typeface="+mj-lt"/>
              </a:rPr>
              <a:t>：实验的、研究的结果，数据，被确定的关系，观察的结果，得到的效果性能等，说明做的结果如何</a:t>
            </a:r>
            <a:r>
              <a:rPr lang="zh-CN" altLang="en-US" sz="600" dirty="0" smtClean="0">
                <a:latin typeface="+mj-lt"/>
              </a:rPr>
              <a:t>。④结论</a:t>
            </a:r>
            <a:r>
              <a:rPr lang="zh-CN" altLang="en-US" sz="600" dirty="0">
                <a:latin typeface="+mj-lt"/>
              </a:rPr>
              <a:t>：结果的分析、研究、比较、评价、应用，提出的问题，今后的课题、假设、启发、建议、预测等，说明由此得出的结论</a:t>
            </a:r>
            <a:r>
              <a:rPr lang="zh-CN" altLang="en-US" sz="600" dirty="0" smtClean="0">
                <a:latin typeface="+mj-lt"/>
              </a:rPr>
              <a:t>。</a:t>
            </a:r>
            <a:endParaRPr lang="en-US" altLang="zh-CN" sz="600" dirty="0" smtClean="0">
              <a:latin typeface="+mj-lt"/>
            </a:endParaRPr>
          </a:p>
          <a:p>
            <a:r>
              <a:rPr lang="zh-CN" altLang="en-US" sz="600" b="1" dirty="0" smtClean="0">
                <a:latin typeface="+mj-lt"/>
              </a:rPr>
              <a:t>摘要要求</a:t>
            </a:r>
            <a:r>
              <a:rPr lang="zh-CN" altLang="en-US" sz="600" dirty="0" smtClean="0">
                <a:latin typeface="+mj-lt"/>
              </a:rPr>
              <a:t>：①第三人称</a:t>
            </a:r>
            <a:r>
              <a:rPr lang="en-US" altLang="zh-CN" sz="600" dirty="0" smtClean="0">
                <a:latin typeface="+mj-lt"/>
              </a:rPr>
              <a:t>(GB6477-86)</a:t>
            </a:r>
            <a:r>
              <a:rPr lang="zh-CN" altLang="en-US" sz="600" dirty="0" smtClean="0">
                <a:latin typeface="+mj-lt"/>
              </a:rPr>
              <a:t>；②简短</a:t>
            </a:r>
            <a:r>
              <a:rPr lang="zh-CN" altLang="en-US" sz="600" dirty="0">
                <a:latin typeface="+mj-lt"/>
              </a:rPr>
              <a:t>精炼，明确</a:t>
            </a:r>
            <a:r>
              <a:rPr lang="zh-CN" altLang="en-US" sz="600" dirty="0" smtClean="0">
                <a:latin typeface="+mj-lt"/>
              </a:rPr>
              <a:t>具体，通常</a:t>
            </a:r>
            <a:r>
              <a:rPr lang="zh-CN" altLang="en-US" sz="600" dirty="0">
                <a:latin typeface="+mj-lt"/>
              </a:rPr>
              <a:t>不分段落。篇幅</a:t>
            </a:r>
            <a:r>
              <a:rPr lang="zh-CN" altLang="en-US" sz="600" dirty="0" smtClean="0">
                <a:latin typeface="+mj-lt"/>
              </a:rPr>
              <a:t>短，表意</a:t>
            </a:r>
            <a:r>
              <a:rPr lang="zh-CN" altLang="en-US" sz="600" dirty="0">
                <a:latin typeface="+mj-lt"/>
              </a:rPr>
              <a:t>明白</a:t>
            </a:r>
            <a:r>
              <a:rPr lang="zh-CN" altLang="en-US" sz="600" dirty="0" smtClean="0">
                <a:latin typeface="+mj-lt"/>
              </a:rPr>
              <a:t>，较多</a:t>
            </a:r>
            <a:r>
              <a:rPr lang="zh-CN" altLang="en-US" sz="600" dirty="0">
                <a:latin typeface="+mj-lt"/>
              </a:rPr>
              <a:t>并且有用的定性和定量的信息</a:t>
            </a:r>
            <a:r>
              <a:rPr lang="zh-CN" altLang="en-US" sz="600" dirty="0" smtClean="0">
                <a:latin typeface="+mj-lt"/>
              </a:rPr>
              <a:t>。③格式规范：尽可能</a:t>
            </a:r>
            <a:r>
              <a:rPr lang="zh-CN" altLang="en-US" sz="600" dirty="0">
                <a:latin typeface="+mj-lt"/>
              </a:rPr>
              <a:t>用规范术语</a:t>
            </a:r>
            <a:r>
              <a:rPr lang="zh-CN" altLang="en-US" sz="600" dirty="0" smtClean="0">
                <a:latin typeface="+mj-lt"/>
              </a:rPr>
              <a:t>，避免</a:t>
            </a:r>
            <a:r>
              <a:rPr lang="zh-CN" altLang="en-US" sz="600" dirty="0">
                <a:latin typeface="+mj-lt"/>
              </a:rPr>
              <a:t>出现插图、</a:t>
            </a:r>
            <a:r>
              <a:rPr lang="zh-CN" altLang="en-US" sz="600" dirty="0" smtClean="0">
                <a:latin typeface="+mj-lt"/>
              </a:rPr>
              <a:t>表格</a:t>
            </a:r>
            <a:r>
              <a:rPr lang="zh-CN" altLang="en-US" sz="600" dirty="0">
                <a:latin typeface="+mj-lt"/>
              </a:rPr>
              <a:t>、</a:t>
            </a:r>
            <a:r>
              <a:rPr lang="zh-CN" altLang="en-US" sz="600" dirty="0" smtClean="0">
                <a:latin typeface="+mj-lt"/>
              </a:rPr>
              <a:t>参考</a:t>
            </a:r>
            <a:r>
              <a:rPr lang="zh-CN" altLang="en-US" sz="600" dirty="0">
                <a:latin typeface="+mj-lt"/>
              </a:rPr>
              <a:t>文献序号，一般不用数学公式和化学结构式； ④</a:t>
            </a:r>
            <a:r>
              <a:rPr lang="zh-CN" altLang="en-US" sz="600" dirty="0" smtClean="0">
                <a:latin typeface="+mj-lt"/>
              </a:rPr>
              <a:t>不</a:t>
            </a:r>
            <a:r>
              <a:rPr lang="zh-CN" altLang="en-US" sz="600" dirty="0">
                <a:latin typeface="+mj-lt"/>
              </a:rPr>
              <a:t>加注释和</a:t>
            </a:r>
            <a:r>
              <a:rPr lang="zh-CN" altLang="en-US" sz="600" dirty="0" smtClean="0">
                <a:latin typeface="+mj-lt"/>
              </a:rPr>
              <a:t>评论；⑤语言</a:t>
            </a:r>
            <a:r>
              <a:rPr lang="zh-CN" altLang="en-US" sz="600" dirty="0">
                <a:latin typeface="+mj-lt"/>
              </a:rPr>
              <a:t>通顺，结构严谨，标点符号</a:t>
            </a:r>
            <a:r>
              <a:rPr lang="zh-CN" altLang="en-US" sz="600" dirty="0" smtClean="0">
                <a:latin typeface="+mj-lt"/>
              </a:rPr>
              <a:t>准确。</a:t>
            </a:r>
            <a:endParaRPr lang="zh-CN" altLang="en-US" sz="600" dirty="0">
              <a:latin typeface="+mj-lt"/>
            </a:endParaRPr>
          </a:p>
        </p:txBody>
      </p:sp>
      <p:sp>
        <p:nvSpPr>
          <p:cNvPr id="4" name="文本框 3"/>
          <p:cNvSpPr txBox="1"/>
          <p:nvPr/>
        </p:nvSpPr>
        <p:spPr>
          <a:xfrm>
            <a:off x="2275417" y="0"/>
            <a:ext cx="2761114" cy="10895290"/>
          </a:xfrm>
          <a:prstGeom prst="rect">
            <a:avLst/>
          </a:prstGeom>
          <a:noFill/>
        </p:spPr>
        <p:txBody>
          <a:bodyPr wrap="square" rtlCol="0">
            <a:spAutoFit/>
          </a:bodyPr>
          <a:lstStyle/>
          <a:p>
            <a:r>
              <a:rPr lang="zh-CN" altLang="en-US" sz="600" b="1" dirty="0"/>
              <a:t>英文摘要写作</a:t>
            </a:r>
            <a:r>
              <a:rPr lang="zh-CN" altLang="en-US" sz="600" b="1" dirty="0" smtClean="0"/>
              <a:t>建议</a:t>
            </a:r>
            <a:r>
              <a:rPr lang="zh-CN" altLang="en-US" sz="600" dirty="0" smtClean="0"/>
              <a:t>：</a:t>
            </a:r>
            <a:r>
              <a:rPr lang="zh-CN" altLang="en-US" sz="600" dirty="0"/>
              <a:t>①</a:t>
            </a:r>
            <a:r>
              <a:rPr lang="zh-CN" altLang="en-US" sz="600" dirty="0" smtClean="0"/>
              <a:t>时态：一般现在时</a:t>
            </a:r>
            <a:r>
              <a:rPr lang="en-US" altLang="zh-CN" sz="600" dirty="0" smtClean="0"/>
              <a:t>,</a:t>
            </a:r>
            <a:r>
              <a:rPr lang="zh-CN" altLang="en-US" sz="600" dirty="0" smtClean="0"/>
              <a:t>一般过去时</a:t>
            </a:r>
            <a:r>
              <a:rPr lang="en-US" altLang="zh-CN" sz="600" dirty="0" smtClean="0"/>
              <a:t>,</a:t>
            </a:r>
            <a:r>
              <a:rPr lang="zh-CN" altLang="en-US" sz="600" dirty="0" smtClean="0"/>
              <a:t>少用完成时</a:t>
            </a:r>
            <a:r>
              <a:rPr lang="en-US" altLang="zh-CN" sz="600" dirty="0"/>
              <a:t>,</a:t>
            </a:r>
            <a:r>
              <a:rPr lang="zh-CN" altLang="en-US" sz="600" dirty="0" smtClean="0"/>
              <a:t>完成时</a:t>
            </a:r>
            <a:r>
              <a:rPr lang="en-US" altLang="zh-CN" sz="600" dirty="0"/>
              <a:t>,</a:t>
            </a:r>
            <a:r>
              <a:rPr lang="zh-CN" altLang="en-US" sz="600" dirty="0" smtClean="0"/>
              <a:t>不用</a:t>
            </a:r>
            <a:r>
              <a:rPr lang="zh-CN" altLang="en-US" sz="600" dirty="0"/>
              <a:t>进行</a:t>
            </a:r>
            <a:r>
              <a:rPr lang="zh-CN" altLang="en-US" sz="600" dirty="0" smtClean="0"/>
              <a:t>时；②语态</a:t>
            </a:r>
            <a:r>
              <a:rPr lang="zh-CN" altLang="en-US" sz="600" dirty="0"/>
              <a:t>：</a:t>
            </a:r>
            <a:r>
              <a:rPr lang="zh-CN" altLang="en-US" sz="600" dirty="0" smtClean="0"/>
              <a:t>主动语态文字</a:t>
            </a:r>
            <a:r>
              <a:rPr lang="zh-CN" altLang="en-US" sz="600" dirty="0"/>
              <a:t>清晰</a:t>
            </a:r>
            <a:r>
              <a:rPr lang="zh-CN" altLang="en-US" sz="600" dirty="0" smtClean="0"/>
              <a:t>简洁</a:t>
            </a:r>
            <a:r>
              <a:rPr lang="en-US" altLang="zh-CN" sz="600" dirty="0" smtClean="0"/>
              <a:t>,</a:t>
            </a:r>
            <a:r>
              <a:rPr lang="zh-CN" altLang="en-US" sz="600" dirty="0" smtClean="0"/>
              <a:t>表达有力</a:t>
            </a:r>
            <a:r>
              <a:rPr lang="en-US" altLang="zh-CN" sz="600" dirty="0" smtClean="0"/>
              <a:t>,</a:t>
            </a:r>
            <a:r>
              <a:rPr lang="zh-CN" altLang="en-US" sz="600" dirty="0" smtClean="0"/>
              <a:t>必要</a:t>
            </a:r>
            <a:r>
              <a:rPr lang="zh-CN" altLang="en-US" sz="600" dirty="0"/>
              <a:t>时可省略</a:t>
            </a:r>
            <a:r>
              <a:rPr lang="en-US" altLang="zh-CN" sz="600" dirty="0"/>
              <a:t>The </a:t>
            </a:r>
            <a:r>
              <a:rPr lang="en-US" altLang="zh-CN" sz="600" dirty="0" smtClean="0"/>
              <a:t>author;</a:t>
            </a:r>
            <a:r>
              <a:rPr lang="zh-CN" altLang="en-US" sz="600" dirty="0" smtClean="0"/>
              <a:t>强调</a:t>
            </a:r>
            <a:r>
              <a:rPr lang="zh-CN" altLang="en-US" sz="600" dirty="0"/>
              <a:t>动作的承受者</a:t>
            </a:r>
            <a:r>
              <a:rPr lang="zh-CN" altLang="en-US" sz="600" dirty="0" smtClean="0"/>
              <a:t>时</a:t>
            </a:r>
            <a:r>
              <a:rPr lang="en-US" altLang="zh-CN" sz="600" dirty="0" smtClean="0"/>
              <a:t>,</a:t>
            </a:r>
            <a:r>
              <a:rPr lang="zh-CN" altLang="en-US" sz="600" dirty="0" smtClean="0"/>
              <a:t>最好被动</a:t>
            </a:r>
            <a:r>
              <a:rPr lang="zh-CN" altLang="en-US" sz="600" dirty="0"/>
              <a:t>语态</a:t>
            </a:r>
            <a:r>
              <a:rPr lang="zh-CN" altLang="en-US" sz="600" dirty="0" smtClean="0"/>
              <a:t>③人称：不使用</a:t>
            </a:r>
            <a:r>
              <a:rPr lang="zh-CN" altLang="en-US" sz="600" dirty="0"/>
              <a:t>第一</a:t>
            </a:r>
            <a:r>
              <a:rPr lang="zh-CN" altLang="en-US" sz="600" dirty="0" smtClean="0"/>
              <a:t>人称</a:t>
            </a:r>
            <a:r>
              <a:rPr lang="en-US" altLang="zh-CN" sz="600" dirty="0" smtClean="0"/>
              <a:t>,</a:t>
            </a:r>
            <a:r>
              <a:rPr lang="zh-CN" altLang="en-US" sz="600" dirty="0" smtClean="0"/>
              <a:t>使用被动</a:t>
            </a:r>
            <a:r>
              <a:rPr lang="zh-CN" altLang="en-US" sz="600" dirty="0"/>
              <a:t>语态或原形</a:t>
            </a:r>
            <a:r>
              <a:rPr lang="zh-CN" altLang="en-US" sz="600" dirty="0" smtClean="0"/>
              <a:t>动词</a:t>
            </a:r>
            <a:r>
              <a:rPr lang="en-US" altLang="zh-CN" sz="600" dirty="0" smtClean="0"/>
              <a:t>(To study/investigate)</a:t>
            </a:r>
            <a:r>
              <a:rPr lang="zh-CN" altLang="en-US" sz="600" dirty="0" smtClean="0"/>
              <a:t>；④冠词</a:t>
            </a:r>
            <a:r>
              <a:rPr lang="en-US" altLang="zh-CN" sz="600" dirty="0" smtClean="0"/>
              <a:t>the</a:t>
            </a:r>
            <a:r>
              <a:rPr lang="zh-CN" altLang="en-US" sz="600" dirty="0" smtClean="0"/>
              <a:t>表示</a:t>
            </a:r>
            <a:r>
              <a:rPr lang="zh-CN" altLang="en-US" sz="600" dirty="0"/>
              <a:t>整个</a:t>
            </a:r>
            <a:r>
              <a:rPr lang="zh-CN" altLang="en-US" sz="600" dirty="0" smtClean="0"/>
              <a:t>群体</a:t>
            </a:r>
            <a:r>
              <a:rPr lang="en-US" altLang="zh-CN" sz="600" dirty="0" smtClean="0"/>
              <a:t>,</a:t>
            </a:r>
            <a:r>
              <a:rPr lang="zh-CN" altLang="en-US" sz="600" dirty="0" smtClean="0"/>
              <a:t>分类</a:t>
            </a:r>
            <a:r>
              <a:rPr lang="en-US" altLang="zh-CN" sz="600" dirty="0" smtClean="0"/>
              <a:t>,</a:t>
            </a:r>
            <a:r>
              <a:rPr lang="zh-CN" altLang="en-US" sz="600" dirty="0" smtClean="0"/>
              <a:t>时间等独一无二</a:t>
            </a:r>
            <a:r>
              <a:rPr lang="zh-CN" altLang="en-US" sz="600" dirty="0"/>
              <a:t>的</a:t>
            </a:r>
            <a:r>
              <a:rPr lang="zh-CN" altLang="en-US" sz="600" dirty="0" smtClean="0"/>
              <a:t>事物</a:t>
            </a:r>
            <a:r>
              <a:rPr lang="en-US" altLang="zh-CN" sz="600" dirty="0" smtClean="0"/>
              <a:t>,</a:t>
            </a:r>
            <a:r>
              <a:rPr lang="zh-CN" altLang="en-US" sz="600" dirty="0" smtClean="0"/>
              <a:t>形容词最高级</a:t>
            </a:r>
            <a:r>
              <a:rPr lang="zh-CN" altLang="en-US" sz="600" dirty="0"/>
              <a:t>；</a:t>
            </a:r>
            <a:r>
              <a:rPr lang="zh-CN" altLang="en-US" sz="600" dirty="0" smtClean="0"/>
              <a:t>数词</a:t>
            </a:r>
            <a:r>
              <a:rPr lang="en-US" altLang="zh-CN" sz="600" dirty="0" smtClean="0"/>
              <a:t>,</a:t>
            </a:r>
            <a:r>
              <a:rPr lang="zh-CN" altLang="en-US" sz="600" dirty="0" smtClean="0"/>
              <a:t>单复数</a:t>
            </a:r>
            <a:r>
              <a:rPr lang="en-US" altLang="zh-CN" sz="600" dirty="0" smtClean="0"/>
              <a:t>,</a:t>
            </a:r>
            <a:r>
              <a:rPr lang="zh-CN" altLang="en-US" sz="600" dirty="0" smtClean="0"/>
              <a:t>尽量</a:t>
            </a:r>
            <a:r>
              <a:rPr lang="zh-CN" altLang="en-US" sz="600" dirty="0"/>
              <a:t>使用</a:t>
            </a:r>
            <a:r>
              <a:rPr lang="zh-CN" altLang="en-US" sz="600" dirty="0" smtClean="0"/>
              <a:t>短句；用</a:t>
            </a:r>
            <a:r>
              <a:rPr lang="zh-CN" altLang="en-US" sz="600" dirty="0"/>
              <a:t>词</a:t>
            </a:r>
            <a:r>
              <a:rPr lang="zh-CN" altLang="en-US" sz="600" dirty="0" smtClean="0"/>
              <a:t>规范准确简洁</a:t>
            </a:r>
            <a:endParaRPr lang="en-US" altLang="zh-CN" sz="600" dirty="0" smtClean="0"/>
          </a:p>
          <a:p>
            <a:r>
              <a:rPr lang="zh-CN" altLang="en-US" sz="600" b="1" dirty="0" smtClean="0"/>
              <a:t>关键词</a:t>
            </a:r>
            <a:r>
              <a:rPr lang="zh-CN" altLang="en-US" sz="600" dirty="0" smtClean="0">
                <a:sym typeface="Wingdings" panose="05000000000000000000" pitchFamily="2" charset="2"/>
              </a:rPr>
              <a:t>：</a:t>
            </a:r>
            <a:r>
              <a:rPr lang="en-US" altLang="zh-CN" sz="600" dirty="0" smtClean="0">
                <a:sym typeface="Wingdings" panose="05000000000000000000" pitchFamily="2" charset="2"/>
              </a:rPr>
              <a:t>(</a:t>
            </a:r>
            <a:r>
              <a:rPr lang="en-US" altLang="zh-CN" sz="600" dirty="0" smtClean="0"/>
              <a:t>GB7713-2006)</a:t>
            </a:r>
            <a:r>
              <a:rPr lang="zh-CN" altLang="en-US" sz="600" dirty="0" smtClean="0"/>
              <a:t> 体现</a:t>
            </a:r>
            <a:r>
              <a:rPr lang="zh-CN" altLang="en-US" sz="600" dirty="0"/>
              <a:t>论文特色，具有语义性，在论文中有明确的出处并尽量采用</a:t>
            </a:r>
            <a:r>
              <a:rPr lang="en-US" altLang="zh-CN" sz="600" dirty="0"/>
              <a:t>《</a:t>
            </a:r>
            <a:r>
              <a:rPr lang="zh-CN" altLang="en-US" sz="600" dirty="0"/>
              <a:t>汉语主题词表</a:t>
            </a:r>
            <a:r>
              <a:rPr lang="en-US" altLang="zh-CN" sz="600" dirty="0"/>
              <a:t>》</a:t>
            </a:r>
            <a:r>
              <a:rPr lang="zh-CN" altLang="en-US" sz="600" dirty="0"/>
              <a:t>或各专业主题词表提供的规范词。</a:t>
            </a:r>
          </a:p>
          <a:p>
            <a:r>
              <a:rPr lang="zh-CN" altLang="en-US" sz="600" b="1" dirty="0" smtClean="0"/>
              <a:t>关键词的选择原则</a:t>
            </a:r>
            <a:r>
              <a:rPr lang="zh-CN" altLang="en-US" sz="600" dirty="0" smtClean="0"/>
              <a:t>：①包含论文主题内容：揭示论文核心</a:t>
            </a:r>
            <a:r>
              <a:rPr lang="zh-CN" altLang="en-US" sz="600" dirty="0"/>
              <a:t>思想与主题</a:t>
            </a:r>
            <a:r>
              <a:rPr lang="zh-CN" altLang="en-US" sz="600" dirty="0" smtClean="0"/>
              <a:t>内容，主要</a:t>
            </a:r>
            <a:r>
              <a:rPr lang="zh-CN" altLang="en-US" sz="600" dirty="0"/>
              <a:t>研究的事或物的名称、</a:t>
            </a:r>
            <a:r>
              <a:rPr lang="zh-CN" altLang="en-US" sz="600" dirty="0" smtClean="0"/>
              <a:t>研究方法</a:t>
            </a:r>
            <a:r>
              <a:rPr lang="zh-CN" altLang="en-US" sz="600" dirty="0"/>
              <a:t>等 </a:t>
            </a:r>
            <a:r>
              <a:rPr lang="zh-CN" altLang="en-US" sz="600" dirty="0" smtClean="0"/>
              <a:t>；②专指</a:t>
            </a:r>
            <a:r>
              <a:rPr lang="zh-CN" altLang="en-US" sz="600" dirty="0"/>
              <a:t>性</a:t>
            </a:r>
            <a:r>
              <a:rPr lang="zh-CN" altLang="en-US" sz="600" dirty="0" smtClean="0"/>
              <a:t>规则：选取术语</a:t>
            </a:r>
            <a:r>
              <a:rPr lang="zh-CN" altLang="en-US" sz="600" dirty="0"/>
              <a:t>或</a:t>
            </a:r>
            <a:r>
              <a:rPr lang="zh-CN" altLang="en-US" sz="600" dirty="0" smtClean="0"/>
              <a:t>单词尽可能</a:t>
            </a:r>
            <a:r>
              <a:rPr lang="zh-CN" altLang="en-US" sz="600" dirty="0"/>
              <a:t>为规范学术</a:t>
            </a:r>
            <a:r>
              <a:rPr lang="zh-CN" altLang="en-US" sz="600" dirty="0" smtClean="0"/>
              <a:t>词，部分</a:t>
            </a:r>
            <a:r>
              <a:rPr lang="zh-CN" altLang="en-US" sz="600" dirty="0"/>
              <a:t>术语</a:t>
            </a:r>
            <a:r>
              <a:rPr lang="zh-CN" altLang="en-US" sz="600" dirty="0" smtClean="0"/>
              <a:t>可通过</a:t>
            </a:r>
            <a:r>
              <a:rPr lang="zh-CN" altLang="en-US" sz="600" dirty="0"/>
              <a:t>组配成为表达单一概念的</a:t>
            </a:r>
            <a:r>
              <a:rPr lang="zh-CN" altLang="en-US" sz="600" dirty="0" smtClean="0"/>
              <a:t>关键词；③关键词</a:t>
            </a:r>
            <a:r>
              <a:rPr lang="zh-CN" altLang="en-US" sz="600" dirty="0"/>
              <a:t>的</a:t>
            </a:r>
            <a:r>
              <a:rPr lang="zh-CN" altLang="en-US" sz="600" dirty="0" smtClean="0"/>
              <a:t>数量：</a:t>
            </a:r>
            <a:r>
              <a:rPr lang="en-US" altLang="zh-CN" sz="600" dirty="0" smtClean="0"/>
              <a:t>3</a:t>
            </a:r>
            <a:r>
              <a:rPr lang="zh-CN" altLang="en-US" sz="600" dirty="0"/>
              <a:t>～</a:t>
            </a:r>
            <a:r>
              <a:rPr lang="en-US" altLang="zh-CN" sz="600" dirty="0" smtClean="0"/>
              <a:t>8</a:t>
            </a:r>
            <a:r>
              <a:rPr lang="zh-CN" altLang="en-US" sz="600" dirty="0" smtClean="0"/>
              <a:t>（学位） </a:t>
            </a:r>
            <a:r>
              <a:rPr lang="en-US" altLang="zh-CN" sz="600" dirty="0"/>
              <a:t>3</a:t>
            </a:r>
            <a:r>
              <a:rPr lang="zh-CN" altLang="en-US" sz="600" dirty="0"/>
              <a:t>～</a:t>
            </a:r>
            <a:r>
              <a:rPr lang="en-US" altLang="zh-CN" sz="600" dirty="0" smtClean="0"/>
              <a:t>5</a:t>
            </a:r>
            <a:r>
              <a:rPr lang="zh-CN" altLang="en-US" sz="600" dirty="0" smtClean="0"/>
              <a:t>（学术）；④关键词</a:t>
            </a:r>
            <a:r>
              <a:rPr lang="zh-CN" altLang="en-US" sz="600" dirty="0"/>
              <a:t>的</a:t>
            </a:r>
            <a:r>
              <a:rPr lang="zh-CN" altLang="en-US" sz="600" dirty="0" smtClean="0"/>
              <a:t>排列：所属学科，成</a:t>
            </a:r>
            <a:endParaRPr lang="en-US" altLang="zh-CN" sz="600" dirty="0" smtClean="0"/>
          </a:p>
          <a:p>
            <a:r>
              <a:rPr lang="zh-CN" altLang="en-US" sz="600" b="1" dirty="0" smtClean="0"/>
              <a:t>引言</a:t>
            </a:r>
            <a:r>
              <a:rPr lang="zh-CN" altLang="en-US" sz="600" dirty="0" smtClean="0"/>
              <a:t>（绪论）：向</a:t>
            </a:r>
            <a:r>
              <a:rPr lang="zh-CN" altLang="en-US" sz="600" dirty="0"/>
              <a:t>读者交代本研究的来龙去脉，其作用在于唤起读者的注意，使读者对论文先有一个总体的了解</a:t>
            </a:r>
            <a:r>
              <a:rPr lang="zh-CN" altLang="en-US" sz="600" dirty="0" smtClean="0"/>
              <a:t>。</a:t>
            </a:r>
            <a:endParaRPr lang="zh-CN" altLang="en-US" sz="600" dirty="0"/>
          </a:p>
          <a:p>
            <a:r>
              <a:rPr lang="zh-CN" altLang="en-US" sz="600" b="1" dirty="0"/>
              <a:t>引言的主要</a:t>
            </a:r>
            <a:r>
              <a:rPr lang="zh-CN" altLang="en-US" sz="600" b="1" dirty="0" smtClean="0"/>
              <a:t>内容</a:t>
            </a:r>
            <a:r>
              <a:rPr lang="zh-CN" altLang="en-US" sz="600" dirty="0" smtClean="0"/>
              <a:t>：①研究</a:t>
            </a:r>
            <a:r>
              <a:rPr lang="zh-CN" altLang="en-US" sz="600" dirty="0"/>
              <a:t>的理由、目的和</a:t>
            </a:r>
            <a:r>
              <a:rPr lang="zh-CN" altLang="en-US" sz="600" dirty="0" smtClean="0"/>
              <a:t>背景：问题</a:t>
            </a:r>
            <a:r>
              <a:rPr lang="zh-CN" altLang="en-US" sz="600" dirty="0"/>
              <a:t>的</a:t>
            </a:r>
            <a:r>
              <a:rPr lang="zh-CN" altLang="en-US" sz="600" dirty="0" smtClean="0"/>
              <a:t>提出；研究对象及其基本特征；前人对这一问题做了哪些工作，存在哪些不足；希望解决什么问题，解决了有什么作用和意义；研究工作的背景是什么</a:t>
            </a:r>
            <a:r>
              <a:rPr lang="zh-CN" altLang="en-US" sz="600" dirty="0"/>
              <a:t>；</a:t>
            </a:r>
            <a:endParaRPr lang="en-US" altLang="zh-CN" sz="600" dirty="0" smtClean="0"/>
          </a:p>
          <a:p>
            <a:r>
              <a:rPr lang="zh-CN" altLang="en-US" sz="600" dirty="0" smtClean="0"/>
              <a:t>②理论依据</a:t>
            </a:r>
            <a:r>
              <a:rPr lang="zh-CN" altLang="en-US" sz="600" dirty="0"/>
              <a:t>、实验基础和研究</a:t>
            </a:r>
            <a:r>
              <a:rPr lang="zh-CN" altLang="en-US" sz="600" dirty="0" smtClean="0"/>
              <a:t>方法：沿用</a:t>
            </a:r>
            <a:r>
              <a:rPr lang="zh-CN" altLang="en-US" sz="600" dirty="0"/>
              <a:t>已知的理论、原理和方法，只需提及一笔，或注出有关的</a:t>
            </a:r>
            <a:r>
              <a:rPr lang="zh-CN" altLang="en-US" sz="600" dirty="0" smtClean="0"/>
              <a:t>文献</a:t>
            </a:r>
            <a:r>
              <a:rPr lang="zh-CN" altLang="en-US" sz="600" dirty="0"/>
              <a:t>；</a:t>
            </a:r>
            <a:r>
              <a:rPr lang="zh-CN" altLang="en-US" sz="600" dirty="0" smtClean="0"/>
              <a:t> 引出</a:t>
            </a:r>
            <a:r>
              <a:rPr lang="zh-CN" altLang="en-US" sz="600" dirty="0"/>
              <a:t>新的概念或术语</a:t>
            </a:r>
            <a:r>
              <a:rPr lang="zh-CN" altLang="en-US" sz="600" dirty="0" smtClean="0"/>
              <a:t>，加以</a:t>
            </a:r>
            <a:r>
              <a:rPr lang="zh-CN" altLang="en-US" sz="600" dirty="0"/>
              <a:t>定义或阐明。 </a:t>
            </a:r>
          </a:p>
          <a:p>
            <a:r>
              <a:rPr lang="zh-CN" altLang="en-US" sz="600" dirty="0" smtClean="0"/>
              <a:t>③预期</a:t>
            </a:r>
            <a:r>
              <a:rPr lang="zh-CN" altLang="en-US" sz="600" dirty="0"/>
              <a:t>的结果及其地位、作用和</a:t>
            </a:r>
            <a:r>
              <a:rPr lang="zh-CN" altLang="en-US" sz="600" dirty="0" smtClean="0"/>
              <a:t>意义</a:t>
            </a:r>
            <a:r>
              <a:rPr lang="zh-CN" altLang="en-US" sz="600" dirty="0"/>
              <a:t>：</a:t>
            </a:r>
            <a:r>
              <a:rPr lang="zh-CN" altLang="en-US" sz="600" dirty="0" smtClean="0"/>
              <a:t>自然，概括，简洁，确切</a:t>
            </a:r>
            <a:r>
              <a:rPr lang="zh-CN" altLang="en-US" sz="600" dirty="0"/>
              <a:t>。</a:t>
            </a:r>
          </a:p>
          <a:p>
            <a:r>
              <a:rPr lang="zh-CN" altLang="en-US" sz="600" b="1" dirty="0" smtClean="0"/>
              <a:t>引言</a:t>
            </a:r>
            <a:r>
              <a:rPr lang="zh-CN" altLang="en-US" sz="600" b="1" dirty="0"/>
              <a:t>的写作</a:t>
            </a:r>
            <a:r>
              <a:rPr lang="zh-CN" altLang="en-US" sz="600" b="1" dirty="0" smtClean="0"/>
              <a:t>要求</a:t>
            </a:r>
            <a:r>
              <a:rPr lang="zh-CN" altLang="en-US" sz="600" dirty="0" smtClean="0"/>
              <a:t>：言简意赅</a:t>
            </a:r>
            <a:r>
              <a:rPr lang="zh-CN" altLang="en-US" sz="600" dirty="0"/>
              <a:t>，突出</a:t>
            </a:r>
            <a:r>
              <a:rPr lang="zh-CN" altLang="en-US" sz="600" dirty="0" smtClean="0"/>
              <a:t>重点；开门见山</a:t>
            </a:r>
            <a:r>
              <a:rPr lang="zh-CN" altLang="en-US" sz="600" dirty="0"/>
              <a:t>，不</a:t>
            </a:r>
            <a:r>
              <a:rPr lang="zh-CN" altLang="en-US" sz="600" dirty="0" smtClean="0"/>
              <a:t>绕圈子；尊重</a:t>
            </a:r>
            <a:r>
              <a:rPr lang="zh-CN" altLang="en-US" sz="600" dirty="0"/>
              <a:t>科学，</a:t>
            </a:r>
            <a:r>
              <a:rPr lang="zh-CN" altLang="en-US" sz="600" dirty="0" smtClean="0"/>
              <a:t>不落俗套；如实</a:t>
            </a:r>
            <a:r>
              <a:rPr lang="zh-CN" altLang="en-US" sz="600" dirty="0"/>
              <a:t>评述，防止吹嘘自己和贬低别人 </a:t>
            </a:r>
            <a:r>
              <a:rPr lang="zh-CN" altLang="en-US" sz="600" dirty="0" smtClean="0"/>
              <a:t>。</a:t>
            </a:r>
            <a:endParaRPr lang="zh-CN" altLang="en-US" sz="600" dirty="0"/>
          </a:p>
          <a:p>
            <a:r>
              <a:rPr lang="zh-CN" altLang="en-US" sz="600" b="1" dirty="0" smtClean="0"/>
              <a:t>注意事项</a:t>
            </a:r>
            <a:r>
              <a:rPr lang="zh-CN" altLang="en-US" sz="600" dirty="0" smtClean="0"/>
              <a:t>：①引言</a:t>
            </a:r>
            <a:r>
              <a:rPr lang="zh-CN" altLang="en-US" sz="600" dirty="0"/>
              <a:t>不等同</a:t>
            </a:r>
            <a:r>
              <a:rPr lang="zh-CN" altLang="en-US" sz="600" dirty="0" smtClean="0"/>
              <a:t>于文献综述，引用分析文献</a:t>
            </a:r>
            <a:r>
              <a:rPr lang="zh-CN" altLang="en-US" sz="600" dirty="0"/>
              <a:t>都是</a:t>
            </a:r>
            <a:r>
              <a:rPr lang="zh-CN" altLang="en-US" sz="600" dirty="0" smtClean="0"/>
              <a:t>为引出分析</a:t>
            </a:r>
            <a:r>
              <a:rPr lang="zh-CN" altLang="en-US" sz="600" dirty="0"/>
              <a:t>和解决的问题，通过阅读引文，让审稿人</a:t>
            </a:r>
            <a:r>
              <a:rPr lang="en-US" altLang="zh-CN" sz="600" dirty="0"/>
              <a:t>/</a:t>
            </a:r>
            <a:r>
              <a:rPr lang="zh-CN" altLang="en-US" sz="600" dirty="0"/>
              <a:t>读者认可所做的研究</a:t>
            </a:r>
            <a:r>
              <a:rPr lang="zh-CN" altLang="en-US" sz="600" dirty="0" smtClean="0"/>
              <a:t>工作有</a:t>
            </a:r>
            <a:r>
              <a:rPr lang="zh-CN" altLang="en-US" sz="600" dirty="0"/>
              <a:t>意义和有价值</a:t>
            </a:r>
            <a:r>
              <a:rPr lang="zh-CN" altLang="en-US" sz="600" dirty="0" smtClean="0"/>
              <a:t>；②引用文献</a:t>
            </a:r>
            <a:r>
              <a:rPr lang="zh-CN" altLang="en-US" sz="600" dirty="0"/>
              <a:t>尽量在</a:t>
            </a:r>
            <a:r>
              <a:rPr lang="en-US" altLang="zh-CN" sz="600" dirty="0"/>
              <a:t>5</a:t>
            </a:r>
            <a:r>
              <a:rPr lang="zh-CN" altLang="en-US" sz="600" dirty="0"/>
              <a:t>年内，对于原创和基础的研究成果，可以引用早期论文</a:t>
            </a:r>
            <a:r>
              <a:rPr lang="zh-CN" altLang="en-US" sz="600" dirty="0" smtClean="0"/>
              <a:t>；③引用</a:t>
            </a:r>
            <a:r>
              <a:rPr lang="zh-CN" altLang="en-US" sz="600" dirty="0"/>
              <a:t>本领域高水平的中、英文文献，</a:t>
            </a:r>
            <a:r>
              <a:rPr lang="zh-CN" altLang="en-US" sz="600" dirty="0" smtClean="0"/>
              <a:t>显示学术</a:t>
            </a:r>
            <a:r>
              <a:rPr lang="zh-CN" altLang="en-US" sz="600" dirty="0"/>
              <a:t>积累深厚</a:t>
            </a:r>
            <a:r>
              <a:rPr lang="zh-CN" altLang="en-US" sz="600" dirty="0" smtClean="0"/>
              <a:t>；④文献</a:t>
            </a:r>
            <a:r>
              <a:rPr lang="zh-CN" altLang="en-US" sz="600" dirty="0"/>
              <a:t>引用和</a:t>
            </a:r>
            <a:r>
              <a:rPr lang="zh-CN" altLang="en-US" sz="600" dirty="0" smtClean="0"/>
              <a:t>数据准确，避免</a:t>
            </a:r>
            <a:r>
              <a:rPr lang="zh-CN" altLang="en-US" sz="600" dirty="0"/>
              <a:t>片面摘录别人的部分结果，而不反映文献的总体结果</a:t>
            </a:r>
            <a:r>
              <a:rPr lang="zh-CN" altLang="en-US" sz="600" dirty="0" smtClean="0"/>
              <a:t>；⑤适度</a:t>
            </a:r>
            <a:r>
              <a:rPr lang="zh-CN" altLang="en-US" sz="600" dirty="0"/>
              <a:t>表述局限性和创新性，客观公正评价别人的工作，不要把抬高自己研究的价值建立在贬低别人的工作之上</a:t>
            </a:r>
            <a:r>
              <a:rPr lang="zh-CN" altLang="en-US" sz="600" dirty="0" smtClean="0"/>
              <a:t>；慎</a:t>
            </a:r>
            <a:r>
              <a:rPr lang="zh-CN" altLang="en-US" sz="600" dirty="0"/>
              <a:t>用</a:t>
            </a:r>
            <a:r>
              <a:rPr lang="zh-CN" altLang="en-US" sz="600" dirty="0" smtClean="0"/>
              <a:t>“第一”“首次”“</a:t>
            </a:r>
            <a:r>
              <a:rPr lang="en-US" altLang="zh-CN" sz="600" dirty="0" err="1" smtClean="0"/>
              <a:t>novel”“</a:t>
            </a:r>
            <a:r>
              <a:rPr lang="en-US" altLang="zh-CN" sz="600" dirty="0" err="1"/>
              <a:t>first</a:t>
            </a:r>
            <a:r>
              <a:rPr lang="en-US" altLang="zh-CN" sz="600" dirty="0"/>
              <a:t> </a:t>
            </a:r>
            <a:r>
              <a:rPr lang="en-US" altLang="zh-CN" sz="600" dirty="0" err="1"/>
              <a:t>time</a:t>
            </a:r>
            <a:r>
              <a:rPr lang="en-US" altLang="zh-CN" sz="600" dirty="0" err="1" smtClean="0"/>
              <a:t>”“</a:t>
            </a:r>
            <a:r>
              <a:rPr lang="en-US" altLang="zh-CN" sz="600" dirty="0" err="1"/>
              <a:t>first</a:t>
            </a:r>
            <a:r>
              <a:rPr lang="en-US" altLang="zh-CN" sz="600" dirty="0"/>
              <a:t> ever</a:t>
            </a:r>
            <a:r>
              <a:rPr lang="en-US" altLang="zh-CN" sz="600" dirty="0" smtClean="0"/>
              <a:t>”</a:t>
            </a:r>
            <a:r>
              <a:rPr lang="zh-CN" altLang="en-US" sz="600" dirty="0" smtClean="0"/>
              <a:t>。</a:t>
            </a:r>
            <a:endParaRPr lang="en-US" altLang="zh-CN" sz="600" dirty="0" smtClean="0"/>
          </a:p>
          <a:p>
            <a:r>
              <a:rPr lang="zh-CN" altLang="en-US" sz="600" b="1" dirty="0"/>
              <a:t>方法</a:t>
            </a:r>
            <a:r>
              <a:rPr lang="zh-CN" altLang="en-US" sz="600" dirty="0"/>
              <a:t>：具体的做法、数据、文字</a:t>
            </a:r>
            <a:r>
              <a:rPr lang="zh-CN" altLang="en-US" sz="600" dirty="0" smtClean="0"/>
              <a:t>材料</a:t>
            </a:r>
            <a:r>
              <a:rPr lang="zh-CN" altLang="en-US" sz="600" dirty="0"/>
              <a:t>；</a:t>
            </a:r>
            <a:r>
              <a:rPr lang="zh-CN" altLang="en-US" sz="600" dirty="0" smtClean="0"/>
              <a:t>介绍</a:t>
            </a:r>
            <a:r>
              <a:rPr lang="zh-CN" altLang="en-US" sz="600" dirty="0"/>
              <a:t>清楚实验对象、</a:t>
            </a:r>
            <a:r>
              <a:rPr lang="zh-CN" altLang="en-US" sz="600" dirty="0" smtClean="0"/>
              <a:t>材料、</a:t>
            </a:r>
            <a:r>
              <a:rPr lang="zh-CN" altLang="en-US" sz="600" dirty="0"/>
              <a:t>仪器、设备、实验条件、分组情况、数据分析</a:t>
            </a:r>
            <a:r>
              <a:rPr lang="zh-CN" altLang="en-US" sz="600" dirty="0" smtClean="0"/>
              <a:t>方法等；将</a:t>
            </a:r>
            <a:r>
              <a:rPr lang="zh-CN" altLang="en-US" sz="600" dirty="0"/>
              <a:t>实验按照步骤细分成多个小节来写，包含每一组实验</a:t>
            </a:r>
            <a:r>
              <a:rPr lang="zh-CN" altLang="en-US" sz="600" dirty="0" smtClean="0"/>
              <a:t>信息</a:t>
            </a:r>
            <a:r>
              <a:rPr lang="zh-CN" altLang="en-US" sz="600" dirty="0"/>
              <a:t>；</a:t>
            </a:r>
            <a:r>
              <a:rPr lang="zh-CN" altLang="en-US" sz="600" dirty="0" smtClean="0"/>
              <a:t>实验介绍完整，</a:t>
            </a:r>
            <a:r>
              <a:rPr lang="zh-CN" altLang="en-US" sz="600" dirty="0"/>
              <a:t>保证实验的可重复性，</a:t>
            </a:r>
            <a:r>
              <a:rPr lang="zh-CN" altLang="en-US" sz="600" dirty="0" smtClean="0"/>
              <a:t>便于对实验</a:t>
            </a:r>
            <a:r>
              <a:rPr lang="zh-CN" altLang="en-US" sz="600" dirty="0"/>
              <a:t>结果进行检测和引用，这也是</a:t>
            </a:r>
            <a:r>
              <a:rPr lang="zh-CN" altLang="en-US" sz="600" dirty="0" smtClean="0"/>
              <a:t>保证文章数据可靠性</a:t>
            </a:r>
            <a:r>
              <a:rPr lang="zh-CN" altLang="en-US" sz="600" dirty="0"/>
              <a:t>的重要</a:t>
            </a:r>
            <a:r>
              <a:rPr lang="zh-CN" altLang="en-US" sz="600" dirty="0" smtClean="0"/>
              <a:t>论据；如果</a:t>
            </a:r>
            <a:r>
              <a:rPr lang="zh-CN" altLang="en-US" sz="600" dirty="0"/>
              <a:t>实验很繁琐，可以引用之前的</a:t>
            </a:r>
            <a:r>
              <a:rPr lang="zh-CN" altLang="en-US" sz="600" dirty="0" smtClean="0"/>
              <a:t>文献</a:t>
            </a:r>
            <a:r>
              <a:rPr lang="zh-CN" altLang="en-US" sz="600" dirty="0"/>
              <a:t>，</a:t>
            </a:r>
            <a:r>
              <a:rPr lang="zh-CN" altLang="en-US" sz="600" dirty="0" smtClean="0"/>
              <a:t>但确保引用文章</a:t>
            </a:r>
            <a:r>
              <a:rPr lang="zh-CN" altLang="en-US" sz="600" dirty="0"/>
              <a:t>包含了实验细节的信息</a:t>
            </a:r>
            <a:r>
              <a:rPr lang="zh-CN" altLang="en-US" sz="600" dirty="0" smtClean="0"/>
              <a:t>。</a:t>
            </a:r>
            <a:endParaRPr lang="en-US" altLang="zh-CN" sz="600" dirty="0" smtClean="0"/>
          </a:p>
          <a:p>
            <a:r>
              <a:rPr lang="zh-CN" altLang="en-US" sz="600" b="1" dirty="0"/>
              <a:t>结果</a:t>
            </a:r>
            <a:r>
              <a:rPr lang="zh-CN" altLang="en-US" sz="600" dirty="0" smtClean="0"/>
              <a:t>：回答发现</a:t>
            </a:r>
            <a:r>
              <a:rPr lang="zh-CN" altLang="en-US" sz="600" dirty="0"/>
              <a:t>了</a:t>
            </a:r>
            <a:r>
              <a:rPr lang="zh-CN" altLang="en-US" sz="600" dirty="0" smtClean="0"/>
              <a:t>什么</a:t>
            </a:r>
            <a:r>
              <a:rPr lang="zh-CN" altLang="en-US" sz="600" dirty="0"/>
              <a:t>，</a:t>
            </a:r>
            <a:r>
              <a:rPr lang="zh-CN" altLang="en-US" sz="600" dirty="0" smtClean="0"/>
              <a:t>对</a:t>
            </a:r>
            <a:r>
              <a:rPr lang="zh-CN" altLang="en-US" sz="600" dirty="0"/>
              <a:t>实验结果进行描述，发现与以往不一样的问题</a:t>
            </a:r>
            <a:r>
              <a:rPr lang="zh-CN" altLang="en-US" sz="600" dirty="0" smtClean="0"/>
              <a:t>。</a:t>
            </a:r>
            <a:endParaRPr lang="en-US" altLang="zh-CN" sz="600" dirty="0" smtClean="0"/>
          </a:p>
          <a:p>
            <a:r>
              <a:rPr lang="zh-CN" altLang="en-US" sz="600" b="1" dirty="0"/>
              <a:t>讨论</a:t>
            </a:r>
            <a:r>
              <a:rPr lang="zh-CN" altLang="en-US" sz="600" dirty="0"/>
              <a:t>：回答论文的</a:t>
            </a:r>
            <a:r>
              <a:rPr lang="zh-CN" altLang="en-US" sz="600" dirty="0" smtClean="0"/>
              <a:t>意义：对</a:t>
            </a:r>
            <a:r>
              <a:rPr lang="zh-CN" altLang="en-US" sz="600" dirty="0"/>
              <a:t>结果进行说明</a:t>
            </a:r>
            <a:r>
              <a:rPr lang="zh-CN" altLang="en-US" sz="600" dirty="0" smtClean="0"/>
              <a:t>解释，分析</a:t>
            </a:r>
            <a:r>
              <a:rPr lang="zh-CN" altLang="en-US" sz="600" dirty="0"/>
              <a:t>结果的产生原因</a:t>
            </a:r>
            <a:r>
              <a:rPr lang="zh-CN" altLang="en-US" sz="600" dirty="0" smtClean="0"/>
              <a:t>；指出</a:t>
            </a:r>
            <a:r>
              <a:rPr lang="zh-CN" altLang="en-US" sz="600" dirty="0"/>
              <a:t>结果的理论意义和实际价值，</a:t>
            </a:r>
            <a:r>
              <a:rPr lang="zh-CN" altLang="en-US" sz="600" dirty="0" smtClean="0"/>
              <a:t>突出创新性、对前人</a:t>
            </a:r>
            <a:r>
              <a:rPr lang="zh-CN" altLang="en-US" sz="600" dirty="0"/>
              <a:t>的突破</a:t>
            </a:r>
            <a:r>
              <a:rPr lang="zh-CN" altLang="en-US" sz="600" dirty="0" smtClean="0"/>
              <a:t>。可</a:t>
            </a:r>
            <a:r>
              <a:rPr lang="zh-CN" altLang="en-US" sz="600" dirty="0"/>
              <a:t>引用相关</a:t>
            </a:r>
            <a:r>
              <a:rPr lang="zh-CN" altLang="en-US" sz="600" dirty="0" smtClean="0"/>
              <a:t>文献进行</a:t>
            </a:r>
            <a:r>
              <a:rPr lang="zh-CN" altLang="en-US" sz="600" dirty="0"/>
              <a:t>对比，</a:t>
            </a:r>
            <a:r>
              <a:rPr lang="zh-CN" altLang="en-US" sz="600" dirty="0" smtClean="0"/>
              <a:t>找出进步的</a:t>
            </a:r>
            <a:r>
              <a:rPr lang="zh-CN" altLang="en-US" sz="600" dirty="0"/>
              <a:t>地方</a:t>
            </a:r>
            <a:r>
              <a:rPr lang="zh-CN" altLang="en-US" sz="600" dirty="0" smtClean="0"/>
              <a:t>。注意</a:t>
            </a:r>
            <a:r>
              <a:rPr lang="zh-CN" altLang="en-US" sz="600" dirty="0"/>
              <a:t>“回答”引言提出的</a:t>
            </a:r>
            <a:r>
              <a:rPr lang="zh-CN" altLang="en-US" sz="600" dirty="0" smtClean="0"/>
              <a:t>问题</a:t>
            </a:r>
            <a:r>
              <a:rPr lang="zh-CN" altLang="en-US" sz="600" dirty="0"/>
              <a:t>，</a:t>
            </a:r>
            <a:r>
              <a:rPr lang="zh-CN" altLang="en-US" sz="600" dirty="0" smtClean="0"/>
              <a:t>根据</a:t>
            </a:r>
            <a:r>
              <a:rPr lang="zh-CN" altLang="en-US" sz="600" dirty="0"/>
              <a:t>研究的目的和结果所做的总结性、提示性陈述</a:t>
            </a:r>
            <a:r>
              <a:rPr lang="zh-CN" altLang="en-US" sz="600" dirty="0" smtClean="0"/>
              <a:t>，对</a:t>
            </a:r>
            <a:r>
              <a:rPr lang="zh-CN" altLang="en-US" sz="600" dirty="0"/>
              <a:t>研究所反映的问题进行分析和评价</a:t>
            </a:r>
            <a:r>
              <a:rPr lang="zh-CN" altLang="en-US" sz="600" dirty="0" smtClean="0"/>
              <a:t>。</a:t>
            </a:r>
            <a:endParaRPr lang="en-US" altLang="zh-CN" sz="600" dirty="0" smtClean="0"/>
          </a:p>
          <a:p>
            <a:r>
              <a:rPr lang="zh-CN" altLang="en-US" sz="600" b="1" dirty="0" smtClean="0"/>
              <a:t>结论</a:t>
            </a:r>
            <a:r>
              <a:rPr lang="zh-CN" altLang="en-US" sz="600" dirty="0" smtClean="0"/>
              <a:t>：从</a:t>
            </a:r>
            <a:r>
              <a:rPr lang="zh-CN" altLang="en-US" sz="600" dirty="0"/>
              <a:t>实验或观察结果中抽象</a:t>
            </a:r>
            <a:r>
              <a:rPr lang="zh-CN" altLang="en-US" sz="600" dirty="0" smtClean="0"/>
              <a:t>概括的判断，回答</a:t>
            </a:r>
            <a:r>
              <a:rPr lang="zh-CN" altLang="en-US" sz="600" dirty="0"/>
              <a:t>原建立的假设是否正确</a:t>
            </a:r>
            <a:r>
              <a:rPr lang="zh-CN" altLang="en-US" sz="600" dirty="0" smtClean="0"/>
              <a:t>，该</a:t>
            </a:r>
            <a:r>
              <a:rPr lang="zh-CN" altLang="en-US" sz="600" dirty="0"/>
              <a:t>研究所提出的问题作出</a:t>
            </a:r>
            <a:r>
              <a:rPr lang="zh-CN" altLang="en-US" sz="600" dirty="0" smtClean="0"/>
              <a:t>解答。①阐述</a:t>
            </a:r>
            <a:r>
              <a:rPr lang="zh-CN" altLang="en-US" sz="600" dirty="0"/>
              <a:t>结果所揭示的原理及普遍性，</a:t>
            </a:r>
            <a:r>
              <a:rPr lang="zh-CN" altLang="en-US" sz="600" dirty="0" smtClean="0"/>
              <a:t>提出新</a:t>
            </a:r>
            <a:r>
              <a:rPr lang="zh-CN" altLang="en-US" sz="600" dirty="0"/>
              <a:t>的方法说明了什么问题，</a:t>
            </a:r>
            <a:r>
              <a:rPr lang="zh-CN" altLang="en-US" sz="600" dirty="0" smtClean="0"/>
              <a:t>得出的规律</a:t>
            </a:r>
            <a:r>
              <a:rPr lang="zh-CN" altLang="en-US" sz="600" dirty="0"/>
              <a:t>，</a:t>
            </a:r>
            <a:r>
              <a:rPr lang="zh-CN" altLang="en-US" sz="600" dirty="0" smtClean="0"/>
              <a:t>解决的理论</a:t>
            </a:r>
            <a:r>
              <a:rPr lang="en-US" altLang="zh-CN" sz="600" dirty="0" smtClean="0"/>
              <a:t>/</a:t>
            </a:r>
            <a:r>
              <a:rPr lang="zh-CN" altLang="en-US" sz="600" dirty="0" smtClean="0"/>
              <a:t>实际</a:t>
            </a:r>
            <a:r>
              <a:rPr lang="zh-CN" altLang="en-US" sz="600" dirty="0"/>
              <a:t>问题</a:t>
            </a:r>
            <a:r>
              <a:rPr lang="zh-CN" altLang="en-US" sz="600" dirty="0" smtClean="0"/>
              <a:t>，实用</a:t>
            </a:r>
            <a:r>
              <a:rPr lang="zh-CN" altLang="en-US" sz="600" dirty="0"/>
              <a:t>价值和意义</a:t>
            </a:r>
            <a:r>
              <a:rPr lang="zh-CN" altLang="en-US" sz="600" dirty="0" smtClean="0"/>
              <a:t>。②对</a:t>
            </a:r>
            <a:r>
              <a:rPr lang="zh-CN" altLang="en-US" sz="600" dirty="0"/>
              <a:t>前人的结果做了哪些修正、补充、发展或</a:t>
            </a:r>
            <a:r>
              <a:rPr lang="zh-CN" altLang="en-US" sz="600" dirty="0" smtClean="0"/>
              <a:t>否定；③不足</a:t>
            </a:r>
            <a:r>
              <a:rPr lang="zh-CN" altLang="en-US" sz="600" dirty="0"/>
              <a:t>或遗留问题</a:t>
            </a:r>
            <a:r>
              <a:rPr lang="zh-CN" altLang="en-US" sz="600" dirty="0" smtClean="0"/>
              <a:t>，是否有</a:t>
            </a:r>
            <a:r>
              <a:rPr lang="zh-CN" altLang="en-US" sz="600" dirty="0"/>
              <a:t>例外，本论文难以解释或解决的问题，进一步研究的设想和建议。</a:t>
            </a:r>
          </a:p>
          <a:p>
            <a:r>
              <a:rPr lang="zh-CN" altLang="en-US" sz="600" b="1" dirty="0"/>
              <a:t>结论书写内容与</a:t>
            </a:r>
            <a:r>
              <a:rPr lang="zh-CN" altLang="en-US" sz="600" b="1" dirty="0" smtClean="0"/>
              <a:t>要求</a:t>
            </a:r>
            <a:r>
              <a:rPr lang="zh-CN" altLang="en-US" sz="600" dirty="0" smtClean="0"/>
              <a:t>：简明扼要</a:t>
            </a:r>
            <a:r>
              <a:rPr lang="zh-CN" altLang="en-US" sz="600" dirty="0"/>
              <a:t>，精炼完整，每条自成</a:t>
            </a:r>
            <a:r>
              <a:rPr lang="zh-CN" altLang="en-US" sz="600" dirty="0" smtClean="0"/>
              <a:t>段落</a:t>
            </a:r>
            <a:r>
              <a:rPr lang="zh-CN" altLang="en-US" sz="600" dirty="0"/>
              <a:t>；</a:t>
            </a:r>
            <a:r>
              <a:rPr lang="zh-CN" altLang="en-US" sz="600" dirty="0" smtClean="0"/>
              <a:t>说明</a:t>
            </a:r>
            <a:r>
              <a:rPr lang="zh-CN" altLang="en-US" sz="600" dirty="0"/>
              <a:t>结论适用的范围、突出新发现、新发明，强调其意义并作出恰当的</a:t>
            </a:r>
            <a:r>
              <a:rPr lang="zh-CN" altLang="en-US" sz="600" dirty="0" smtClean="0"/>
              <a:t>评价</a:t>
            </a:r>
            <a:r>
              <a:rPr lang="zh-CN" altLang="en-US" sz="600" dirty="0"/>
              <a:t>；</a:t>
            </a:r>
            <a:r>
              <a:rPr lang="zh-CN" altLang="en-US" sz="600" dirty="0" smtClean="0"/>
              <a:t>观点</a:t>
            </a:r>
            <a:r>
              <a:rPr lang="zh-CN" altLang="en-US" sz="600" dirty="0"/>
              <a:t>鲜明，用肯定的证据和可靠的数据写作，</a:t>
            </a:r>
            <a:r>
              <a:rPr lang="zh-CN" altLang="en-US" sz="600" dirty="0" smtClean="0"/>
              <a:t>不用可能、大概”等词；不能肯定的内容不能写入结论；提出</a:t>
            </a:r>
            <a:r>
              <a:rPr lang="zh-CN" altLang="en-US" sz="600" dirty="0"/>
              <a:t>与本研究有关的</a:t>
            </a:r>
            <a:r>
              <a:rPr lang="zh-CN" altLang="en-US" sz="600" dirty="0" smtClean="0"/>
              <a:t>建议；避免</a:t>
            </a:r>
            <a:r>
              <a:rPr lang="zh-CN" altLang="en-US" sz="600" dirty="0"/>
              <a:t>与摘要</a:t>
            </a:r>
            <a:r>
              <a:rPr lang="zh-CN" altLang="en-US" sz="600" dirty="0" smtClean="0"/>
              <a:t>重复。</a:t>
            </a:r>
            <a:endParaRPr lang="en-US" altLang="zh-CN" sz="600" dirty="0" smtClean="0"/>
          </a:p>
          <a:p>
            <a:r>
              <a:rPr lang="zh-CN" altLang="en-US" sz="600" b="1" dirty="0" smtClean="0"/>
              <a:t>摘要与结论区别</a:t>
            </a:r>
            <a:r>
              <a:rPr lang="zh-CN" altLang="en-US" sz="600" dirty="0" smtClean="0"/>
              <a:t>：摘要：研究的领域，有哪些问题，分别设计哪些方法解决问题，解决问题取得了什么效果；结论：设计了什么方法，通过实验证明分析，取得了什么效果，局限性与未来展望。</a:t>
            </a:r>
            <a:endParaRPr lang="en-US" altLang="zh-CN" sz="600" dirty="0" smtClean="0"/>
          </a:p>
          <a:p>
            <a:r>
              <a:rPr lang="zh-CN" altLang="en-US" sz="600" b="1" dirty="0"/>
              <a:t>参考</a:t>
            </a:r>
            <a:r>
              <a:rPr lang="zh-CN" altLang="en-US" sz="600" b="1" dirty="0" smtClean="0"/>
              <a:t>文献</a:t>
            </a:r>
            <a:r>
              <a:rPr lang="zh-CN" altLang="en-US" sz="600" dirty="0" smtClean="0"/>
              <a:t>：只收录亲自</a:t>
            </a:r>
            <a:r>
              <a:rPr lang="zh-CN" altLang="en-US" sz="600" dirty="0"/>
              <a:t>阅读过，并在论文中直接使用的</a:t>
            </a:r>
            <a:r>
              <a:rPr lang="zh-CN" altLang="en-US" sz="600" dirty="0" smtClean="0"/>
              <a:t>文献；重视</a:t>
            </a:r>
            <a:r>
              <a:rPr lang="zh-CN" altLang="en-US" sz="600" dirty="0"/>
              <a:t>原始文献和第一手</a:t>
            </a:r>
            <a:r>
              <a:rPr lang="zh-CN" altLang="en-US" sz="600" dirty="0" smtClean="0"/>
              <a:t>资料；转引</a:t>
            </a:r>
            <a:r>
              <a:rPr lang="zh-CN" altLang="en-US" sz="600" dirty="0"/>
              <a:t>的</a:t>
            </a:r>
            <a:r>
              <a:rPr lang="zh-CN" altLang="en-US" sz="600" dirty="0" smtClean="0"/>
              <a:t>文献查找</a:t>
            </a:r>
            <a:r>
              <a:rPr lang="zh-CN" altLang="en-US" sz="600" dirty="0"/>
              <a:t>原始文献进行</a:t>
            </a:r>
            <a:r>
              <a:rPr lang="zh-CN" altLang="en-US" sz="600" dirty="0" smtClean="0"/>
              <a:t>核对；引用</a:t>
            </a:r>
            <a:r>
              <a:rPr lang="zh-CN" altLang="en-US" sz="600" dirty="0"/>
              <a:t>论点必须</a:t>
            </a:r>
            <a:r>
              <a:rPr lang="zh-CN" altLang="en-US" sz="600" dirty="0" smtClean="0"/>
              <a:t>准确无误；采用</a:t>
            </a:r>
            <a:r>
              <a:rPr lang="zh-CN" altLang="en-US" sz="600" dirty="0"/>
              <a:t>规范著录格式</a:t>
            </a:r>
            <a:r>
              <a:rPr lang="zh-CN" altLang="en-US" sz="600" dirty="0" smtClean="0"/>
              <a:t>。</a:t>
            </a:r>
            <a:endParaRPr lang="en-US" altLang="zh-CN" sz="600" dirty="0" smtClean="0"/>
          </a:p>
          <a:p>
            <a:r>
              <a:rPr lang="zh-CN" altLang="en-US" sz="600" dirty="0"/>
              <a:t>优先引用最新发表的重要</a:t>
            </a:r>
            <a:r>
              <a:rPr lang="zh-CN" altLang="en-US" sz="600" dirty="0" smtClean="0"/>
              <a:t>文献，</a:t>
            </a:r>
            <a:r>
              <a:rPr lang="zh-CN" altLang="en-US" sz="600" dirty="0"/>
              <a:t>适当引用较经典的</a:t>
            </a:r>
            <a:r>
              <a:rPr lang="zh-CN" altLang="en-US" sz="600" dirty="0" smtClean="0"/>
              <a:t>文献；与</a:t>
            </a:r>
            <a:r>
              <a:rPr lang="zh-CN" altLang="en-US" sz="600" dirty="0"/>
              <a:t>论文主题</a:t>
            </a:r>
            <a:r>
              <a:rPr lang="zh-CN" altLang="en-US" sz="600" dirty="0" smtClean="0"/>
              <a:t>密切相关；避免</a:t>
            </a:r>
            <a:r>
              <a:rPr lang="zh-CN" altLang="en-US" sz="600" dirty="0"/>
              <a:t>文献来源过于</a:t>
            </a:r>
            <a:r>
              <a:rPr lang="zh-CN" altLang="en-US" sz="600" dirty="0" smtClean="0"/>
              <a:t>集中（同</a:t>
            </a:r>
            <a:r>
              <a:rPr lang="zh-CN" altLang="en-US" sz="600" dirty="0"/>
              <a:t>一</a:t>
            </a:r>
            <a:r>
              <a:rPr lang="zh-CN" altLang="en-US" sz="600" dirty="0" smtClean="0"/>
              <a:t>作者</a:t>
            </a:r>
            <a:r>
              <a:rPr lang="en-US" altLang="zh-CN" sz="600" dirty="0" smtClean="0"/>
              <a:t>/</a:t>
            </a:r>
            <a:r>
              <a:rPr lang="zh-CN" altLang="en-US" sz="600" dirty="0" smtClean="0"/>
              <a:t>研究机构）；保证</a:t>
            </a:r>
            <a:r>
              <a:rPr lang="zh-CN" altLang="en-US" sz="600" dirty="0"/>
              <a:t>文献著录信息的</a:t>
            </a:r>
            <a:r>
              <a:rPr lang="zh-CN" altLang="en-US" sz="600" dirty="0" smtClean="0"/>
              <a:t>正确性；在</a:t>
            </a:r>
            <a:r>
              <a:rPr lang="zh-CN" altLang="en-US" sz="600" dirty="0"/>
              <a:t>正文中顺序</a:t>
            </a:r>
            <a:r>
              <a:rPr lang="zh-CN" altLang="en-US" sz="600" dirty="0" smtClean="0"/>
              <a:t>引用；最新</a:t>
            </a:r>
            <a:r>
              <a:rPr lang="zh-CN" altLang="en-US" sz="600" dirty="0"/>
              <a:t>、关键、必要、亲自阅读，避免二次</a:t>
            </a:r>
            <a:r>
              <a:rPr lang="zh-CN" altLang="en-US" sz="600" dirty="0" smtClean="0"/>
              <a:t>引用；图书</a:t>
            </a:r>
            <a:r>
              <a:rPr lang="zh-CN" altLang="en-US" sz="600" dirty="0"/>
              <a:t>、标准等文献类型不宜</a:t>
            </a:r>
            <a:r>
              <a:rPr lang="zh-CN" altLang="en-US" sz="600" dirty="0" smtClean="0"/>
              <a:t>过多。</a:t>
            </a:r>
            <a:endParaRPr lang="en-US" altLang="zh-CN" sz="600" dirty="0" smtClean="0"/>
          </a:p>
          <a:p>
            <a:r>
              <a:rPr lang="zh-CN" altLang="en-US" sz="600" b="1" dirty="0" smtClean="0"/>
              <a:t>投稿流程</a:t>
            </a:r>
            <a:r>
              <a:rPr lang="zh-CN" altLang="en-US" sz="600" dirty="0" smtClean="0"/>
              <a:t>：投稿（撰写论文，准备投稿资料，在系统投稿，获得投稿编号）</a:t>
            </a:r>
            <a:r>
              <a:rPr lang="en-US" altLang="zh-CN" sz="600" dirty="0" smtClean="0"/>
              <a:t>-</a:t>
            </a:r>
            <a:r>
              <a:rPr lang="zh-CN" altLang="en-US" sz="600" dirty="0" smtClean="0"/>
              <a:t>初审（表单是否齐全，是否属于刊载范围，排版格式符合要求）</a:t>
            </a:r>
            <a:r>
              <a:rPr lang="en-US" altLang="zh-CN" sz="600" dirty="0" smtClean="0"/>
              <a:t>-</a:t>
            </a:r>
            <a:r>
              <a:rPr lang="zh-CN" altLang="en-US" sz="600" dirty="0" smtClean="0"/>
              <a:t>外审（同行评议，至少两小同行给意见）</a:t>
            </a:r>
            <a:r>
              <a:rPr lang="en-US" altLang="zh-CN" sz="600" dirty="0" smtClean="0"/>
              <a:t>-</a:t>
            </a:r>
            <a:r>
              <a:rPr lang="zh-CN" altLang="en-US" sz="600" dirty="0" smtClean="0"/>
              <a:t>编委（主审）</a:t>
            </a:r>
            <a:r>
              <a:rPr lang="en-US" altLang="zh-CN" sz="600" dirty="0" smtClean="0"/>
              <a:t>-</a:t>
            </a:r>
            <a:r>
              <a:rPr lang="zh-CN" altLang="en-US" sz="600" dirty="0" smtClean="0"/>
              <a:t>主编（终审）</a:t>
            </a:r>
            <a:r>
              <a:rPr lang="en-US" altLang="zh-CN" sz="600" dirty="0" smtClean="0"/>
              <a:t>-</a:t>
            </a:r>
            <a:r>
              <a:rPr lang="zh-CN" altLang="en-US" sz="600" dirty="0" smtClean="0"/>
              <a:t>录用</a:t>
            </a:r>
            <a:endParaRPr lang="en-US" altLang="zh-CN" sz="600" dirty="0" smtClean="0"/>
          </a:p>
          <a:p>
            <a:r>
              <a:rPr lang="zh-CN" altLang="en-US" sz="600" dirty="0"/>
              <a:t>修改后</a:t>
            </a:r>
            <a:r>
              <a:rPr lang="zh-CN" altLang="en-US" sz="600" dirty="0" smtClean="0"/>
              <a:t>录用：文章</a:t>
            </a:r>
            <a:r>
              <a:rPr lang="zh-CN" altLang="en-US" sz="600" dirty="0"/>
              <a:t>存在问题较少</a:t>
            </a:r>
            <a:r>
              <a:rPr lang="zh-CN" altLang="en-US" sz="600" dirty="0" smtClean="0"/>
              <a:t>，如</a:t>
            </a:r>
            <a:r>
              <a:rPr lang="zh-CN" altLang="en-US" sz="600" dirty="0"/>
              <a:t>写作方面</a:t>
            </a:r>
            <a:r>
              <a:rPr lang="zh-CN" altLang="en-US" sz="600" dirty="0" smtClean="0"/>
              <a:t>的问题，</a:t>
            </a:r>
            <a:r>
              <a:rPr lang="zh-CN" altLang="en-US" sz="600" dirty="0"/>
              <a:t>作者修改后即可</a:t>
            </a:r>
            <a:r>
              <a:rPr lang="zh-CN" altLang="en-US" sz="600" dirty="0" smtClean="0"/>
              <a:t>录用；</a:t>
            </a:r>
            <a:endParaRPr lang="zh-CN" altLang="en-US" sz="600" dirty="0"/>
          </a:p>
          <a:p>
            <a:r>
              <a:rPr lang="zh-CN" altLang="en-US" sz="600" dirty="0" smtClean="0"/>
              <a:t>修改</a:t>
            </a:r>
            <a:r>
              <a:rPr lang="zh-CN" altLang="en-US" sz="600" dirty="0"/>
              <a:t>后</a:t>
            </a:r>
            <a:r>
              <a:rPr lang="zh-CN" altLang="en-US" sz="600" dirty="0" smtClean="0"/>
              <a:t>再审：问题较多</a:t>
            </a:r>
            <a:r>
              <a:rPr lang="zh-CN" altLang="en-US" sz="600" dirty="0"/>
              <a:t>如</a:t>
            </a:r>
            <a:r>
              <a:rPr lang="zh-CN" altLang="en-US" sz="600" dirty="0" smtClean="0"/>
              <a:t>科学性</a:t>
            </a:r>
            <a:r>
              <a:rPr lang="zh-CN" altLang="en-US" sz="600" dirty="0"/>
              <a:t>错误，或未体现文章的</a:t>
            </a:r>
            <a:r>
              <a:rPr lang="zh-CN" altLang="en-US" sz="600" dirty="0" smtClean="0"/>
              <a:t>贡献，</a:t>
            </a:r>
            <a:r>
              <a:rPr lang="zh-CN" altLang="en-US" sz="600" dirty="0"/>
              <a:t>防止作者</a:t>
            </a:r>
            <a:r>
              <a:rPr lang="zh-CN" altLang="en-US" sz="600" dirty="0" smtClean="0"/>
              <a:t>修改</a:t>
            </a:r>
            <a:r>
              <a:rPr lang="zh-CN" altLang="en-US" sz="600" dirty="0"/>
              <a:t>不到位</a:t>
            </a:r>
            <a:r>
              <a:rPr lang="zh-CN" altLang="en-US" sz="600" dirty="0" smtClean="0"/>
              <a:t>，通过</a:t>
            </a:r>
            <a:r>
              <a:rPr lang="zh-CN" altLang="en-US" sz="600" dirty="0"/>
              <a:t>复审</a:t>
            </a:r>
            <a:r>
              <a:rPr lang="zh-CN" altLang="en-US" sz="600" dirty="0" smtClean="0"/>
              <a:t>辨别；退稿</a:t>
            </a:r>
            <a:r>
              <a:rPr lang="zh-CN" altLang="en-US" sz="600" dirty="0"/>
              <a:t>或改投他</a:t>
            </a:r>
            <a:r>
              <a:rPr lang="zh-CN" altLang="en-US" sz="600" dirty="0" smtClean="0"/>
              <a:t>刊：研究</a:t>
            </a:r>
            <a:r>
              <a:rPr lang="zh-CN" altLang="en-US" sz="600" dirty="0"/>
              <a:t>无新意或无实际价值，或学术</a:t>
            </a:r>
            <a:r>
              <a:rPr lang="zh-CN" altLang="en-US" sz="600" dirty="0" smtClean="0"/>
              <a:t>水平</a:t>
            </a:r>
            <a:r>
              <a:rPr lang="zh-CN" altLang="en-US" sz="600" dirty="0"/>
              <a:t>未达到该刊要求，或建议转投更</a:t>
            </a:r>
            <a:r>
              <a:rPr lang="zh-CN" altLang="en-US" sz="600" dirty="0" smtClean="0"/>
              <a:t>适合</a:t>
            </a:r>
            <a:r>
              <a:rPr lang="zh-CN" altLang="en-US" sz="600" dirty="0"/>
              <a:t>本篇文章的其他</a:t>
            </a:r>
            <a:r>
              <a:rPr lang="zh-CN" altLang="en-US" sz="600" dirty="0" smtClean="0"/>
              <a:t>刊物。</a:t>
            </a:r>
            <a:endParaRPr lang="en-US" altLang="zh-CN" sz="600" dirty="0" smtClean="0"/>
          </a:p>
          <a:p>
            <a:r>
              <a:rPr lang="zh-CN" altLang="en-US" sz="600" b="1" dirty="0" smtClean="0"/>
              <a:t>修改论文注意</a:t>
            </a:r>
            <a:r>
              <a:rPr lang="zh-CN" altLang="en-US" sz="600" b="1" dirty="0"/>
              <a:t>事项</a:t>
            </a:r>
            <a:r>
              <a:rPr lang="zh-CN" altLang="en-US" sz="600" dirty="0"/>
              <a:t>：撰写对审稿意见的回复，逐条回答审稿人提出的问题，指明文</a:t>
            </a:r>
            <a:r>
              <a:rPr lang="zh-CN" altLang="en-US" sz="600" dirty="0" smtClean="0"/>
              <a:t>中做</a:t>
            </a:r>
            <a:r>
              <a:rPr lang="zh-CN" altLang="en-US" sz="600" dirty="0"/>
              <a:t>了哪些</a:t>
            </a:r>
            <a:r>
              <a:rPr lang="zh-CN" altLang="en-US" sz="600" dirty="0" smtClean="0"/>
              <a:t>修改；若对审稿</a:t>
            </a:r>
            <a:r>
              <a:rPr lang="zh-CN" altLang="en-US" sz="600" dirty="0"/>
              <a:t>意见不能完全理解，可先按照自己的理解进行</a:t>
            </a:r>
            <a:r>
              <a:rPr lang="zh-CN" altLang="en-US" sz="600" dirty="0" smtClean="0"/>
              <a:t>修改</a:t>
            </a:r>
            <a:r>
              <a:rPr lang="zh-CN" altLang="en-US" sz="600" dirty="0"/>
              <a:t>；</a:t>
            </a:r>
            <a:r>
              <a:rPr lang="zh-CN" altLang="en-US" sz="600" dirty="0" smtClean="0"/>
              <a:t>修改</a:t>
            </a:r>
            <a:r>
              <a:rPr lang="zh-CN" altLang="en-US" sz="600" dirty="0"/>
              <a:t>稿件务必仔细</a:t>
            </a:r>
            <a:r>
              <a:rPr lang="zh-CN" altLang="en-US" sz="600" dirty="0" smtClean="0"/>
              <a:t>认真；审稿</a:t>
            </a:r>
            <a:r>
              <a:rPr lang="zh-CN" altLang="en-US" sz="600" dirty="0"/>
              <a:t>意见中不当的地方</a:t>
            </a:r>
            <a:r>
              <a:rPr lang="zh-CN" altLang="en-US" sz="600" dirty="0" smtClean="0"/>
              <a:t>，适当</a:t>
            </a:r>
            <a:r>
              <a:rPr lang="zh-CN" altLang="en-US" sz="600" dirty="0"/>
              <a:t>以讨论的形式向审稿人提出，而不是简单的拒绝</a:t>
            </a:r>
            <a:r>
              <a:rPr lang="zh-CN" altLang="en-US" sz="600" dirty="0" smtClean="0"/>
              <a:t>修改。</a:t>
            </a:r>
            <a:endParaRPr lang="en-US" altLang="zh-CN" sz="600" dirty="0" smtClean="0"/>
          </a:p>
          <a:p>
            <a:r>
              <a:rPr lang="zh-CN" altLang="en-US" sz="600" b="1" dirty="0"/>
              <a:t>稿件</a:t>
            </a:r>
            <a:r>
              <a:rPr lang="zh-CN" altLang="en-US" sz="600" b="1" dirty="0" smtClean="0"/>
              <a:t>退回原因</a:t>
            </a:r>
            <a:r>
              <a:rPr lang="zh-CN" altLang="en-US" sz="600" dirty="0" smtClean="0"/>
              <a:t>：论文</a:t>
            </a:r>
            <a:r>
              <a:rPr lang="zh-CN" altLang="en-US" sz="600" dirty="0"/>
              <a:t>质量不高，科学性存在</a:t>
            </a:r>
            <a:r>
              <a:rPr lang="zh-CN" altLang="en-US" sz="600" dirty="0" smtClean="0"/>
              <a:t>瑕疵</a:t>
            </a:r>
            <a:r>
              <a:rPr lang="zh-CN" altLang="en-US" sz="600" dirty="0"/>
              <a:t>；</a:t>
            </a:r>
            <a:r>
              <a:rPr lang="zh-CN" altLang="en-US" sz="600" dirty="0" smtClean="0"/>
              <a:t>创新性</a:t>
            </a:r>
            <a:r>
              <a:rPr lang="zh-CN" altLang="en-US" sz="600" dirty="0"/>
              <a:t>不够，研究</a:t>
            </a:r>
            <a:r>
              <a:rPr lang="zh-CN" altLang="en-US" sz="600" dirty="0" smtClean="0"/>
              <a:t>证实既往</a:t>
            </a:r>
            <a:r>
              <a:rPr lang="zh-CN" altLang="en-US" sz="600" dirty="0"/>
              <a:t>研究结果，但并未推动相关领域的学术</a:t>
            </a:r>
            <a:r>
              <a:rPr lang="zh-CN" altLang="en-US" sz="600" dirty="0" smtClean="0"/>
              <a:t>进展</a:t>
            </a:r>
            <a:r>
              <a:rPr lang="zh-CN" altLang="en-US" sz="600" dirty="0"/>
              <a:t>；</a:t>
            </a:r>
            <a:r>
              <a:rPr lang="zh-CN" altLang="en-US" sz="600" dirty="0" smtClean="0"/>
              <a:t>研究</a:t>
            </a:r>
            <a:r>
              <a:rPr lang="zh-CN" altLang="en-US" sz="600" dirty="0"/>
              <a:t>的内容集中于某一专科，不具备普遍</a:t>
            </a:r>
            <a:r>
              <a:rPr lang="zh-CN" altLang="en-US" sz="600" dirty="0" smtClean="0"/>
              <a:t>影响力</a:t>
            </a:r>
            <a:r>
              <a:rPr lang="zh-CN" altLang="en-US" sz="600" dirty="0"/>
              <a:t>；</a:t>
            </a:r>
            <a:r>
              <a:rPr lang="zh-CN" altLang="en-US" sz="600" dirty="0" smtClean="0"/>
              <a:t> </a:t>
            </a:r>
            <a:r>
              <a:rPr lang="zh-CN" altLang="en-US" sz="600" dirty="0"/>
              <a:t>分析不</a:t>
            </a:r>
            <a:r>
              <a:rPr lang="zh-CN" altLang="en-US" sz="600" dirty="0" smtClean="0"/>
              <a:t>到位</a:t>
            </a:r>
            <a:r>
              <a:rPr lang="zh-CN" altLang="en-US" sz="600" dirty="0"/>
              <a:t>，</a:t>
            </a:r>
            <a:r>
              <a:rPr lang="zh-CN" altLang="en-US" sz="600" dirty="0" smtClean="0"/>
              <a:t>有新发现但</a:t>
            </a:r>
            <a:r>
              <a:rPr lang="zh-CN" altLang="en-US" sz="600" dirty="0"/>
              <a:t>未能</a:t>
            </a:r>
            <a:r>
              <a:rPr lang="zh-CN" altLang="en-US" sz="600" dirty="0" smtClean="0"/>
              <a:t>很好提炼</a:t>
            </a:r>
            <a:r>
              <a:rPr lang="zh-CN" altLang="en-US" sz="600" dirty="0"/>
              <a:t>升华并上升到</a:t>
            </a:r>
            <a:r>
              <a:rPr lang="zh-CN" altLang="en-US" sz="600" dirty="0" smtClean="0"/>
              <a:t>理论。单纯定性</a:t>
            </a:r>
            <a:r>
              <a:rPr lang="zh-CN" altLang="en-US" sz="600" dirty="0"/>
              <a:t>描述，缺乏</a:t>
            </a:r>
            <a:r>
              <a:rPr lang="zh-CN" altLang="en-US" sz="600" dirty="0" smtClean="0"/>
              <a:t>定量严谨</a:t>
            </a:r>
            <a:r>
              <a:rPr lang="zh-CN" altLang="en-US" sz="600" dirty="0"/>
              <a:t>的</a:t>
            </a:r>
            <a:r>
              <a:rPr lang="zh-CN" altLang="en-US" sz="600" dirty="0" smtClean="0"/>
              <a:t>论证</a:t>
            </a:r>
            <a:r>
              <a:rPr lang="zh-CN" altLang="en-US" sz="600" dirty="0"/>
              <a:t>；</a:t>
            </a:r>
            <a:r>
              <a:rPr lang="zh-CN" altLang="en-US" sz="600" dirty="0" smtClean="0"/>
              <a:t>内容</a:t>
            </a:r>
            <a:r>
              <a:rPr lang="zh-CN" altLang="en-US" sz="600" dirty="0"/>
              <a:t>不够</a:t>
            </a:r>
            <a:r>
              <a:rPr lang="zh-CN" altLang="en-US" sz="600" dirty="0" smtClean="0"/>
              <a:t>分量；语言</a:t>
            </a:r>
            <a:r>
              <a:rPr lang="zh-CN" altLang="en-US" sz="600" dirty="0"/>
              <a:t>文字</a:t>
            </a:r>
            <a:r>
              <a:rPr lang="zh-CN" altLang="en-US" sz="600" dirty="0" smtClean="0"/>
              <a:t>问题。</a:t>
            </a:r>
            <a:endParaRPr lang="en-US" altLang="zh-CN" sz="600" dirty="0" smtClean="0"/>
          </a:p>
          <a:p>
            <a:r>
              <a:rPr lang="zh-CN" altLang="en-US" sz="600" b="1" dirty="0"/>
              <a:t>学位论文结构</a:t>
            </a:r>
            <a:r>
              <a:rPr lang="zh-CN" altLang="en-US" sz="600" dirty="0"/>
              <a:t>：前置</a:t>
            </a:r>
            <a:r>
              <a:rPr lang="zh-CN" altLang="en-US" sz="600" dirty="0" smtClean="0"/>
              <a:t>部分</a:t>
            </a:r>
            <a:r>
              <a:rPr lang="en-US" altLang="zh-CN" sz="600" dirty="0" smtClean="0"/>
              <a:t>(</a:t>
            </a:r>
            <a:r>
              <a:rPr lang="zh-CN" altLang="en-US" sz="600" dirty="0" smtClean="0"/>
              <a:t>封面</a:t>
            </a:r>
            <a:r>
              <a:rPr lang="en-US" altLang="zh-CN" sz="600" dirty="0" smtClean="0"/>
              <a:t>,</a:t>
            </a:r>
            <a:r>
              <a:rPr lang="zh-CN" altLang="en-US" sz="600" dirty="0" smtClean="0"/>
              <a:t>中英文扉页</a:t>
            </a:r>
            <a:r>
              <a:rPr lang="en-US" altLang="zh-CN" sz="600" dirty="0" smtClean="0"/>
              <a:t>,</a:t>
            </a:r>
            <a:r>
              <a:rPr lang="zh-CN" altLang="en-US" sz="600" dirty="0" smtClean="0"/>
              <a:t>中英文</a:t>
            </a:r>
            <a:r>
              <a:rPr lang="zh-CN" altLang="en-US" sz="600" dirty="0"/>
              <a:t>摘要</a:t>
            </a:r>
            <a:r>
              <a:rPr lang="en-US" altLang="zh-CN" sz="600" dirty="0"/>
              <a:t>/</a:t>
            </a:r>
            <a:r>
              <a:rPr lang="zh-CN" altLang="en-US" sz="600" dirty="0" smtClean="0"/>
              <a:t>关键词</a:t>
            </a:r>
            <a:r>
              <a:rPr lang="en-US" altLang="zh-CN" sz="600" dirty="0" smtClean="0"/>
              <a:t>,</a:t>
            </a:r>
            <a:r>
              <a:rPr lang="zh-CN" altLang="en-US" sz="600" dirty="0" smtClean="0"/>
              <a:t>目录</a:t>
            </a:r>
            <a:r>
              <a:rPr lang="en-US" altLang="zh-CN" sz="600" dirty="0" smtClean="0"/>
              <a:t>),</a:t>
            </a:r>
            <a:r>
              <a:rPr lang="zh-CN" altLang="en-US" sz="600" dirty="0" smtClean="0"/>
              <a:t>论文主体</a:t>
            </a:r>
            <a:r>
              <a:rPr lang="en-US" altLang="zh-CN" sz="600" dirty="0" smtClean="0"/>
              <a:t>(</a:t>
            </a:r>
            <a:r>
              <a:rPr lang="zh-CN" altLang="en-US" sz="600" dirty="0" smtClean="0"/>
              <a:t>第</a:t>
            </a:r>
            <a:r>
              <a:rPr lang="en-US" altLang="zh-CN" sz="600" dirty="0" smtClean="0"/>
              <a:t>1</a:t>
            </a:r>
            <a:r>
              <a:rPr lang="zh-CN" altLang="en-US" sz="600" dirty="0" smtClean="0"/>
              <a:t>章绪论</a:t>
            </a:r>
            <a:r>
              <a:rPr lang="en-US" altLang="zh-CN" sz="600" dirty="0" smtClean="0"/>
              <a:t>,</a:t>
            </a:r>
            <a:r>
              <a:rPr lang="zh-CN" altLang="en-US" sz="600" dirty="0" smtClean="0"/>
              <a:t>第</a:t>
            </a:r>
            <a:r>
              <a:rPr lang="en-US" altLang="zh-CN" sz="600" dirty="0" smtClean="0"/>
              <a:t>2~5</a:t>
            </a:r>
            <a:r>
              <a:rPr lang="zh-CN" altLang="en-US" sz="600" dirty="0" smtClean="0"/>
              <a:t>章主要内容</a:t>
            </a:r>
            <a:r>
              <a:rPr lang="en-US" altLang="zh-CN" sz="600" dirty="0"/>
              <a:t>,</a:t>
            </a:r>
            <a:r>
              <a:rPr lang="zh-CN" altLang="en-US" sz="600" dirty="0" smtClean="0"/>
              <a:t>结论</a:t>
            </a:r>
            <a:r>
              <a:rPr lang="en-US" altLang="zh-CN" sz="600" dirty="0" smtClean="0"/>
              <a:t>,</a:t>
            </a:r>
            <a:r>
              <a:rPr lang="zh-CN" altLang="en-US" sz="600" dirty="0" smtClean="0"/>
              <a:t>参考文献</a:t>
            </a:r>
            <a:r>
              <a:rPr lang="en-US" altLang="zh-CN" sz="600" dirty="0" smtClean="0"/>
              <a:t>),</a:t>
            </a:r>
            <a:r>
              <a:rPr lang="zh-CN" altLang="en-US" sz="600" dirty="0" smtClean="0"/>
              <a:t>后</a:t>
            </a:r>
            <a:r>
              <a:rPr lang="zh-CN" altLang="en-US" sz="600" dirty="0"/>
              <a:t>置</a:t>
            </a:r>
            <a:r>
              <a:rPr lang="zh-CN" altLang="en-US" sz="600" dirty="0" smtClean="0"/>
              <a:t>部分</a:t>
            </a:r>
            <a:r>
              <a:rPr lang="en-US" altLang="zh-CN" sz="600" dirty="0" smtClean="0"/>
              <a:t>(</a:t>
            </a:r>
            <a:r>
              <a:rPr lang="zh-CN" altLang="en-US" sz="600" dirty="0" smtClean="0"/>
              <a:t>攻读</a:t>
            </a:r>
            <a:r>
              <a:rPr lang="zh-CN" altLang="en-US" sz="600" dirty="0"/>
              <a:t>硕士学位期间发表的论文及其它</a:t>
            </a:r>
            <a:r>
              <a:rPr lang="zh-CN" altLang="en-US" sz="600" dirty="0" smtClean="0"/>
              <a:t>成果</a:t>
            </a:r>
            <a:r>
              <a:rPr lang="en-US" altLang="zh-CN" sz="600" dirty="0" smtClean="0"/>
              <a:t>,</a:t>
            </a:r>
            <a:r>
              <a:rPr lang="zh-CN" altLang="en-US" sz="600" dirty="0" smtClean="0"/>
              <a:t>哈尔滨工业大学</a:t>
            </a:r>
            <a:r>
              <a:rPr lang="zh-CN" altLang="en-US" sz="600" dirty="0"/>
              <a:t>学位论文原创性声明和使用</a:t>
            </a:r>
            <a:r>
              <a:rPr lang="zh-CN" altLang="en-US" sz="600" dirty="0" smtClean="0"/>
              <a:t>权限</a:t>
            </a:r>
            <a:r>
              <a:rPr lang="en-US" altLang="zh-CN" sz="600" dirty="0" smtClean="0"/>
              <a:t>,</a:t>
            </a:r>
            <a:r>
              <a:rPr lang="zh-CN" altLang="en-US" sz="600" dirty="0" smtClean="0"/>
              <a:t>致谢</a:t>
            </a:r>
            <a:r>
              <a:rPr lang="en-US" altLang="zh-CN" sz="600" dirty="0" smtClean="0"/>
              <a:t>)</a:t>
            </a:r>
          </a:p>
          <a:p>
            <a:r>
              <a:rPr lang="zh-CN" altLang="en-US" sz="600" b="1" dirty="0" smtClean="0"/>
              <a:t>摘要</a:t>
            </a:r>
            <a:r>
              <a:rPr lang="zh-CN" altLang="en-US" sz="600" dirty="0"/>
              <a:t>：</a:t>
            </a:r>
            <a:r>
              <a:rPr lang="zh-CN" altLang="en-US" sz="600" dirty="0" smtClean="0"/>
              <a:t>独立的短文，用</a:t>
            </a:r>
            <a:r>
              <a:rPr lang="zh-CN" altLang="en-US" sz="600" dirty="0"/>
              <a:t>高度概括的语句涵盖</a:t>
            </a:r>
            <a:r>
              <a:rPr lang="en-US" altLang="zh-CN" sz="600" dirty="0"/>
              <a:t>Why</a:t>
            </a:r>
            <a:r>
              <a:rPr lang="zh-CN" altLang="en-US" sz="600" dirty="0"/>
              <a:t>、</a:t>
            </a:r>
            <a:r>
              <a:rPr lang="en-US" altLang="zh-CN" sz="600" dirty="0"/>
              <a:t>What</a:t>
            </a:r>
            <a:r>
              <a:rPr lang="zh-CN" altLang="en-US" sz="600" dirty="0"/>
              <a:t>、</a:t>
            </a:r>
            <a:r>
              <a:rPr lang="en-US" altLang="zh-CN" sz="600" dirty="0"/>
              <a:t>How</a:t>
            </a:r>
            <a:r>
              <a:rPr lang="zh-CN" altLang="en-US" sz="600" dirty="0"/>
              <a:t>、</a:t>
            </a:r>
            <a:r>
              <a:rPr lang="en-US" altLang="zh-CN" sz="600" dirty="0" smtClean="0"/>
              <a:t>Results</a:t>
            </a:r>
            <a:r>
              <a:rPr lang="zh-CN" altLang="en-US" sz="600" dirty="0" smtClean="0"/>
              <a:t>，相关</a:t>
            </a:r>
            <a:r>
              <a:rPr lang="zh-CN" altLang="en-US" sz="600" dirty="0"/>
              <a:t>内容的长度比例与正文内容对应</a:t>
            </a:r>
            <a:r>
              <a:rPr lang="zh-CN" altLang="en-US" sz="600" dirty="0" smtClean="0"/>
              <a:t>。不用首先、然后</a:t>
            </a:r>
            <a:r>
              <a:rPr lang="en-US" altLang="zh-CN" sz="600" dirty="0" smtClean="0"/>
              <a:t>/</a:t>
            </a:r>
            <a:r>
              <a:rPr lang="zh-CN" altLang="en-US" sz="600" dirty="0" smtClean="0"/>
              <a:t>第一、第二。</a:t>
            </a:r>
            <a:endParaRPr lang="en-US" altLang="zh-CN" sz="600" dirty="0" smtClean="0"/>
          </a:p>
          <a:p>
            <a:r>
              <a:rPr lang="zh-CN" altLang="en-US" sz="600" b="1" dirty="0" smtClean="0"/>
              <a:t>绪论</a:t>
            </a:r>
            <a:r>
              <a:rPr lang="zh-CN" altLang="en-US" sz="600" dirty="0" smtClean="0"/>
              <a:t>：课题</a:t>
            </a:r>
            <a:r>
              <a:rPr lang="zh-CN" altLang="en-US" sz="600" dirty="0"/>
              <a:t>来源</a:t>
            </a:r>
            <a:r>
              <a:rPr lang="en-US" altLang="zh-CN" sz="600" dirty="0"/>
              <a:t>(</a:t>
            </a:r>
            <a:r>
              <a:rPr lang="zh-CN" altLang="en-US" sz="600" dirty="0"/>
              <a:t>大背景</a:t>
            </a:r>
            <a:r>
              <a:rPr lang="en-US" altLang="zh-CN" sz="600" dirty="0"/>
              <a:t>1</a:t>
            </a:r>
            <a:r>
              <a:rPr lang="en-US" altLang="zh-CN" sz="600" dirty="0" smtClean="0"/>
              <a:t>)</a:t>
            </a:r>
            <a:r>
              <a:rPr lang="zh-CN" altLang="en-US" sz="600" dirty="0" smtClean="0"/>
              <a:t>，课题</a:t>
            </a:r>
            <a:r>
              <a:rPr lang="zh-CN" altLang="en-US" sz="600" dirty="0"/>
              <a:t>研究的目的及意义</a:t>
            </a:r>
            <a:r>
              <a:rPr lang="en-US" altLang="zh-CN" sz="600" dirty="0"/>
              <a:t>(</a:t>
            </a:r>
            <a:r>
              <a:rPr lang="zh-CN" altLang="en-US" sz="600" dirty="0"/>
              <a:t>大背景</a:t>
            </a:r>
            <a:r>
              <a:rPr lang="en-US" altLang="zh-CN" sz="600" dirty="0"/>
              <a:t>2</a:t>
            </a:r>
            <a:r>
              <a:rPr lang="en-US" altLang="zh-CN" sz="600" dirty="0" smtClean="0"/>
              <a:t>)</a:t>
            </a:r>
            <a:r>
              <a:rPr lang="zh-CN" altLang="en-US" sz="600" dirty="0" smtClean="0"/>
              <a:t>，国内外</a:t>
            </a:r>
            <a:r>
              <a:rPr lang="zh-CN" altLang="en-US" sz="600" dirty="0"/>
              <a:t>研究现状</a:t>
            </a:r>
            <a:r>
              <a:rPr lang="en-US" altLang="zh-CN" sz="600" dirty="0"/>
              <a:t>(</a:t>
            </a:r>
            <a:r>
              <a:rPr lang="zh-CN" altLang="en-US" sz="600" dirty="0"/>
              <a:t>小背景；最后要包含动态分析</a:t>
            </a:r>
            <a:r>
              <a:rPr lang="en-US" altLang="zh-CN" sz="600" dirty="0" smtClean="0"/>
              <a:t>)</a:t>
            </a:r>
            <a:r>
              <a:rPr lang="zh-CN" altLang="en-US" sz="600" dirty="0" smtClean="0"/>
              <a:t>，本文</a:t>
            </a:r>
            <a:r>
              <a:rPr lang="zh-CN" altLang="en-US" sz="600" dirty="0"/>
              <a:t>的主要研究内容</a:t>
            </a:r>
            <a:r>
              <a:rPr lang="en-US" altLang="zh-CN" sz="600" dirty="0"/>
              <a:t>(</a:t>
            </a:r>
            <a:r>
              <a:rPr lang="zh-CN" altLang="en-US" sz="600" dirty="0"/>
              <a:t>研究点</a:t>
            </a:r>
            <a:r>
              <a:rPr lang="en-US" altLang="zh-CN" sz="600" dirty="0" smtClean="0"/>
              <a:t>)</a:t>
            </a:r>
            <a:r>
              <a:rPr lang="zh-CN" altLang="en-US" sz="600" dirty="0"/>
              <a:t>，“核心句</a:t>
            </a:r>
            <a:r>
              <a:rPr lang="en-US" altLang="zh-CN" sz="600" dirty="0"/>
              <a:t>+</a:t>
            </a:r>
            <a:r>
              <a:rPr lang="zh-CN" altLang="en-US" sz="600" dirty="0"/>
              <a:t>思路</a:t>
            </a:r>
            <a:r>
              <a:rPr lang="en-US" altLang="zh-CN" sz="600" dirty="0"/>
              <a:t>/</a:t>
            </a:r>
            <a:r>
              <a:rPr lang="zh-CN" altLang="en-US" sz="600" dirty="0"/>
              <a:t>过程”的形式，可体现“拟，将”要</a:t>
            </a:r>
            <a:r>
              <a:rPr lang="zh-CN" altLang="en-US" sz="600" dirty="0" smtClean="0"/>
              <a:t>开展。</a:t>
            </a:r>
            <a:endParaRPr lang="en-US" altLang="zh-CN" sz="600" dirty="0" smtClean="0"/>
          </a:p>
          <a:p>
            <a:r>
              <a:rPr lang="zh-CN" altLang="en-US" sz="600" b="1" dirty="0"/>
              <a:t>正文</a:t>
            </a:r>
            <a:r>
              <a:rPr lang="zh-CN" altLang="en-US" sz="600" dirty="0"/>
              <a:t>：</a:t>
            </a:r>
            <a:r>
              <a:rPr lang="zh-CN" altLang="en-US" sz="600" dirty="0" smtClean="0"/>
              <a:t>博士：理工科</a:t>
            </a:r>
            <a:r>
              <a:rPr lang="en-US" altLang="zh-CN" sz="600" dirty="0" smtClean="0"/>
              <a:t>6-8</a:t>
            </a:r>
            <a:r>
              <a:rPr lang="zh-CN" altLang="en-US" sz="600" dirty="0"/>
              <a:t>万</a:t>
            </a:r>
            <a:r>
              <a:rPr lang="zh-CN" altLang="en-US" sz="600" dirty="0" smtClean="0"/>
              <a:t>字</a:t>
            </a:r>
            <a:r>
              <a:rPr lang="en-US" altLang="zh-CN" sz="600" dirty="0" smtClean="0"/>
              <a:t>/</a:t>
            </a:r>
            <a:r>
              <a:rPr lang="en-US" altLang="zh-CN" sz="600" dirty="0"/>
              <a:t> 100-150</a:t>
            </a:r>
            <a:r>
              <a:rPr lang="zh-CN" altLang="en-US" sz="600" dirty="0" smtClean="0"/>
              <a:t>页，人文学科</a:t>
            </a:r>
            <a:r>
              <a:rPr lang="en-US" altLang="zh-CN" sz="600" dirty="0" smtClean="0"/>
              <a:t>8- </a:t>
            </a:r>
            <a:r>
              <a:rPr lang="en-US" altLang="zh-CN" sz="600" dirty="0"/>
              <a:t>10</a:t>
            </a:r>
            <a:r>
              <a:rPr lang="zh-CN" altLang="en-US" sz="600" dirty="0"/>
              <a:t>万字</a:t>
            </a:r>
            <a:r>
              <a:rPr lang="zh-CN" altLang="en-US" sz="600" dirty="0" smtClean="0"/>
              <a:t>，绪论</a:t>
            </a:r>
            <a:r>
              <a:rPr lang="en-US" altLang="zh-CN" sz="600" dirty="0" smtClean="0"/>
              <a:t>1</a:t>
            </a:r>
            <a:r>
              <a:rPr lang="zh-CN" altLang="en-US" sz="600" dirty="0"/>
              <a:t>万</a:t>
            </a:r>
            <a:r>
              <a:rPr lang="zh-CN" altLang="en-US" sz="600" dirty="0" smtClean="0"/>
              <a:t>字。</a:t>
            </a:r>
            <a:r>
              <a:rPr lang="en-US" altLang="zh-CN" sz="600" dirty="0"/>
              <a:t> </a:t>
            </a:r>
            <a:r>
              <a:rPr lang="en-US" altLang="zh-CN" sz="600" dirty="0" smtClean="0"/>
              <a:t> </a:t>
            </a:r>
            <a:r>
              <a:rPr lang="zh-CN" altLang="en-US" sz="600" dirty="0" smtClean="0"/>
              <a:t>硕士：理工科</a:t>
            </a:r>
            <a:r>
              <a:rPr lang="en-US" altLang="zh-CN" sz="600" dirty="0" smtClean="0"/>
              <a:t>3-5</a:t>
            </a:r>
            <a:r>
              <a:rPr lang="zh-CN" altLang="en-US" sz="600" dirty="0"/>
              <a:t>万</a:t>
            </a:r>
            <a:r>
              <a:rPr lang="zh-CN" altLang="en-US" sz="600" dirty="0" smtClean="0"/>
              <a:t>字</a:t>
            </a:r>
            <a:r>
              <a:rPr lang="en-US" altLang="zh-CN" sz="600" dirty="0" smtClean="0"/>
              <a:t>/</a:t>
            </a:r>
            <a:r>
              <a:rPr lang="en-US" altLang="zh-CN" sz="600" dirty="0"/>
              <a:t> 40-80</a:t>
            </a:r>
            <a:r>
              <a:rPr lang="zh-CN" altLang="en-US" sz="600" dirty="0" smtClean="0"/>
              <a:t>页，人文学科</a:t>
            </a:r>
            <a:r>
              <a:rPr lang="en-US" altLang="zh-CN" sz="600" dirty="0" smtClean="0"/>
              <a:t>3- </a:t>
            </a:r>
            <a:r>
              <a:rPr lang="en-US" altLang="zh-CN" sz="600" dirty="0"/>
              <a:t>5</a:t>
            </a:r>
            <a:r>
              <a:rPr lang="zh-CN" altLang="en-US" sz="600" dirty="0"/>
              <a:t>万字</a:t>
            </a:r>
            <a:r>
              <a:rPr lang="zh-CN" altLang="en-US" sz="600" dirty="0" smtClean="0"/>
              <a:t>，绪论</a:t>
            </a:r>
            <a:r>
              <a:rPr lang="en-US" altLang="zh-CN" sz="600" dirty="0" smtClean="0"/>
              <a:t>3000-5000</a:t>
            </a:r>
            <a:r>
              <a:rPr lang="zh-CN" altLang="en-US" sz="600" dirty="0"/>
              <a:t>字</a:t>
            </a:r>
            <a:r>
              <a:rPr lang="zh-CN" altLang="en-US" sz="600" dirty="0" smtClean="0"/>
              <a:t>。</a:t>
            </a:r>
            <a:endParaRPr lang="en-US" altLang="zh-CN" sz="600" dirty="0" smtClean="0"/>
          </a:p>
          <a:p>
            <a:r>
              <a:rPr lang="zh-CN" altLang="en-US" sz="600" b="1" dirty="0"/>
              <a:t>正</a:t>
            </a:r>
            <a:r>
              <a:rPr lang="zh-CN" altLang="en-US" sz="600" b="1" dirty="0" smtClean="0"/>
              <a:t>文章节</a:t>
            </a:r>
            <a:r>
              <a:rPr lang="zh-CN" altLang="en-US" sz="600" dirty="0" smtClean="0"/>
              <a:t>：引言</a:t>
            </a:r>
            <a:r>
              <a:rPr lang="zh-CN" altLang="en-US" sz="600" dirty="0"/>
              <a:t>：本内容的</a:t>
            </a:r>
            <a:r>
              <a:rPr lang="zh-CN" altLang="en-US" sz="600" dirty="0" smtClean="0"/>
              <a:t>目的、</a:t>
            </a:r>
            <a:r>
              <a:rPr lang="zh-CN" altLang="en-US" sz="600" dirty="0"/>
              <a:t>本内容的具体描述或思路</a:t>
            </a:r>
            <a:r>
              <a:rPr lang="zh-CN" altLang="en-US" sz="600" dirty="0" smtClean="0"/>
              <a:t>简述；过程</a:t>
            </a:r>
            <a:r>
              <a:rPr lang="zh-CN" altLang="en-US" sz="600" dirty="0"/>
              <a:t>：本内容的详细</a:t>
            </a:r>
            <a:r>
              <a:rPr lang="zh-CN" altLang="en-US" sz="600" dirty="0" smtClean="0"/>
              <a:t>过程；小结</a:t>
            </a:r>
            <a:r>
              <a:rPr lang="zh-CN" altLang="en-US" sz="600" dirty="0"/>
              <a:t>：对研究过程进行总结，并强调取得的结果，呼应引言中提出的</a:t>
            </a:r>
            <a:r>
              <a:rPr lang="zh-CN" altLang="en-US" sz="600" dirty="0" smtClean="0"/>
              <a:t>目的。</a:t>
            </a:r>
            <a:endParaRPr lang="en-US" altLang="zh-CN" sz="600" dirty="0" smtClean="0"/>
          </a:p>
          <a:p>
            <a:r>
              <a:rPr lang="zh-CN" altLang="en-US" sz="600" b="1" dirty="0"/>
              <a:t>章节及各章标题 </a:t>
            </a:r>
            <a:r>
              <a:rPr lang="zh-CN" altLang="en-US" sz="600" dirty="0" smtClean="0"/>
              <a:t>：①正文</a:t>
            </a:r>
            <a:r>
              <a:rPr lang="zh-CN" altLang="en-US" sz="600" dirty="0"/>
              <a:t>分章节撰写，每章应另起一页</a:t>
            </a:r>
            <a:r>
              <a:rPr lang="zh-CN" altLang="en-US" sz="600" dirty="0" smtClean="0"/>
              <a:t>。②</a:t>
            </a:r>
            <a:r>
              <a:rPr lang="zh-CN" altLang="en-US" sz="600" dirty="0"/>
              <a:t>各章</a:t>
            </a:r>
            <a:r>
              <a:rPr lang="zh-CN" altLang="en-US" sz="600" dirty="0" smtClean="0"/>
              <a:t>标题突出</a:t>
            </a:r>
            <a:r>
              <a:rPr lang="zh-CN" altLang="en-US" sz="600" dirty="0"/>
              <a:t>重点、</a:t>
            </a:r>
            <a:r>
              <a:rPr lang="zh-CN" altLang="en-US" sz="600" dirty="0" smtClean="0"/>
              <a:t>简明扼要，一般</a:t>
            </a:r>
            <a:r>
              <a:rPr lang="en-US" altLang="zh-CN" sz="600" dirty="0" smtClean="0"/>
              <a:t>15</a:t>
            </a:r>
            <a:r>
              <a:rPr lang="zh-CN" altLang="en-US" sz="600" dirty="0"/>
              <a:t>字以内</a:t>
            </a:r>
            <a:r>
              <a:rPr lang="zh-CN" altLang="en-US" sz="600" dirty="0" smtClean="0"/>
              <a:t>，</a:t>
            </a:r>
            <a:r>
              <a:rPr lang="zh-CN" altLang="en-US" sz="600" dirty="0"/>
              <a:t>无</a:t>
            </a:r>
            <a:r>
              <a:rPr lang="zh-CN" altLang="en-US" sz="600" dirty="0" smtClean="0"/>
              <a:t>标点符号。尽量</a:t>
            </a:r>
            <a:r>
              <a:rPr lang="zh-CN" altLang="en-US" sz="600" dirty="0"/>
              <a:t>不采用英文缩写词</a:t>
            </a:r>
            <a:r>
              <a:rPr lang="zh-CN" altLang="en-US" sz="600" dirty="0" smtClean="0"/>
              <a:t>，必须</a:t>
            </a:r>
            <a:r>
              <a:rPr lang="zh-CN" altLang="en-US" sz="600" dirty="0"/>
              <a:t>采用</a:t>
            </a:r>
            <a:r>
              <a:rPr lang="zh-CN" altLang="en-US" sz="600" dirty="0" smtClean="0"/>
              <a:t>者使用</a:t>
            </a:r>
            <a:r>
              <a:rPr lang="zh-CN" altLang="en-US" sz="600" dirty="0"/>
              <a:t>本行业的通用缩写词</a:t>
            </a:r>
            <a:r>
              <a:rPr lang="zh-CN" altLang="en-US" sz="600" dirty="0" smtClean="0"/>
              <a:t>。  层次：①以</a:t>
            </a:r>
            <a:r>
              <a:rPr lang="zh-CN" altLang="en-US" sz="600" dirty="0"/>
              <a:t>少为宜，根据实际需要</a:t>
            </a:r>
            <a:r>
              <a:rPr lang="zh-CN" altLang="en-US" sz="600" dirty="0" smtClean="0"/>
              <a:t>选择</a:t>
            </a:r>
            <a:r>
              <a:rPr lang="zh-CN" altLang="en-US" sz="600" dirty="0"/>
              <a:t>；</a:t>
            </a:r>
            <a:r>
              <a:rPr lang="zh-CN" altLang="en-US" sz="600" dirty="0" smtClean="0"/>
              <a:t>②</a:t>
            </a:r>
            <a:r>
              <a:rPr lang="zh-CN" altLang="en-US" sz="600" dirty="0"/>
              <a:t>层次要求统一，</a:t>
            </a:r>
            <a:r>
              <a:rPr lang="zh-CN" altLang="en-US" sz="600" dirty="0" smtClean="0"/>
              <a:t>但节下</a:t>
            </a:r>
            <a:r>
              <a:rPr lang="zh-CN" altLang="en-US" sz="600" dirty="0"/>
              <a:t>内容无需列</a:t>
            </a:r>
            <a:r>
              <a:rPr lang="zh-CN" altLang="en-US" sz="600" dirty="0" smtClean="0"/>
              <a:t>条可</a:t>
            </a:r>
            <a:r>
              <a:rPr lang="zh-CN" altLang="en-US" sz="600" dirty="0"/>
              <a:t>直接列</a:t>
            </a:r>
            <a:r>
              <a:rPr lang="zh-CN" altLang="en-US" sz="600" dirty="0" smtClean="0"/>
              <a:t>款项。 </a:t>
            </a:r>
            <a:endParaRPr lang="en-US" altLang="zh-CN" sz="600" dirty="0" smtClean="0"/>
          </a:p>
          <a:p>
            <a:r>
              <a:rPr lang="zh-CN" altLang="en-US" sz="600" b="1" dirty="0" smtClean="0"/>
              <a:t>结论</a:t>
            </a:r>
            <a:r>
              <a:rPr lang="zh-CN" altLang="en-US" sz="600" dirty="0" smtClean="0"/>
              <a:t>：突出</a:t>
            </a:r>
            <a:r>
              <a:rPr lang="zh-CN" altLang="en-US" sz="600" dirty="0"/>
              <a:t>本课题所取得的研究成果，重在对效果的评价上</a:t>
            </a:r>
            <a:r>
              <a:rPr lang="zh-CN" altLang="en-US" sz="600" dirty="0" smtClean="0"/>
              <a:t>。作为</a:t>
            </a:r>
            <a:r>
              <a:rPr lang="zh-CN" altLang="en-US" sz="600" dirty="0"/>
              <a:t>论文正文的最后一章单独排写</a:t>
            </a:r>
            <a:r>
              <a:rPr lang="zh-CN" altLang="en-US" sz="600" dirty="0" smtClean="0"/>
              <a:t>，不</a:t>
            </a:r>
            <a:r>
              <a:rPr lang="zh-CN" altLang="en-US" sz="600" dirty="0"/>
              <a:t>加章号</a:t>
            </a:r>
            <a:r>
              <a:rPr lang="zh-CN" altLang="en-US" sz="600" dirty="0" smtClean="0"/>
              <a:t>。</a:t>
            </a:r>
            <a:r>
              <a:rPr lang="en-US" altLang="zh-CN" sz="600" dirty="0" smtClean="0"/>
              <a:t>2000</a:t>
            </a:r>
            <a:r>
              <a:rPr lang="zh-CN" altLang="en-US" sz="600" dirty="0"/>
              <a:t>字</a:t>
            </a:r>
            <a:r>
              <a:rPr lang="zh-CN" altLang="en-US" sz="600" dirty="0" smtClean="0"/>
              <a:t>以内， 一段</a:t>
            </a:r>
            <a:r>
              <a:rPr lang="zh-CN" altLang="en-US" sz="600" dirty="0"/>
              <a:t>话作为帽子，对前面的研究过程简要描述，然后“本文的研究取得了如下成果：</a:t>
            </a:r>
            <a:r>
              <a:rPr lang="zh-CN" altLang="en-US" sz="600" dirty="0" smtClean="0"/>
              <a:t>”提出了</a:t>
            </a:r>
            <a:r>
              <a:rPr lang="en-US" altLang="zh-CN" sz="600" dirty="0" smtClean="0"/>
              <a:t>/</a:t>
            </a:r>
            <a:r>
              <a:rPr lang="zh-CN" altLang="en-US" sz="600" dirty="0" smtClean="0"/>
              <a:t>建立了，解决了。与以往的研究相比，该系统</a:t>
            </a:r>
            <a:r>
              <a:rPr lang="en-US" altLang="zh-CN" sz="600" dirty="0" smtClean="0"/>
              <a:t>/</a:t>
            </a:r>
            <a:r>
              <a:rPr lang="zh-CN" altLang="en-US" sz="600" dirty="0" smtClean="0"/>
              <a:t>模型</a:t>
            </a:r>
            <a:r>
              <a:rPr lang="en-US" altLang="zh-CN" sz="600" dirty="0" smtClean="0"/>
              <a:t>/</a:t>
            </a:r>
            <a:r>
              <a:rPr lang="zh-CN" altLang="en-US" sz="600" dirty="0" smtClean="0"/>
              <a:t>方法具有</a:t>
            </a:r>
            <a:r>
              <a:rPr lang="en-US" altLang="zh-CN" sz="600" dirty="0" smtClean="0"/>
              <a:t>(</a:t>
            </a:r>
            <a:r>
              <a:rPr lang="zh-CN" altLang="en-US" sz="600" dirty="0" smtClean="0"/>
              <a:t>优点</a:t>
            </a:r>
            <a:r>
              <a:rPr lang="en-US" altLang="zh-CN" sz="600" dirty="0" smtClean="0"/>
              <a:t>)</a:t>
            </a:r>
            <a:r>
              <a:rPr lang="zh-CN" altLang="en-US" sz="600" dirty="0" smtClean="0"/>
              <a:t>。</a:t>
            </a:r>
            <a:endParaRPr lang="en-US" altLang="zh-CN" sz="600" dirty="0" smtClean="0"/>
          </a:p>
          <a:p>
            <a:r>
              <a:rPr lang="zh-CN" altLang="en-US" sz="600" b="1" dirty="0"/>
              <a:t>参考文献</a:t>
            </a:r>
            <a:r>
              <a:rPr lang="zh-CN" altLang="en-US" sz="600" dirty="0" smtClean="0"/>
              <a:t>：被</a:t>
            </a:r>
            <a:r>
              <a:rPr lang="zh-CN" altLang="en-US" sz="600" dirty="0"/>
              <a:t>引用文献</a:t>
            </a:r>
            <a:r>
              <a:rPr lang="zh-CN" altLang="en-US" sz="600" dirty="0" smtClean="0"/>
              <a:t>均列入，按</a:t>
            </a:r>
            <a:r>
              <a:rPr lang="zh-CN" altLang="en-US" sz="600" dirty="0"/>
              <a:t>顺序</a:t>
            </a:r>
            <a:r>
              <a:rPr lang="zh-CN" altLang="en-US" sz="600" dirty="0" smtClean="0"/>
              <a:t>标注，但同</a:t>
            </a:r>
            <a:r>
              <a:rPr lang="zh-CN" altLang="en-US" sz="600" dirty="0"/>
              <a:t>一篇文章只用一个序号。</a:t>
            </a:r>
          </a:p>
          <a:p>
            <a:r>
              <a:rPr lang="zh-CN" altLang="en-US" sz="600" dirty="0" smtClean="0"/>
              <a:t>博士不</a:t>
            </a:r>
            <a:r>
              <a:rPr lang="zh-CN" altLang="en-US" sz="600" dirty="0"/>
              <a:t>少于</a:t>
            </a:r>
            <a:r>
              <a:rPr lang="en-US" altLang="zh-CN" sz="600" dirty="0"/>
              <a:t>100</a:t>
            </a:r>
            <a:r>
              <a:rPr lang="zh-CN" altLang="en-US" sz="600" dirty="0"/>
              <a:t>篇</a:t>
            </a:r>
            <a:r>
              <a:rPr lang="zh-CN" altLang="en-US" sz="600" dirty="0" smtClean="0"/>
              <a:t>，外文不少于</a:t>
            </a:r>
            <a:r>
              <a:rPr lang="en-US" altLang="zh-CN" sz="600" dirty="0" smtClean="0"/>
              <a:t>1/2</a:t>
            </a:r>
            <a:r>
              <a:rPr lang="zh-CN" altLang="en-US" sz="600" dirty="0"/>
              <a:t>；</a:t>
            </a:r>
            <a:r>
              <a:rPr lang="zh-CN" altLang="en-US" sz="600" dirty="0" smtClean="0"/>
              <a:t>硕士不</a:t>
            </a:r>
            <a:r>
              <a:rPr lang="zh-CN" altLang="en-US" sz="600" dirty="0"/>
              <a:t>少于</a:t>
            </a:r>
            <a:r>
              <a:rPr lang="en-US" altLang="zh-CN" sz="600" dirty="0"/>
              <a:t>40</a:t>
            </a:r>
            <a:r>
              <a:rPr lang="zh-CN" altLang="en-US" sz="600" dirty="0"/>
              <a:t>篇</a:t>
            </a:r>
            <a:r>
              <a:rPr lang="zh-CN" altLang="en-US" sz="600" dirty="0" smtClean="0"/>
              <a:t>，外文不</a:t>
            </a:r>
            <a:r>
              <a:rPr lang="zh-CN" altLang="en-US" sz="600" dirty="0"/>
              <a:t>少于</a:t>
            </a:r>
            <a:r>
              <a:rPr lang="en-US" altLang="zh-CN" sz="600" dirty="0"/>
              <a:t>20</a:t>
            </a:r>
            <a:r>
              <a:rPr lang="zh-CN" altLang="en-US" sz="600" dirty="0"/>
              <a:t>篇</a:t>
            </a:r>
            <a:r>
              <a:rPr lang="zh-CN" altLang="en-US" sz="600" dirty="0" smtClean="0"/>
              <a:t>。近五年文献不少于</a:t>
            </a:r>
            <a:r>
              <a:rPr lang="en-US" altLang="zh-CN" sz="600" dirty="0" smtClean="0"/>
              <a:t>1/3</a:t>
            </a:r>
            <a:r>
              <a:rPr lang="zh-CN" altLang="en-US" sz="600" dirty="0" smtClean="0"/>
              <a:t>，且有</a:t>
            </a:r>
            <a:r>
              <a:rPr lang="zh-CN" altLang="en-US" sz="600" dirty="0"/>
              <a:t>近</a:t>
            </a:r>
            <a:r>
              <a:rPr lang="zh-CN" altLang="en-US" sz="600" dirty="0" smtClean="0"/>
              <a:t>两年文献</a:t>
            </a:r>
            <a:r>
              <a:rPr lang="zh-CN" altLang="en-US" sz="600" dirty="0"/>
              <a:t>。 </a:t>
            </a:r>
            <a:r>
              <a:rPr lang="zh-CN" altLang="en-US" sz="600" dirty="0" smtClean="0"/>
              <a:t>教材</a:t>
            </a:r>
            <a:r>
              <a:rPr lang="zh-CN" altLang="en-US" sz="600" dirty="0"/>
              <a:t>、产品说明书</a:t>
            </a:r>
            <a:r>
              <a:rPr lang="zh-CN" altLang="en-US" sz="600" dirty="0" smtClean="0"/>
              <a:t>、标准、报纸刊登文章</a:t>
            </a:r>
            <a:r>
              <a:rPr lang="zh-CN" altLang="en-US" sz="600" dirty="0"/>
              <a:t>及未公开发表的研究</a:t>
            </a:r>
            <a:r>
              <a:rPr lang="zh-CN" altLang="en-US" sz="600" dirty="0" smtClean="0"/>
              <a:t>报告等不作为</a:t>
            </a:r>
            <a:r>
              <a:rPr lang="zh-CN" altLang="en-US" sz="600" dirty="0"/>
              <a:t>参考</a:t>
            </a:r>
            <a:r>
              <a:rPr lang="zh-CN" altLang="en-US" sz="600" dirty="0" smtClean="0"/>
              <a:t>文献。 引用</a:t>
            </a:r>
            <a:r>
              <a:rPr lang="zh-CN" altLang="en-US" sz="600" dirty="0"/>
              <a:t>网上参考文献时，应注明该文献的准确网页地址，网上参考文献不包含</a:t>
            </a:r>
            <a:r>
              <a:rPr lang="zh-CN" altLang="en-US" sz="600" dirty="0" smtClean="0"/>
              <a:t>在规定</a:t>
            </a:r>
            <a:r>
              <a:rPr lang="zh-CN" altLang="en-US" sz="600" dirty="0"/>
              <a:t>的文献数量之内</a:t>
            </a:r>
            <a:r>
              <a:rPr lang="zh-CN" altLang="en-US" sz="600" dirty="0" smtClean="0"/>
              <a:t>。</a:t>
            </a:r>
            <a:endParaRPr lang="en-US" altLang="zh-CN" sz="600" dirty="0" smtClean="0"/>
          </a:p>
          <a:p>
            <a:r>
              <a:rPr lang="zh-CN" altLang="en-US" sz="600" b="1" dirty="0" smtClean="0"/>
              <a:t>引用格式</a:t>
            </a:r>
            <a:r>
              <a:rPr lang="en-US" altLang="zh-CN" sz="600" dirty="0" smtClean="0"/>
              <a:t>(GB/T7714-2005)</a:t>
            </a:r>
            <a:r>
              <a:rPr lang="zh-CN" altLang="en-US" sz="600" dirty="0" smtClean="0"/>
              <a:t>：标注遵照，</a:t>
            </a:r>
            <a:r>
              <a:rPr lang="zh-CN" altLang="en-US" sz="600" dirty="0"/>
              <a:t>采用顺序编码制。正文中引用文献的标示应置于所引内容最后一个字的右上角，所引文献</a:t>
            </a:r>
            <a:r>
              <a:rPr lang="zh-CN" altLang="en-US" sz="600" dirty="0" smtClean="0"/>
              <a:t>编号置于</a:t>
            </a:r>
            <a:r>
              <a:rPr lang="zh-CN" altLang="en-US" sz="600" dirty="0"/>
              <a:t>方括号“</a:t>
            </a:r>
            <a:r>
              <a:rPr lang="en-US" altLang="zh-CN" sz="600" dirty="0"/>
              <a:t>[ ]”</a:t>
            </a:r>
            <a:r>
              <a:rPr lang="zh-CN" altLang="en-US" sz="600" dirty="0"/>
              <a:t>中</a:t>
            </a:r>
            <a:r>
              <a:rPr lang="zh-CN" altLang="en-US" sz="600" dirty="0" smtClean="0"/>
              <a:t>，小</a:t>
            </a:r>
            <a:r>
              <a:rPr lang="en-US" altLang="zh-CN" sz="600" dirty="0"/>
              <a:t>4</a:t>
            </a:r>
            <a:r>
              <a:rPr lang="zh-CN" altLang="en-US" sz="600" dirty="0"/>
              <a:t>号</a:t>
            </a:r>
            <a:r>
              <a:rPr lang="zh-CN" altLang="en-US" sz="600" dirty="0" smtClean="0"/>
              <a:t>字体上角</a:t>
            </a:r>
            <a:r>
              <a:rPr lang="zh-CN" altLang="en-US" sz="600" dirty="0"/>
              <a:t>标</a:t>
            </a:r>
            <a:r>
              <a:rPr lang="zh-CN" altLang="en-US" sz="600" dirty="0" smtClean="0"/>
              <a:t>。单篇文献</a:t>
            </a:r>
            <a:r>
              <a:rPr lang="en-US" altLang="zh-CN" sz="600" dirty="0" smtClean="0"/>
              <a:t>(</a:t>
            </a:r>
            <a:r>
              <a:rPr lang="zh-CN" altLang="en-US" sz="600" dirty="0" smtClean="0"/>
              <a:t>二</a:t>
            </a:r>
            <a:r>
              <a:rPr lang="zh-CN" altLang="en-US" sz="600" dirty="0"/>
              <a:t>次铣削</a:t>
            </a:r>
            <a:r>
              <a:rPr lang="en-US" altLang="zh-CN" sz="600" baseline="30000" dirty="0"/>
              <a:t>[1</a:t>
            </a:r>
            <a:r>
              <a:rPr lang="en-US" altLang="zh-CN" sz="600" baseline="30000" dirty="0" smtClean="0"/>
              <a:t>]</a:t>
            </a:r>
            <a:r>
              <a:rPr lang="en-US" altLang="zh-CN" sz="600" dirty="0" smtClean="0"/>
              <a:t>)</a:t>
            </a:r>
            <a:r>
              <a:rPr lang="zh-CN" altLang="en-US" sz="600" dirty="0"/>
              <a:t>；</a:t>
            </a:r>
            <a:r>
              <a:rPr lang="zh-CN" altLang="en-US" sz="600" dirty="0" smtClean="0"/>
              <a:t>同</a:t>
            </a:r>
            <a:r>
              <a:rPr lang="zh-CN" altLang="en-US" sz="600" dirty="0"/>
              <a:t>一处引用多篇文献时，各篇文献的序号在方括号内全部</a:t>
            </a:r>
            <a:r>
              <a:rPr lang="zh-CN" altLang="en-US" sz="600" dirty="0" smtClean="0"/>
              <a:t>列出，如遇连续序号，可标注讫序号</a:t>
            </a:r>
            <a:r>
              <a:rPr lang="en-US" altLang="zh-CN" sz="600" dirty="0" smtClean="0"/>
              <a:t>(</a:t>
            </a:r>
            <a:r>
              <a:rPr lang="zh-CN" altLang="en-US" sz="600" dirty="0" smtClean="0"/>
              <a:t>形成了多种数学模型</a:t>
            </a:r>
            <a:r>
              <a:rPr lang="en-US" altLang="zh-CN" sz="600" baseline="30000" dirty="0" smtClean="0"/>
              <a:t>[7,9,11-13]</a:t>
            </a:r>
            <a:r>
              <a:rPr lang="en-US" altLang="zh-CN" sz="600" dirty="0" smtClean="0"/>
              <a:t>)</a:t>
            </a:r>
            <a:r>
              <a:rPr lang="zh-CN" altLang="en-US" sz="600" dirty="0" smtClean="0"/>
              <a:t>；多次</a:t>
            </a:r>
            <a:r>
              <a:rPr lang="zh-CN" altLang="en-US" sz="600" dirty="0"/>
              <a:t>引用同一文献时</a:t>
            </a:r>
            <a:r>
              <a:rPr lang="zh-CN" altLang="en-US" sz="600" dirty="0" smtClean="0"/>
              <a:t>，标注</a:t>
            </a:r>
            <a:r>
              <a:rPr lang="zh-CN" altLang="en-US" sz="600" dirty="0"/>
              <a:t>引文</a:t>
            </a:r>
            <a:r>
              <a:rPr lang="zh-CN" altLang="en-US" sz="600" dirty="0" smtClean="0"/>
              <a:t>页码</a:t>
            </a:r>
            <a:r>
              <a:rPr lang="en-US" altLang="zh-CN" sz="600" dirty="0" smtClean="0"/>
              <a:t>(</a:t>
            </a:r>
            <a:r>
              <a:rPr lang="zh-CN" altLang="en-US" sz="600" dirty="0" smtClean="0"/>
              <a:t>间质细胞</a:t>
            </a:r>
            <a:r>
              <a:rPr lang="en-US" altLang="zh-CN" sz="600" dirty="0"/>
              <a:t>CAMP</a:t>
            </a:r>
            <a:r>
              <a:rPr lang="zh-CN" altLang="en-US" sz="600" dirty="0"/>
              <a:t>含量测定</a:t>
            </a:r>
            <a:r>
              <a:rPr lang="en-US" altLang="zh-CN" sz="600" baseline="30000" dirty="0"/>
              <a:t>[</a:t>
            </a:r>
            <a:r>
              <a:rPr lang="en-US" altLang="zh-CN" sz="600" baseline="30000" dirty="0" smtClean="0"/>
              <a:t>3]101-108</a:t>
            </a:r>
            <a:r>
              <a:rPr lang="zh-CN" altLang="en-US" sz="600" dirty="0" smtClean="0"/>
              <a:t>。含量测定</a:t>
            </a:r>
            <a:r>
              <a:rPr lang="zh-CN" altLang="en-US" sz="600" dirty="0"/>
              <a:t>方法规定</a:t>
            </a:r>
            <a:r>
              <a:rPr lang="en-US" altLang="zh-CN" sz="600" baseline="30000" dirty="0"/>
              <a:t>[</a:t>
            </a:r>
            <a:r>
              <a:rPr lang="en-US" altLang="zh-CN" sz="600" baseline="30000" dirty="0" smtClean="0"/>
              <a:t>3]92</a:t>
            </a:r>
            <a:r>
              <a:rPr lang="en-US" altLang="zh-CN" sz="600" dirty="0" smtClean="0"/>
              <a:t>)</a:t>
            </a:r>
            <a:r>
              <a:rPr lang="zh-CN" altLang="en-US" sz="600" dirty="0" smtClean="0"/>
              <a:t>；参考</a:t>
            </a:r>
            <a:r>
              <a:rPr lang="zh-CN" altLang="en-US" sz="600" dirty="0"/>
              <a:t>文献为文中直接说明时</a:t>
            </a:r>
            <a:r>
              <a:rPr lang="zh-CN" altLang="en-US" sz="600" dirty="0" smtClean="0"/>
              <a:t>，小</a:t>
            </a:r>
            <a:r>
              <a:rPr lang="en-US" altLang="zh-CN" sz="600" dirty="0"/>
              <a:t>4</a:t>
            </a:r>
            <a:r>
              <a:rPr lang="zh-CN" altLang="en-US" sz="600" dirty="0"/>
              <a:t>号字与正文排</a:t>
            </a:r>
            <a:r>
              <a:rPr lang="zh-CN" altLang="en-US" sz="600" dirty="0" smtClean="0"/>
              <a:t>齐</a:t>
            </a:r>
            <a:r>
              <a:rPr lang="en-US" altLang="zh-CN" sz="600" dirty="0"/>
              <a:t>(</a:t>
            </a:r>
            <a:r>
              <a:rPr lang="zh-CN" altLang="en-US" sz="600" dirty="0" smtClean="0"/>
              <a:t>由</a:t>
            </a:r>
            <a:r>
              <a:rPr lang="zh-CN" altLang="en-US" sz="600" dirty="0"/>
              <a:t>文献</a:t>
            </a:r>
            <a:r>
              <a:rPr lang="en-US" altLang="zh-CN" sz="600" dirty="0"/>
              <a:t>[8,10-13]</a:t>
            </a:r>
            <a:r>
              <a:rPr lang="zh-CN" altLang="en-US" sz="600" dirty="0" smtClean="0"/>
              <a:t>可知</a:t>
            </a:r>
            <a:r>
              <a:rPr lang="en-US" altLang="zh-CN" sz="600" dirty="0" smtClean="0"/>
              <a:t>)</a:t>
            </a:r>
            <a:r>
              <a:rPr lang="zh-CN" altLang="en-US" sz="600" dirty="0" smtClean="0"/>
              <a:t>；不得</a:t>
            </a:r>
            <a:r>
              <a:rPr lang="zh-CN" altLang="en-US" sz="600" dirty="0"/>
              <a:t>将引用文献标示置于各级标题处</a:t>
            </a:r>
            <a:r>
              <a:rPr lang="zh-CN" altLang="en-US" sz="600" dirty="0" smtClean="0"/>
              <a:t>。</a:t>
            </a:r>
            <a:endParaRPr lang="en-US" altLang="zh-CN" sz="600" dirty="0" smtClean="0"/>
          </a:p>
          <a:p>
            <a:r>
              <a:rPr lang="zh-CN" altLang="en-US" sz="600" b="1" dirty="0" smtClean="0"/>
              <a:t>引用类型</a:t>
            </a:r>
            <a:r>
              <a:rPr lang="zh-CN" altLang="en-US" sz="600" dirty="0" smtClean="0"/>
              <a:t>：</a:t>
            </a:r>
            <a:endParaRPr lang="en-US" altLang="zh-CN" sz="600" dirty="0" smtClean="0"/>
          </a:p>
          <a:p>
            <a:r>
              <a:rPr lang="zh-CN" altLang="en-US" sz="600" dirty="0"/>
              <a:t>期刊</a:t>
            </a:r>
            <a:r>
              <a:rPr lang="zh-CN" altLang="en-US" sz="600" dirty="0" smtClean="0"/>
              <a:t>论文：作者</a:t>
            </a:r>
            <a:r>
              <a:rPr lang="en-US" altLang="zh-CN" sz="600" dirty="0"/>
              <a:t>. </a:t>
            </a:r>
            <a:r>
              <a:rPr lang="zh-CN" altLang="en-US" sz="600" dirty="0"/>
              <a:t>文章名</a:t>
            </a:r>
            <a:r>
              <a:rPr lang="en-US" altLang="zh-CN" sz="600" dirty="0"/>
              <a:t>[J]. </a:t>
            </a:r>
            <a:r>
              <a:rPr lang="zh-CN" altLang="en-US" sz="600" dirty="0"/>
              <a:t>学术刊物名</a:t>
            </a:r>
            <a:r>
              <a:rPr lang="en-US" altLang="zh-CN" sz="600" dirty="0"/>
              <a:t>. </a:t>
            </a:r>
            <a:r>
              <a:rPr lang="zh-CN" altLang="en-US" sz="600" dirty="0"/>
              <a:t>年，卷（期）：引用部分起止页</a:t>
            </a:r>
          </a:p>
          <a:p>
            <a:r>
              <a:rPr lang="zh-CN" altLang="en-US" sz="600" dirty="0" smtClean="0"/>
              <a:t>会议论文：作者</a:t>
            </a:r>
            <a:r>
              <a:rPr lang="en-US" altLang="zh-CN" sz="600" dirty="0"/>
              <a:t>. </a:t>
            </a:r>
            <a:r>
              <a:rPr lang="zh-CN" altLang="en-US" sz="600" dirty="0"/>
              <a:t>文章名</a:t>
            </a:r>
            <a:r>
              <a:rPr lang="en-US" altLang="zh-CN" sz="600" dirty="0"/>
              <a:t>[C]. </a:t>
            </a:r>
            <a:r>
              <a:rPr lang="zh-CN" altLang="en-US" sz="600" dirty="0"/>
              <a:t>会议名称，会议地址，年份</a:t>
            </a:r>
            <a:r>
              <a:rPr lang="en-US" altLang="zh-CN" sz="600" dirty="0"/>
              <a:t>. </a:t>
            </a:r>
            <a:r>
              <a:rPr lang="zh-CN" altLang="en-US" sz="600" dirty="0"/>
              <a:t>出版地，出版者，出版年：引用部分起止页 </a:t>
            </a:r>
            <a:r>
              <a:rPr lang="en-US" altLang="zh-CN" sz="600" dirty="0"/>
              <a:t>Ø </a:t>
            </a:r>
            <a:r>
              <a:rPr lang="zh-CN" altLang="en-US" sz="600" dirty="0"/>
              <a:t>作者</a:t>
            </a:r>
            <a:r>
              <a:rPr lang="en-US" altLang="zh-CN" sz="600" dirty="0"/>
              <a:t>. </a:t>
            </a:r>
            <a:r>
              <a:rPr lang="zh-CN" altLang="en-US" sz="600" dirty="0"/>
              <a:t>文章名</a:t>
            </a:r>
            <a:r>
              <a:rPr lang="en-US" altLang="zh-CN" sz="600" dirty="0"/>
              <a:t>[C]//Proceedings of </a:t>
            </a:r>
            <a:r>
              <a:rPr lang="zh-CN" altLang="en-US" sz="600" dirty="0"/>
              <a:t>会议名称，会议地址，年份</a:t>
            </a:r>
            <a:r>
              <a:rPr lang="en-US" altLang="zh-CN" sz="600" dirty="0"/>
              <a:t>. </a:t>
            </a:r>
            <a:r>
              <a:rPr lang="zh-CN" altLang="en-US" sz="600" dirty="0"/>
              <a:t>出版地，出版者，出版年：引用部分起止页 </a:t>
            </a:r>
          </a:p>
          <a:p>
            <a:r>
              <a:rPr lang="zh-CN" altLang="en-US" sz="600" dirty="0" smtClean="0"/>
              <a:t>书籍：作者</a:t>
            </a:r>
            <a:r>
              <a:rPr lang="en-US" altLang="zh-CN" sz="600" dirty="0"/>
              <a:t>. </a:t>
            </a:r>
            <a:r>
              <a:rPr lang="zh-CN" altLang="en-US" sz="600" dirty="0"/>
              <a:t>书名</a:t>
            </a:r>
            <a:r>
              <a:rPr lang="en-US" altLang="zh-CN" sz="600" dirty="0"/>
              <a:t>[M]. </a:t>
            </a:r>
            <a:r>
              <a:rPr lang="zh-CN" altLang="en-US" sz="600" dirty="0"/>
              <a:t>版次</a:t>
            </a:r>
            <a:r>
              <a:rPr lang="en-US" altLang="zh-CN" sz="600" dirty="0"/>
              <a:t>. </a:t>
            </a:r>
            <a:r>
              <a:rPr lang="zh-CN" altLang="en-US" sz="600" dirty="0"/>
              <a:t>出版者，出版年：引用部分起止页</a:t>
            </a:r>
          </a:p>
          <a:p>
            <a:r>
              <a:rPr lang="zh-CN" altLang="en-US" sz="600" dirty="0" smtClean="0"/>
              <a:t>译著：作者</a:t>
            </a:r>
            <a:r>
              <a:rPr lang="en-US" altLang="zh-CN" sz="600" dirty="0"/>
              <a:t>. </a:t>
            </a:r>
            <a:r>
              <a:rPr lang="zh-CN" altLang="en-US" sz="600" dirty="0"/>
              <a:t>书名</a:t>
            </a:r>
            <a:r>
              <a:rPr lang="en-US" altLang="zh-CN" sz="600" dirty="0"/>
              <a:t>[M]. </a:t>
            </a:r>
            <a:r>
              <a:rPr lang="zh-CN" altLang="en-US" sz="600" dirty="0"/>
              <a:t>译者</a:t>
            </a:r>
            <a:r>
              <a:rPr lang="en-US" altLang="zh-CN" sz="600" dirty="0"/>
              <a:t>. </a:t>
            </a:r>
            <a:r>
              <a:rPr lang="zh-CN" altLang="en-US" sz="600" dirty="0"/>
              <a:t>版次</a:t>
            </a:r>
            <a:r>
              <a:rPr lang="en-US" altLang="zh-CN" sz="600" dirty="0"/>
              <a:t>. </a:t>
            </a:r>
            <a:r>
              <a:rPr lang="zh-CN" altLang="en-US" sz="600" dirty="0"/>
              <a:t>出版者，出版年：引用部分起止页</a:t>
            </a:r>
          </a:p>
          <a:p>
            <a:r>
              <a:rPr lang="zh-CN" altLang="en-US" sz="600" dirty="0" smtClean="0"/>
              <a:t>学位</a:t>
            </a:r>
            <a:r>
              <a:rPr lang="zh-CN" altLang="en-US" sz="600" dirty="0"/>
              <a:t>论文 </a:t>
            </a:r>
            <a:r>
              <a:rPr lang="zh-CN" altLang="en-US" sz="600" dirty="0" smtClean="0"/>
              <a:t>：作者</a:t>
            </a:r>
            <a:r>
              <a:rPr lang="en-US" altLang="zh-CN" sz="600" dirty="0"/>
              <a:t>. </a:t>
            </a:r>
            <a:r>
              <a:rPr lang="zh-CN" altLang="en-US" sz="600" dirty="0"/>
              <a:t>学位论文题目</a:t>
            </a:r>
            <a:r>
              <a:rPr lang="en-US" altLang="zh-CN" sz="600" dirty="0"/>
              <a:t>[D]. </a:t>
            </a:r>
            <a:r>
              <a:rPr lang="zh-CN" altLang="en-US" sz="600" dirty="0"/>
              <a:t>学校及学位论文级别</a:t>
            </a:r>
            <a:r>
              <a:rPr lang="en-US" altLang="zh-CN" sz="600" dirty="0"/>
              <a:t>. </a:t>
            </a:r>
            <a:r>
              <a:rPr lang="zh-CN" altLang="en-US" sz="600" dirty="0"/>
              <a:t>答辩年份：引用部分起止页</a:t>
            </a:r>
          </a:p>
        </p:txBody>
      </p:sp>
      <p:sp>
        <p:nvSpPr>
          <p:cNvPr id="5" name="文本框 4"/>
          <p:cNvSpPr txBox="1"/>
          <p:nvPr/>
        </p:nvSpPr>
        <p:spPr>
          <a:xfrm>
            <a:off x="4859868" y="-14822"/>
            <a:ext cx="2793154" cy="9602629"/>
          </a:xfrm>
          <a:prstGeom prst="rect">
            <a:avLst/>
          </a:prstGeom>
          <a:noFill/>
        </p:spPr>
        <p:txBody>
          <a:bodyPr wrap="square" rtlCol="0">
            <a:spAutoFit/>
          </a:bodyPr>
          <a:lstStyle/>
          <a:p>
            <a:r>
              <a:rPr lang="zh-CN" altLang="en-US" sz="600" dirty="0"/>
              <a:t>英文作者：姓（全称） 名（首字母）</a:t>
            </a:r>
            <a:r>
              <a:rPr lang="en-US" altLang="zh-CN" sz="600" dirty="0"/>
              <a:t>, </a:t>
            </a:r>
            <a:r>
              <a:rPr lang="zh-CN" altLang="en-US" sz="600" dirty="0"/>
              <a:t>如</a:t>
            </a:r>
            <a:r>
              <a:rPr lang="en-US" altLang="zh-CN" sz="600" dirty="0"/>
              <a:t>Mosher R S, </a:t>
            </a:r>
            <a:r>
              <a:rPr lang="en-US" altLang="zh-CN" sz="600" dirty="0" err="1"/>
              <a:t>Kurazume</a:t>
            </a:r>
            <a:r>
              <a:rPr lang="en-US" altLang="zh-CN" sz="600" dirty="0"/>
              <a:t> R, </a:t>
            </a:r>
            <a:r>
              <a:rPr lang="en-US" altLang="zh-CN" sz="600" dirty="0" err="1"/>
              <a:t>Kan</a:t>
            </a:r>
            <a:r>
              <a:rPr lang="en-US" altLang="zh-CN" sz="600" dirty="0"/>
              <a:t> </a:t>
            </a:r>
            <a:r>
              <a:rPr lang="en-US" altLang="zh-CN" sz="600" dirty="0" smtClean="0"/>
              <a:t>Y. </a:t>
            </a:r>
            <a:endParaRPr lang="en-US" altLang="zh-CN" sz="600" dirty="0"/>
          </a:p>
          <a:p>
            <a:r>
              <a:rPr lang="zh-CN" altLang="en-US" sz="600" dirty="0" smtClean="0"/>
              <a:t>标题名首</a:t>
            </a:r>
            <a:r>
              <a:rPr lang="zh-CN" altLang="en-US" sz="600" dirty="0"/>
              <a:t>字母</a:t>
            </a:r>
            <a:r>
              <a:rPr lang="zh-CN" altLang="en-US" sz="600" dirty="0" smtClean="0"/>
              <a:t>大写；参考</a:t>
            </a:r>
            <a:r>
              <a:rPr lang="zh-CN" altLang="en-US" sz="600" dirty="0"/>
              <a:t>文献序号顶格书写，不加括号与标点，其后空一格写作者</a:t>
            </a:r>
            <a:r>
              <a:rPr lang="zh-CN" altLang="en-US" sz="600" dirty="0" smtClean="0"/>
              <a:t>名；序号按文献被</a:t>
            </a:r>
            <a:r>
              <a:rPr lang="zh-CN" altLang="en-US" sz="600" dirty="0"/>
              <a:t>引用顺序</a:t>
            </a:r>
            <a:r>
              <a:rPr lang="zh-CN" altLang="en-US" sz="600" dirty="0" smtClean="0"/>
              <a:t>编排；换行</a:t>
            </a:r>
            <a:r>
              <a:rPr lang="zh-CN" altLang="en-US" sz="600" dirty="0"/>
              <a:t>时与作者名第一个字</a:t>
            </a:r>
            <a:r>
              <a:rPr lang="zh-CN" altLang="en-US" sz="600" dirty="0" smtClean="0"/>
              <a:t>对齐；同</a:t>
            </a:r>
            <a:r>
              <a:rPr lang="zh-CN" altLang="en-US" sz="600" dirty="0"/>
              <a:t>一</a:t>
            </a:r>
            <a:r>
              <a:rPr lang="zh-CN" altLang="en-US" sz="600" dirty="0" smtClean="0"/>
              <a:t>文献多</a:t>
            </a:r>
            <a:r>
              <a:rPr lang="zh-CN" altLang="en-US" sz="600" dirty="0"/>
              <a:t>处被引用，则要写出相应引用页码，排列按引用顺序，不按页码顺序</a:t>
            </a:r>
            <a:r>
              <a:rPr lang="zh-CN" altLang="en-US" sz="600" dirty="0" smtClean="0"/>
              <a:t>。</a:t>
            </a:r>
            <a:endParaRPr lang="en-US" altLang="zh-CN" sz="600" dirty="0" smtClean="0"/>
          </a:p>
          <a:p>
            <a:r>
              <a:rPr lang="zh-CN" altLang="en-US" sz="600" b="1" dirty="0"/>
              <a:t>论文版</a:t>
            </a:r>
            <a:r>
              <a:rPr lang="zh-CN" altLang="en-US" sz="600" b="1" dirty="0" smtClean="0"/>
              <a:t>芯</a:t>
            </a:r>
            <a:r>
              <a:rPr lang="zh-CN" altLang="en-US" sz="600" dirty="0" smtClean="0"/>
              <a:t>：</a:t>
            </a:r>
            <a:r>
              <a:rPr lang="en-US" altLang="zh-CN" sz="600" dirty="0" smtClean="0"/>
              <a:t>145×210mm</a:t>
            </a:r>
            <a:r>
              <a:rPr lang="zh-CN" altLang="en-US" sz="600" dirty="0"/>
              <a:t>（包括</a:t>
            </a:r>
            <a:r>
              <a:rPr lang="zh-CN" altLang="en-US" sz="600" dirty="0" smtClean="0"/>
              <a:t>页眉页码</a:t>
            </a:r>
            <a:r>
              <a:rPr lang="en-US" altLang="zh-CN" sz="600" dirty="0" smtClean="0"/>
              <a:t>145×230mm</a:t>
            </a:r>
            <a:r>
              <a:rPr lang="zh-CN" altLang="en-US" sz="600" dirty="0"/>
              <a:t>），页码在版芯下边线之下隔行居中放置；摘要、目录、物理量名称及符号表等文前部分的页码用罗马数字单独编排，正文以后的页码用阿拉伯数字编排。</a:t>
            </a:r>
          </a:p>
          <a:p>
            <a:r>
              <a:rPr lang="zh-CN" altLang="en-US" sz="600" b="1" dirty="0" smtClean="0"/>
              <a:t>中英文要求</a:t>
            </a:r>
            <a:r>
              <a:rPr lang="zh-CN" altLang="en-US" sz="600" dirty="0" smtClean="0"/>
              <a:t>：硕士的</a:t>
            </a:r>
            <a:r>
              <a:rPr lang="zh-CN" altLang="en-US" sz="600" dirty="0"/>
              <a:t>扉页、摘要</a:t>
            </a:r>
            <a:r>
              <a:rPr lang="zh-CN" altLang="en-US" sz="600" dirty="0" smtClean="0"/>
              <a:t>，博士扉页</a:t>
            </a:r>
            <a:r>
              <a:rPr lang="zh-CN" altLang="en-US" sz="600" dirty="0"/>
              <a:t>、摘要、目录、图题及表题等</a:t>
            </a:r>
            <a:r>
              <a:rPr lang="zh-CN" altLang="en-US" sz="600" dirty="0" smtClean="0"/>
              <a:t>，用中英文</a:t>
            </a:r>
            <a:r>
              <a:rPr lang="zh-CN" altLang="en-US" sz="600" dirty="0"/>
              <a:t>两种文字给出</a:t>
            </a:r>
            <a:r>
              <a:rPr lang="zh-CN" altLang="en-US" sz="600" dirty="0" smtClean="0"/>
              <a:t>，中文</a:t>
            </a:r>
            <a:r>
              <a:rPr lang="zh-CN" altLang="en-US" sz="600" dirty="0"/>
              <a:t>在前。扉页、摘要及目录的英文部分另起一页。</a:t>
            </a:r>
          </a:p>
          <a:p>
            <a:r>
              <a:rPr lang="zh-CN" altLang="en-US" sz="600" b="1" dirty="0"/>
              <a:t>字体</a:t>
            </a:r>
            <a:r>
              <a:rPr lang="zh-CN" altLang="en-US" sz="600" dirty="0"/>
              <a:t>：宋体（中）</a:t>
            </a:r>
            <a:r>
              <a:rPr lang="en-US" altLang="zh-CN" sz="600" dirty="0"/>
              <a:t>+Times New Roman</a:t>
            </a:r>
            <a:r>
              <a:rPr lang="zh-CN" altLang="en-US" sz="600" dirty="0"/>
              <a:t>（英</a:t>
            </a:r>
            <a:r>
              <a:rPr lang="zh-CN" altLang="en-US" sz="600" dirty="0" smtClean="0"/>
              <a:t>）；论文中所用中文字体（除各级标题外）为宋体，</a:t>
            </a:r>
            <a:r>
              <a:rPr lang="zh-CN" altLang="en-US" sz="600" dirty="0"/>
              <a:t>各级标题用</a:t>
            </a:r>
            <a:r>
              <a:rPr lang="zh-CN" altLang="en-US" sz="600" dirty="0" smtClean="0"/>
              <a:t>黑体；数字</a:t>
            </a:r>
            <a:r>
              <a:rPr lang="zh-CN" altLang="en-US" sz="600" dirty="0"/>
              <a:t>、英文为新罗马字体。</a:t>
            </a:r>
          </a:p>
          <a:p>
            <a:r>
              <a:rPr lang="zh-CN" altLang="en-US" sz="600" b="1" dirty="0" smtClean="0"/>
              <a:t>字号</a:t>
            </a:r>
            <a:r>
              <a:rPr lang="zh-CN" altLang="en-US" sz="600" dirty="0" smtClean="0"/>
              <a:t>：章标题小</a:t>
            </a:r>
            <a:r>
              <a:rPr lang="en-US" altLang="zh-CN" sz="600" dirty="0" smtClean="0"/>
              <a:t>2</a:t>
            </a:r>
            <a:r>
              <a:rPr lang="zh-CN" altLang="en-US" sz="600" dirty="0"/>
              <a:t>号字</a:t>
            </a:r>
            <a:r>
              <a:rPr lang="zh-CN" altLang="en-US" sz="600" dirty="0" smtClean="0"/>
              <a:t>，段</a:t>
            </a:r>
            <a:r>
              <a:rPr lang="zh-CN" altLang="en-US" sz="600" dirty="0"/>
              <a:t>前</a:t>
            </a:r>
            <a:r>
              <a:rPr lang="en-US" altLang="zh-CN" sz="600" dirty="0"/>
              <a:t>1</a:t>
            </a:r>
            <a:r>
              <a:rPr lang="zh-CN" altLang="en-US" sz="600" dirty="0"/>
              <a:t>行，段后</a:t>
            </a:r>
            <a:r>
              <a:rPr lang="en-US" altLang="zh-CN" sz="600" dirty="0"/>
              <a:t>0.8</a:t>
            </a:r>
            <a:r>
              <a:rPr lang="zh-CN" altLang="en-US" sz="600" dirty="0"/>
              <a:t>行</a:t>
            </a:r>
            <a:r>
              <a:rPr lang="zh-CN" altLang="en-US" sz="600" dirty="0" smtClean="0"/>
              <a:t>；节标题小</a:t>
            </a:r>
            <a:r>
              <a:rPr lang="en-US" altLang="zh-CN" sz="600" dirty="0"/>
              <a:t>3</a:t>
            </a:r>
            <a:r>
              <a:rPr lang="zh-CN" altLang="en-US" sz="600" dirty="0"/>
              <a:t>号字</a:t>
            </a:r>
            <a:r>
              <a:rPr lang="zh-CN" altLang="en-US" sz="600" dirty="0" smtClean="0"/>
              <a:t>，段</a:t>
            </a:r>
            <a:r>
              <a:rPr lang="zh-CN" altLang="en-US" sz="600" dirty="0"/>
              <a:t>前</a:t>
            </a:r>
            <a:r>
              <a:rPr lang="en-US" altLang="zh-CN" sz="600" dirty="0"/>
              <a:t>0.5</a:t>
            </a:r>
            <a:r>
              <a:rPr lang="zh-CN" altLang="en-US" sz="600" dirty="0"/>
              <a:t>行，段后</a:t>
            </a:r>
            <a:r>
              <a:rPr lang="en-US" altLang="zh-CN" sz="600" dirty="0"/>
              <a:t>0.5</a:t>
            </a:r>
            <a:r>
              <a:rPr lang="zh-CN" altLang="en-US" sz="600" dirty="0"/>
              <a:t>行</a:t>
            </a:r>
            <a:r>
              <a:rPr lang="zh-CN" altLang="en-US" sz="600" dirty="0" smtClean="0"/>
              <a:t>；条标题</a:t>
            </a:r>
            <a:r>
              <a:rPr lang="en-US" altLang="zh-CN" sz="600" dirty="0" smtClean="0"/>
              <a:t>4</a:t>
            </a:r>
            <a:r>
              <a:rPr lang="zh-CN" altLang="en-US" sz="600" dirty="0"/>
              <a:t>号字</a:t>
            </a:r>
            <a:r>
              <a:rPr lang="zh-CN" altLang="en-US" sz="600" dirty="0" smtClean="0"/>
              <a:t>，段</a:t>
            </a:r>
            <a:r>
              <a:rPr lang="zh-CN" altLang="en-US" sz="600" dirty="0"/>
              <a:t>前</a:t>
            </a:r>
            <a:r>
              <a:rPr lang="en-US" altLang="zh-CN" sz="600" dirty="0"/>
              <a:t>0.5</a:t>
            </a:r>
            <a:r>
              <a:rPr lang="zh-CN" altLang="en-US" sz="600" dirty="0"/>
              <a:t>行，段后</a:t>
            </a:r>
            <a:r>
              <a:rPr lang="en-US" altLang="zh-CN" sz="600" dirty="0"/>
              <a:t>0.5</a:t>
            </a:r>
            <a:r>
              <a:rPr lang="zh-CN" altLang="en-US" sz="600" dirty="0"/>
              <a:t>行</a:t>
            </a:r>
            <a:r>
              <a:rPr lang="zh-CN" altLang="en-US" sz="600" dirty="0" smtClean="0"/>
              <a:t>；款</a:t>
            </a:r>
            <a:r>
              <a:rPr lang="zh-CN" altLang="en-US" sz="600" dirty="0"/>
              <a:t>、项</a:t>
            </a:r>
            <a:r>
              <a:rPr lang="zh-CN" altLang="en-US" sz="600" dirty="0" smtClean="0"/>
              <a:t>标题小</a:t>
            </a:r>
            <a:r>
              <a:rPr lang="en-US" altLang="zh-CN" sz="600" dirty="0"/>
              <a:t>4</a:t>
            </a:r>
            <a:r>
              <a:rPr lang="zh-CN" altLang="en-US" sz="600" dirty="0"/>
              <a:t>号字</a:t>
            </a:r>
            <a:r>
              <a:rPr lang="zh-CN" altLang="en-US" sz="600" dirty="0" smtClean="0"/>
              <a:t>，段</a:t>
            </a:r>
            <a:r>
              <a:rPr lang="zh-CN" altLang="en-US" sz="600" dirty="0"/>
              <a:t>前</a:t>
            </a:r>
            <a:r>
              <a:rPr lang="en-US" altLang="zh-CN" sz="600" dirty="0"/>
              <a:t>0</a:t>
            </a:r>
            <a:r>
              <a:rPr lang="zh-CN" altLang="en-US" sz="600" dirty="0"/>
              <a:t>行，段后</a:t>
            </a:r>
            <a:r>
              <a:rPr lang="en-US" altLang="zh-CN" sz="600" dirty="0"/>
              <a:t>0</a:t>
            </a:r>
            <a:r>
              <a:rPr lang="zh-CN" altLang="en-US" sz="600" dirty="0"/>
              <a:t>行</a:t>
            </a:r>
            <a:r>
              <a:rPr lang="zh-CN" altLang="en-US" sz="600" dirty="0" smtClean="0"/>
              <a:t>；正文小</a:t>
            </a:r>
            <a:r>
              <a:rPr lang="en-US" altLang="zh-CN" sz="600" dirty="0"/>
              <a:t>4</a:t>
            </a:r>
            <a:r>
              <a:rPr lang="zh-CN" altLang="en-US" sz="600" dirty="0"/>
              <a:t>号字</a:t>
            </a:r>
            <a:r>
              <a:rPr lang="zh-CN" altLang="en-US" sz="600" dirty="0" smtClean="0"/>
              <a:t>，段</a:t>
            </a:r>
            <a:r>
              <a:rPr lang="zh-CN" altLang="en-US" sz="600" dirty="0"/>
              <a:t>前</a:t>
            </a:r>
            <a:r>
              <a:rPr lang="en-US" altLang="zh-CN" sz="600" dirty="0"/>
              <a:t>0</a:t>
            </a:r>
            <a:r>
              <a:rPr lang="zh-CN" altLang="en-US" sz="600" dirty="0"/>
              <a:t>行，段后</a:t>
            </a:r>
            <a:r>
              <a:rPr lang="en-US" altLang="zh-CN" sz="600" dirty="0"/>
              <a:t>0</a:t>
            </a:r>
            <a:r>
              <a:rPr lang="zh-CN" altLang="en-US" sz="600" dirty="0"/>
              <a:t>行</a:t>
            </a:r>
            <a:r>
              <a:rPr lang="zh-CN" altLang="en-US" sz="600" dirty="0" smtClean="0"/>
              <a:t>。论文题目：中文</a:t>
            </a:r>
            <a:r>
              <a:rPr lang="zh-CN" altLang="en-US" sz="600" dirty="0"/>
              <a:t>题目，不超过</a:t>
            </a:r>
            <a:r>
              <a:rPr lang="en-US" altLang="zh-CN" sz="600" dirty="0"/>
              <a:t>25</a:t>
            </a:r>
            <a:r>
              <a:rPr lang="zh-CN" altLang="en-US" sz="600" dirty="0"/>
              <a:t>个字，黑体</a:t>
            </a:r>
            <a:r>
              <a:rPr lang="en-US" altLang="zh-CN" sz="600" dirty="0"/>
              <a:t>2</a:t>
            </a:r>
            <a:r>
              <a:rPr lang="zh-CN" altLang="en-US" sz="600" dirty="0"/>
              <a:t>号字</a:t>
            </a:r>
            <a:r>
              <a:rPr lang="zh-CN" altLang="en-US" sz="600" dirty="0" smtClean="0"/>
              <a:t>。英文题目黑体</a:t>
            </a:r>
            <a:r>
              <a:rPr lang="zh-CN" altLang="en-US" sz="600" dirty="0"/>
              <a:t>，小</a:t>
            </a:r>
            <a:r>
              <a:rPr lang="en-US" altLang="zh-CN" sz="600" dirty="0"/>
              <a:t>2</a:t>
            </a:r>
            <a:r>
              <a:rPr lang="zh-CN" altLang="en-US" sz="600" dirty="0"/>
              <a:t>号</a:t>
            </a:r>
            <a:r>
              <a:rPr lang="zh-CN" altLang="en-US" sz="600" dirty="0" smtClean="0"/>
              <a:t>字。</a:t>
            </a:r>
          </a:p>
          <a:p>
            <a:r>
              <a:rPr lang="zh-CN" altLang="en-US" sz="600" dirty="0" smtClean="0"/>
              <a:t>书脊：印刷论文题目及相应的“哈工大博士学位论文”或“哈工大硕士学位论文”字样，字体</a:t>
            </a:r>
            <a:r>
              <a:rPr lang="en-US" altLang="zh-CN" sz="600" dirty="0" smtClean="0"/>
              <a:t>4</a:t>
            </a:r>
            <a:r>
              <a:rPr lang="zh-CN" altLang="en-US" sz="600" dirty="0" smtClean="0"/>
              <a:t>号黑体字。论文作者姓名：为宋体小</a:t>
            </a:r>
            <a:r>
              <a:rPr lang="en-US" altLang="zh-CN" sz="600" dirty="0" smtClean="0"/>
              <a:t>2</a:t>
            </a:r>
            <a:r>
              <a:rPr lang="zh-CN" altLang="en-US" sz="600" dirty="0" smtClean="0"/>
              <a:t>号字。</a:t>
            </a:r>
          </a:p>
          <a:p>
            <a:r>
              <a:rPr lang="zh-CN" altLang="en-US" sz="600" b="1" dirty="0" smtClean="0"/>
              <a:t>扉页</a:t>
            </a:r>
            <a:r>
              <a:rPr lang="zh-CN" altLang="en-US" sz="600" b="1" dirty="0"/>
              <a:t>内</a:t>
            </a:r>
            <a:r>
              <a:rPr lang="zh-CN" altLang="en-US" sz="600" b="1" dirty="0" smtClean="0"/>
              <a:t>封</a:t>
            </a:r>
            <a:r>
              <a:rPr lang="zh-CN" altLang="en-US" sz="600" dirty="0" smtClean="0"/>
              <a:t>：</a:t>
            </a:r>
            <a:r>
              <a:rPr lang="en-US" altLang="zh-CN" sz="600" dirty="0" smtClean="0"/>
              <a:t> </a:t>
            </a:r>
            <a:r>
              <a:rPr lang="zh-CN" altLang="en-US" sz="600" dirty="0"/>
              <a:t>国内图书分类号</a:t>
            </a:r>
            <a:r>
              <a:rPr lang="zh-CN" altLang="en-US" sz="600" dirty="0" smtClean="0"/>
              <a:t>：宋体</a:t>
            </a:r>
            <a:r>
              <a:rPr lang="zh-CN" altLang="en-US" sz="600" dirty="0"/>
              <a:t>小</a:t>
            </a:r>
            <a:r>
              <a:rPr lang="en-US" altLang="zh-CN" sz="600" dirty="0"/>
              <a:t>4</a:t>
            </a:r>
            <a:r>
              <a:rPr lang="zh-CN" altLang="en-US" sz="600" dirty="0"/>
              <a:t>号</a:t>
            </a:r>
            <a:r>
              <a:rPr lang="zh-CN" altLang="en-US" sz="600" dirty="0" smtClean="0"/>
              <a:t>字；国际</a:t>
            </a:r>
            <a:r>
              <a:rPr lang="zh-CN" altLang="en-US" sz="600" dirty="0"/>
              <a:t>图书分类</a:t>
            </a:r>
            <a:r>
              <a:rPr lang="zh-CN" altLang="en-US" sz="600" dirty="0" smtClean="0"/>
              <a:t>号宋体</a:t>
            </a:r>
            <a:r>
              <a:rPr lang="zh-CN" altLang="en-US" sz="600" dirty="0"/>
              <a:t>小</a:t>
            </a:r>
            <a:r>
              <a:rPr lang="en-US" altLang="zh-CN" sz="600" dirty="0"/>
              <a:t>4</a:t>
            </a:r>
            <a:r>
              <a:rPr lang="zh-CN" altLang="en-US" sz="600" dirty="0"/>
              <a:t>号</a:t>
            </a:r>
            <a:r>
              <a:rPr lang="zh-CN" altLang="en-US" sz="600" dirty="0" smtClean="0"/>
              <a:t>字；</a:t>
            </a:r>
            <a:r>
              <a:rPr lang="en-US" altLang="zh-CN" sz="600" dirty="0" smtClean="0"/>
              <a:t>xxx</a:t>
            </a:r>
            <a:r>
              <a:rPr lang="zh-CN" altLang="en-US" sz="600" dirty="0" smtClean="0"/>
              <a:t>士</a:t>
            </a:r>
            <a:r>
              <a:rPr lang="zh-CN" altLang="en-US" sz="600" dirty="0"/>
              <a:t>学位论文</a:t>
            </a:r>
            <a:r>
              <a:rPr lang="en-US" altLang="zh-CN" sz="600" dirty="0" smtClean="0"/>
              <a:t>:</a:t>
            </a:r>
            <a:r>
              <a:rPr lang="zh-CN" altLang="en-US" sz="600" dirty="0" smtClean="0"/>
              <a:t>宋体</a:t>
            </a:r>
            <a:r>
              <a:rPr lang="zh-CN" altLang="en-US" sz="600" dirty="0"/>
              <a:t>小</a:t>
            </a:r>
            <a:r>
              <a:rPr lang="en-US" altLang="zh-CN" sz="600" dirty="0"/>
              <a:t>2</a:t>
            </a:r>
            <a:r>
              <a:rPr lang="zh-CN" altLang="en-US" sz="600" dirty="0"/>
              <a:t>号</a:t>
            </a:r>
            <a:r>
              <a:rPr lang="zh-CN" altLang="en-US" sz="600" dirty="0" smtClean="0"/>
              <a:t>字；论文题目黑体</a:t>
            </a:r>
            <a:r>
              <a:rPr lang="en-US" altLang="zh-CN" sz="600" dirty="0"/>
              <a:t>2</a:t>
            </a:r>
            <a:r>
              <a:rPr lang="zh-CN" altLang="en-US" sz="600" dirty="0"/>
              <a:t>号</a:t>
            </a:r>
            <a:r>
              <a:rPr lang="zh-CN" altLang="en-US" sz="600" dirty="0" smtClean="0"/>
              <a:t>字；英文</a:t>
            </a:r>
            <a:r>
              <a:rPr lang="zh-CN" altLang="en-US" sz="600" dirty="0"/>
              <a:t>题目中的</a:t>
            </a:r>
            <a:r>
              <a:rPr lang="zh-CN" altLang="en-US" sz="600" dirty="0" smtClean="0"/>
              <a:t>字母全部大写</a:t>
            </a:r>
            <a:r>
              <a:rPr lang="zh-CN" altLang="en-US" sz="600" dirty="0"/>
              <a:t>；</a:t>
            </a:r>
            <a:r>
              <a:rPr lang="zh-CN" altLang="en-US" sz="600" dirty="0" smtClean="0"/>
              <a:t>冒号</a:t>
            </a:r>
            <a:r>
              <a:rPr lang="zh-CN" altLang="en-US" sz="600" dirty="0"/>
              <a:t>左侧用黑体</a:t>
            </a:r>
            <a:r>
              <a:rPr lang="en-US" altLang="zh-CN" sz="600" dirty="0"/>
              <a:t>4</a:t>
            </a:r>
            <a:r>
              <a:rPr lang="zh-CN" altLang="en-US" sz="600" dirty="0"/>
              <a:t>号字，冒号右侧用宋体</a:t>
            </a:r>
            <a:r>
              <a:rPr lang="en-US" altLang="zh-CN" sz="600" dirty="0"/>
              <a:t>4</a:t>
            </a:r>
            <a:r>
              <a:rPr lang="zh-CN" altLang="en-US" sz="600" dirty="0"/>
              <a:t>号</a:t>
            </a:r>
            <a:r>
              <a:rPr lang="zh-CN" altLang="en-US" sz="600" dirty="0" smtClean="0"/>
              <a:t>字。</a:t>
            </a:r>
            <a:endParaRPr lang="en-US" altLang="zh-CN" sz="600" dirty="0" smtClean="0"/>
          </a:p>
          <a:p>
            <a:r>
              <a:rPr lang="zh-CN" altLang="en-US" sz="600" b="1" dirty="0" smtClean="0"/>
              <a:t>页眉</a:t>
            </a:r>
            <a:r>
              <a:rPr lang="zh-CN" altLang="en-US" sz="600" dirty="0" smtClean="0"/>
              <a:t>：各</a:t>
            </a:r>
            <a:r>
              <a:rPr lang="zh-CN" altLang="en-US" sz="600" dirty="0"/>
              <a:t>页</a:t>
            </a:r>
            <a:r>
              <a:rPr lang="zh-CN" altLang="en-US" sz="600" dirty="0" smtClean="0"/>
              <a:t>均加</a:t>
            </a:r>
            <a:r>
              <a:rPr lang="zh-CN" altLang="en-US" sz="600" dirty="0"/>
              <a:t>页眉，在版芯上边线隔一行加粗、细双线（粗线在上，宽</a:t>
            </a:r>
            <a:r>
              <a:rPr lang="en-US" altLang="zh-CN" sz="600" dirty="0"/>
              <a:t>0.8mm</a:t>
            </a:r>
            <a:r>
              <a:rPr lang="zh-CN" altLang="en-US" sz="600" dirty="0"/>
              <a:t>），双线上居中打印页眉。字号为小</a:t>
            </a:r>
            <a:r>
              <a:rPr lang="en-US" altLang="zh-CN" sz="600" dirty="0"/>
              <a:t>5</a:t>
            </a:r>
            <a:r>
              <a:rPr lang="zh-CN" altLang="en-US" sz="600" dirty="0"/>
              <a:t>号宋体</a:t>
            </a:r>
            <a:r>
              <a:rPr lang="zh-CN" altLang="en-US" sz="600" dirty="0" smtClean="0"/>
              <a:t>。博士奇数</a:t>
            </a:r>
            <a:r>
              <a:rPr lang="zh-CN" altLang="en-US" sz="600" dirty="0"/>
              <a:t>页眉为本章的题序及标题，偶数页眉为</a:t>
            </a:r>
            <a:r>
              <a:rPr lang="zh-CN" altLang="en-US" sz="600" dirty="0" smtClean="0"/>
              <a:t>“哈工大</a:t>
            </a:r>
            <a:r>
              <a:rPr lang="en-US" altLang="zh-CN" sz="600" dirty="0" smtClean="0"/>
              <a:t>x</a:t>
            </a:r>
            <a:r>
              <a:rPr lang="zh-CN" altLang="en-US" sz="600" dirty="0" smtClean="0"/>
              <a:t>学</a:t>
            </a:r>
            <a:r>
              <a:rPr lang="zh-CN" altLang="en-US" sz="600" dirty="0"/>
              <a:t>博士学位论文</a:t>
            </a:r>
            <a:r>
              <a:rPr lang="zh-CN" altLang="en-US" sz="600" dirty="0" smtClean="0"/>
              <a:t>”，奇数</a:t>
            </a:r>
            <a:r>
              <a:rPr lang="zh-CN" altLang="en-US" sz="600" dirty="0"/>
              <a:t>页在右，偶数页在左</a:t>
            </a:r>
            <a:r>
              <a:rPr lang="zh-CN" altLang="en-US" sz="600" dirty="0" smtClean="0"/>
              <a:t>。硕士单面</a:t>
            </a:r>
            <a:r>
              <a:rPr lang="zh-CN" altLang="en-US" sz="600" dirty="0"/>
              <a:t>印刷，页眉为</a:t>
            </a:r>
            <a:r>
              <a:rPr lang="zh-CN" altLang="en-US" sz="600" dirty="0" smtClean="0"/>
              <a:t>“哈工大</a:t>
            </a:r>
            <a:r>
              <a:rPr lang="en-US" altLang="zh-CN" sz="600" dirty="0" smtClean="0"/>
              <a:t>x</a:t>
            </a:r>
            <a:r>
              <a:rPr lang="zh-CN" altLang="en-US" sz="600" dirty="0" smtClean="0"/>
              <a:t>学</a:t>
            </a:r>
            <a:r>
              <a:rPr lang="zh-CN" altLang="en-US" sz="600" dirty="0"/>
              <a:t>硕士学位论文</a:t>
            </a:r>
            <a:r>
              <a:rPr lang="zh-CN" altLang="en-US" sz="600" dirty="0" smtClean="0"/>
              <a:t>”。 </a:t>
            </a:r>
            <a:endParaRPr lang="en-US" altLang="zh-CN" sz="600" dirty="0" smtClean="0"/>
          </a:p>
          <a:p>
            <a:r>
              <a:rPr lang="zh-CN" altLang="en-US" sz="600" b="1" dirty="0"/>
              <a:t>摘要及</a:t>
            </a:r>
            <a:r>
              <a:rPr lang="zh-CN" altLang="en-US" sz="600" b="1" dirty="0" smtClean="0"/>
              <a:t>关键词</a:t>
            </a:r>
            <a:r>
              <a:rPr lang="zh-CN" altLang="en-US" sz="600" dirty="0" smtClean="0"/>
              <a:t>：摘</a:t>
            </a:r>
            <a:r>
              <a:rPr lang="zh-CN" altLang="en-US" sz="600" dirty="0"/>
              <a:t>　　要</a:t>
            </a:r>
            <a:r>
              <a:rPr lang="en-US" altLang="zh-CN" sz="600" dirty="0"/>
              <a:t>(</a:t>
            </a:r>
            <a:r>
              <a:rPr lang="zh-CN" altLang="en-US" sz="600" dirty="0"/>
              <a:t>小</a:t>
            </a:r>
            <a:r>
              <a:rPr lang="en-US" altLang="zh-CN" sz="600" dirty="0"/>
              <a:t>2</a:t>
            </a:r>
            <a:r>
              <a:rPr lang="zh-CN" altLang="en-US" sz="600" dirty="0"/>
              <a:t>号</a:t>
            </a:r>
            <a:r>
              <a:rPr lang="zh-CN" altLang="en-US" sz="600" dirty="0" smtClean="0"/>
              <a:t>黑体居中</a:t>
            </a:r>
            <a:r>
              <a:rPr lang="en-US" altLang="zh-CN" sz="600" dirty="0" smtClean="0"/>
              <a:t>)</a:t>
            </a:r>
            <a:r>
              <a:rPr lang="zh-CN" altLang="en-US" sz="600" dirty="0" smtClean="0"/>
              <a:t>，隔行</a:t>
            </a:r>
            <a:r>
              <a:rPr lang="zh-CN" altLang="en-US" sz="600" dirty="0"/>
              <a:t>书写摘要的正文部分。摘要正文之后隔一行顶格</a:t>
            </a:r>
            <a:r>
              <a:rPr lang="zh-CN" altLang="en-US" sz="600" dirty="0" smtClean="0"/>
              <a:t>书写“关键词 </a:t>
            </a:r>
            <a:r>
              <a:rPr lang="en-US" altLang="zh-CN" sz="600" dirty="0"/>
              <a:t>——(</a:t>
            </a:r>
            <a:r>
              <a:rPr lang="zh-CN" altLang="en-US" sz="600" dirty="0"/>
              <a:t>词</a:t>
            </a:r>
            <a:r>
              <a:rPr lang="en-US" altLang="zh-CN" sz="600" dirty="0"/>
              <a:t>) </a:t>
            </a:r>
            <a:r>
              <a:rPr lang="zh-CN" altLang="en-US" sz="600" dirty="0"/>
              <a:t>；</a:t>
            </a:r>
            <a:r>
              <a:rPr lang="en-US" altLang="zh-CN" sz="600" dirty="0"/>
              <a:t>(</a:t>
            </a:r>
            <a:r>
              <a:rPr lang="zh-CN" altLang="en-US" sz="600" dirty="0"/>
              <a:t>词</a:t>
            </a:r>
            <a:r>
              <a:rPr lang="en-US" altLang="zh-CN" sz="600" dirty="0"/>
              <a:t>) </a:t>
            </a:r>
            <a:r>
              <a:rPr lang="zh-CN" altLang="en-US" sz="600" dirty="0"/>
              <a:t>；</a:t>
            </a:r>
            <a:r>
              <a:rPr lang="en-US" altLang="zh-CN" sz="600" dirty="0"/>
              <a:t>… </a:t>
            </a:r>
            <a:r>
              <a:rPr lang="zh-CN" altLang="en-US" sz="600" dirty="0"/>
              <a:t>；</a:t>
            </a:r>
            <a:r>
              <a:rPr lang="en-US" altLang="zh-CN" sz="600" dirty="0"/>
              <a:t>(</a:t>
            </a:r>
            <a:r>
              <a:rPr lang="zh-CN" altLang="en-US" sz="600" dirty="0"/>
              <a:t>词</a:t>
            </a:r>
            <a:r>
              <a:rPr lang="en-US" altLang="zh-CN" sz="600" dirty="0"/>
              <a:t>) </a:t>
            </a:r>
            <a:r>
              <a:rPr lang="zh-CN" altLang="en-US" sz="600" dirty="0" smtClean="0"/>
              <a:t>”</a:t>
            </a:r>
            <a:r>
              <a:rPr lang="en-US" altLang="zh-CN" sz="600" dirty="0" smtClean="0"/>
              <a:t>,  3-6</a:t>
            </a:r>
            <a:r>
              <a:rPr lang="zh-CN" altLang="en-US" sz="600" dirty="0" smtClean="0"/>
              <a:t>个，</a:t>
            </a:r>
            <a:r>
              <a:rPr lang="zh-CN" altLang="en-US" sz="600" dirty="0"/>
              <a:t>小</a:t>
            </a:r>
            <a:r>
              <a:rPr lang="en-US" altLang="zh-CN" sz="600" dirty="0"/>
              <a:t>4</a:t>
            </a:r>
            <a:r>
              <a:rPr lang="zh-CN" altLang="en-US" sz="600" dirty="0"/>
              <a:t>号黑体</a:t>
            </a:r>
            <a:r>
              <a:rPr lang="en-US" altLang="zh-CN" sz="600" dirty="0" smtClean="0"/>
              <a:t>(</a:t>
            </a:r>
            <a:r>
              <a:rPr lang="zh-CN" altLang="en-US" sz="600" dirty="0"/>
              <a:t>英文</a:t>
            </a:r>
            <a:r>
              <a:rPr lang="zh-CN" altLang="en-US" sz="600" dirty="0" smtClean="0"/>
              <a:t>摘要关键词小写</a:t>
            </a:r>
            <a:r>
              <a:rPr lang="zh-CN" altLang="en-US" sz="600" dirty="0"/>
              <a:t>，逗号</a:t>
            </a:r>
            <a:r>
              <a:rPr lang="zh-CN" altLang="en-US" sz="600" dirty="0" smtClean="0"/>
              <a:t>分隔）</a:t>
            </a:r>
            <a:endParaRPr lang="zh-CN" altLang="en-US" sz="600" dirty="0"/>
          </a:p>
          <a:p>
            <a:r>
              <a:rPr lang="zh-CN" altLang="en-US" sz="600" b="1" dirty="0" smtClean="0"/>
              <a:t>目录</a:t>
            </a:r>
            <a:r>
              <a:rPr lang="zh-CN" altLang="en-US" sz="600" dirty="0"/>
              <a:t>：</a:t>
            </a:r>
            <a:r>
              <a:rPr lang="zh-CN" altLang="en-US" sz="600" dirty="0" smtClean="0"/>
              <a:t>各</a:t>
            </a:r>
            <a:r>
              <a:rPr lang="zh-CN" altLang="en-US" sz="600" dirty="0"/>
              <a:t>章题序及</a:t>
            </a:r>
            <a:r>
              <a:rPr lang="zh-CN" altLang="en-US" sz="600" dirty="0" smtClean="0"/>
              <a:t>标题小</a:t>
            </a:r>
            <a:r>
              <a:rPr lang="en-US" altLang="zh-CN" sz="600" dirty="0"/>
              <a:t>4</a:t>
            </a:r>
            <a:r>
              <a:rPr lang="zh-CN" altLang="en-US" sz="600" dirty="0"/>
              <a:t>号黑体，</a:t>
            </a:r>
            <a:r>
              <a:rPr lang="zh-CN" altLang="en-US" sz="600" dirty="0" smtClean="0"/>
              <a:t>其余小</a:t>
            </a:r>
            <a:r>
              <a:rPr lang="en-US" altLang="zh-CN" sz="600" dirty="0"/>
              <a:t>4</a:t>
            </a:r>
            <a:r>
              <a:rPr lang="zh-CN" altLang="en-US" sz="600" dirty="0"/>
              <a:t>号宋体</a:t>
            </a:r>
            <a:r>
              <a:rPr lang="zh-CN" altLang="en-US" sz="600" dirty="0" smtClean="0"/>
              <a:t>。英文目录各章题序及标题</a:t>
            </a:r>
            <a:r>
              <a:rPr lang="en-US" altLang="zh-CN" sz="600" dirty="0" smtClean="0"/>
              <a:t>TNR4</a:t>
            </a:r>
            <a:r>
              <a:rPr lang="zh-CN" altLang="en-US" sz="600" dirty="0"/>
              <a:t>号字加粗，</a:t>
            </a:r>
            <a:r>
              <a:rPr lang="zh-CN" altLang="en-US" sz="600" dirty="0" smtClean="0"/>
              <a:t>其余</a:t>
            </a:r>
            <a:r>
              <a:rPr lang="en-US" altLang="zh-CN" sz="600" dirty="0" smtClean="0"/>
              <a:t>TNR</a:t>
            </a:r>
            <a:r>
              <a:rPr lang="zh-CN" altLang="en-US" sz="600" dirty="0" smtClean="0"/>
              <a:t>小</a:t>
            </a:r>
            <a:r>
              <a:rPr lang="en-US" altLang="zh-CN" sz="600" dirty="0"/>
              <a:t>4</a:t>
            </a:r>
            <a:r>
              <a:rPr lang="zh-CN" altLang="en-US" sz="600" dirty="0"/>
              <a:t>号字</a:t>
            </a:r>
            <a:r>
              <a:rPr lang="zh-CN" altLang="en-US" sz="600" dirty="0" smtClean="0"/>
              <a:t>。对于</a:t>
            </a:r>
            <a:r>
              <a:rPr lang="zh-CN" altLang="en-US" sz="600" dirty="0"/>
              <a:t>超过一行的目录内容提前换行，换行后缩进至相应标题第一个字符处。 </a:t>
            </a:r>
            <a:r>
              <a:rPr lang="en-US" altLang="zh-CN" sz="600" dirty="0"/>
              <a:t> </a:t>
            </a:r>
            <a:r>
              <a:rPr lang="en-US" altLang="zh-CN" sz="600" dirty="0" smtClean="0"/>
              <a:t>   </a:t>
            </a:r>
            <a:r>
              <a:rPr lang="zh-CN" altLang="en-US" sz="600" dirty="0" smtClean="0"/>
              <a:t>正文层次：章序</a:t>
            </a:r>
            <a:r>
              <a:rPr lang="en-US" altLang="zh-CN" sz="600" dirty="0" smtClean="0"/>
              <a:t>/</a:t>
            </a:r>
            <a:r>
              <a:rPr lang="zh-CN" altLang="en-US" sz="600" dirty="0" smtClean="0"/>
              <a:t>名居中；节</a:t>
            </a:r>
            <a:r>
              <a:rPr lang="en-US" altLang="zh-CN" sz="600" dirty="0" smtClean="0"/>
              <a:t>/</a:t>
            </a:r>
            <a:r>
              <a:rPr lang="zh-CN" altLang="en-US" sz="600" dirty="0" smtClean="0"/>
              <a:t>条</a:t>
            </a:r>
            <a:r>
              <a:rPr lang="en-US" altLang="zh-CN" sz="600" dirty="0" smtClean="0"/>
              <a:t>/</a:t>
            </a:r>
            <a:r>
              <a:rPr lang="zh-CN" altLang="en-US" sz="600" dirty="0" smtClean="0"/>
              <a:t>款顶格，与标题空</a:t>
            </a:r>
            <a:r>
              <a:rPr lang="en-US" altLang="zh-CN" sz="600" dirty="0" smtClean="0"/>
              <a:t>1</a:t>
            </a:r>
            <a:r>
              <a:rPr lang="zh-CN" altLang="en-US" sz="600" dirty="0" smtClean="0"/>
              <a:t>半角字符，正文各</a:t>
            </a:r>
            <a:r>
              <a:rPr lang="zh-CN" altLang="en-US" sz="600" dirty="0"/>
              <a:t>层次题序及标题</a:t>
            </a:r>
            <a:r>
              <a:rPr lang="zh-CN" altLang="en-US" sz="600" dirty="0" smtClean="0"/>
              <a:t>不置于页面最后一行。</a:t>
            </a:r>
            <a:endParaRPr lang="zh-CN" altLang="en-US" sz="600" dirty="0"/>
          </a:p>
          <a:p>
            <a:r>
              <a:rPr lang="zh-CN" altLang="en-US" sz="600" b="1" dirty="0" smtClean="0"/>
              <a:t>论文</a:t>
            </a:r>
            <a:r>
              <a:rPr lang="zh-CN" altLang="en-US" sz="600" b="1" dirty="0"/>
              <a:t>印刷与</a:t>
            </a:r>
            <a:r>
              <a:rPr lang="zh-CN" altLang="en-US" sz="600" b="1" dirty="0" smtClean="0"/>
              <a:t>装订</a:t>
            </a:r>
            <a:r>
              <a:rPr lang="zh-CN" altLang="en-US" sz="600" dirty="0" smtClean="0"/>
              <a:t>：打印</a:t>
            </a:r>
            <a:r>
              <a:rPr lang="zh-CN" altLang="en-US" sz="600" dirty="0"/>
              <a:t>和</a:t>
            </a:r>
            <a:r>
              <a:rPr lang="zh-CN" altLang="en-US" sz="600" dirty="0" smtClean="0"/>
              <a:t>印刷用</a:t>
            </a:r>
            <a:r>
              <a:rPr lang="en-US" altLang="zh-CN" sz="600" dirty="0"/>
              <a:t>A4</a:t>
            </a:r>
            <a:r>
              <a:rPr lang="zh-CN" altLang="en-US" sz="600" dirty="0"/>
              <a:t>标准纸（</a:t>
            </a:r>
            <a:r>
              <a:rPr lang="en-US" altLang="zh-CN" sz="600" dirty="0" smtClean="0"/>
              <a:t>210×297</a:t>
            </a:r>
            <a:r>
              <a:rPr lang="zh-CN" altLang="en-US" sz="600" dirty="0" smtClean="0"/>
              <a:t>），</a:t>
            </a:r>
            <a:r>
              <a:rPr lang="zh-CN" altLang="en-US" sz="600" dirty="0"/>
              <a:t>纸张留有空白边缘，版</a:t>
            </a:r>
            <a:r>
              <a:rPr lang="zh-CN" altLang="en-US" sz="600" dirty="0" smtClean="0"/>
              <a:t>芯</a:t>
            </a:r>
            <a:r>
              <a:rPr lang="en-US" altLang="zh-CN" sz="600" dirty="0" smtClean="0"/>
              <a:t>150×240±2</a:t>
            </a:r>
            <a:r>
              <a:rPr lang="zh-CN" altLang="en-US" sz="600" dirty="0" smtClean="0"/>
              <a:t>（页眉</a:t>
            </a:r>
            <a:r>
              <a:rPr lang="zh-CN" altLang="en-US" sz="600" dirty="0"/>
              <a:t>、页码）。每页约</a:t>
            </a:r>
            <a:r>
              <a:rPr lang="en-US" altLang="zh-CN" sz="600" dirty="0"/>
              <a:t>33</a:t>
            </a:r>
            <a:r>
              <a:rPr lang="zh-CN" altLang="en-US" sz="600" dirty="0"/>
              <a:t>行。切割后</a:t>
            </a:r>
            <a:r>
              <a:rPr lang="zh-CN" altLang="en-US" sz="600" dirty="0" smtClean="0"/>
              <a:t>尺寸为</a:t>
            </a:r>
            <a:r>
              <a:rPr lang="en-US" altLang="zh-CN" sz="600" dirty="0" smtClean="0"/>
              <a:t>205×285±2</a:t>
            </a:r>
            <a:r>
              <a:rPr lang="zh-CN" altLang="en-US" sz="600" dirty="0" smtClean="0"/>
              <a:t>。</a:t>
            </a:r>
            <a:endParaRPr lang="zh-CN" altLang="en-US" sz="600" dirty="0"/>
          </a:p>
          <a:p>
            <a:r>
              <a:rPr lang="zh-CN" altLang="en-US" sz="600" dirty="0" smtClean="0"/>
              <a:t>博士双面</a:t>
            </a:r>
            <a:r>
              <a:rPr lang="zh-CN" altLang="en-US" sz="600" dirty="0"/>
              <a:t>复印或胶印；</a:t>
            </a:r>
            <a:r>
              <a:rPr lang="zh-CN" altLang="en-US" sz="600" dirty="0" smtClean="0"/>
              <a:t>硕士单面</a:t>
            </a:r>
            <a:r>
              <a:rPr lang="zh-CN" altLang="en-US" sz="600" dirty="0"/>
              <a:t>复印或胶印，单面印时页眉不分奇偶页，均为“</a:t>
            </a:r>
            <a:r>
              <a:rPr lang="zh-CN" altLang="en-US" sz="600" dirty="0" smtClean="0"/>
              <a:t>哈工大</a:t>
            </a:r>
            <a:r>
              <a:rPr lang="en-US" altLang="zh-CN" sz="600" dirty="0" smtClean="0"/>
              <a:t>x</a:t>
            </a:r>
            <a:r>
              <a:rPr lang="zh-CN" altLang="en-US" sz="600" dirty="0" smtClean="0"/>
              <a:t>学</a:t>
            </a:r>
            <a:r>
              <a:rPr lang="zh-CN" altLang="en-US" sz="600" dirty="0"/>
              <a:t>硕士学位论文</a:t>
            </a:r>
            <a:r>
              <a:rPr lang="zh-CN" altLang="en-US" sz="600" dirty="0" smtClean="0"/>
              <a:t>”。书脊</a:t>
            </a:r>
            <a:r>
              <a:rPr lang="zh-CN" altLang="en-US" sz="600" dirty="0"/>
              <a:t>处应印刷论文题目及“</a:t>
            </a:r>
            <a:r>
              <a:rPr lang="zh-CN" altLang="en-US" sz="600" dirty="0" smtClean="0"/>
              <a:t>哈工大</a:t>
            </a:r>
            <a:r>
              <a:rPr lang="en-US" altLang="zh-CN" sz="600" dirty="0" smtClean="0"/>
              <a:t>x</a:t>
            </a:r>
            <a:r>
              <a:rPr lang="zh-CN" altLang="en-US" sz="600" dirty="0" smtClean="0"/>
              <a:t>士</a:t>
            </a:r>
            <a:r>
              <a:rPr lang="zh-CN" altLang="en-US" sz="600" dirty="0"/>
              <a:t>学位论文</a:t>
            </a:r>
            <a:r>
              <a:rPr lang="zh-CN" altLang="en-US" sz="600" dirty="0" smtClean="0"/>
              <a:t>”，黑体</a:t>
            </a:r>
            <a:r>
              <a:rPr lang="zh-CN" altLang="en-US" sz="600" dirty="0"/>
              <a:t>小</a:t>
            </a:r>
            <a:r>
              <a:rPr lang="en-US" altLang="zh-CN" sz="600" dirty="0"/>
              <a:t>4</a:t>
            </a:r>
            <a:r>
              <a:rPr lang="zh-CN" altLang="en-US" sz="600" dirty="0"/>
              <a:t>号。 </a:t>
            </a:r>
            <a:r>
              <a:rPr lang="zh-CN" altLang="en-US" sz="600" dirty="0" smtClean="0"/>
              <a:t>学位</a:t>
            </a:r>
            <a:r>
              <a:rPr lang="zh-CN" altLang="en-US" sz="600" dirty="0"/>
              <a:t>论文</a:t>
            </a:r>
            <a:r>
              <a:rPr lang="zh-CN" altLang="en-US" sz="600" dirty="0" smtClean="0"/>
              <a:t>封皮采用</a:t>
            </a:r>
            <a:r>
              <a:rPr lang="zh-CN" altLang="en-US" sz="600" dirty="0"/>
              <a:t>学校统一印制的空白封页</a:t>
            </a:r>
            <a:r>
              <a:rPr lang="zh-CN" altLang="en-US" sz="600" dirty="0" smtClean="0"/>
              <a:t>。</a:t>
            </a:r>
            <a:endParaRPr lang="en-US" altLang="zh-CN" sz="600" dirty="0" smtClean="0"/>
          </a:p>
          <a:p>
            <a:r>
              <a:rPr lang="zh-CN" altLang="en-US" sz="600" b="1" dirty="0"/>
              <a:t>名词</a:t>
            </a:r>
            <a:r>
              <a:rPr lang="zh-CN" altLang="en-US" sz="600" b="1" dirty="0" smtClean="0"/>
              <a:t>术语</a:t>
            </a:r>
            <a:r>
              <a:rPr lang="zh-CN" altLang="en-US" sz="600" dirty="0"/>
              <a:t>：</a:t>
            </a:r>
            <a:r>
              <a:rPr lang="zh-CN" altLang="en-US" sz="600" dirty="0" smtClean="0"/>
              <a:t>科技</a:t>
            </a:r>
            <a:r>
              <a:rPr lang="zh-CN" altLang="en-US" sz="600" dirty="0"/>
              <a:t>名词术语及设备、元件的</a:t>
            </a:r>
            <a:r>
              <a:rPr lang="zh-CN" altLang="en-US" sz="600" dirty="0" smtClean="0"/>
              <a:t>名称采用国家标</a:t>
            </a:r>
            <a:r>
              <a:rPr lang="en-US" altLang="zh-CN" sz="600" dirty="0" smtClean="0"/>
              <a:t>/</a:t>
            </a:r>
            <a:r>
              <a:rPr lang="zh-CN" altLang="en-US" sz="600" dirty="0" smtClean="0"/>
              <a:t>部</a:t>
            </a:r>
            <a:r>
              <a:rPr lang="zh-CN" altLang="en-US" sz="600" dirty="0"/>
              <a:t>颁标准中</a:t>
            </a:r>
            <a:r>
              <a:rPr lang="zh-CN" altLang="en-US" sz="600" dirty="0" smtClean="0"/>
              <a:t>规定，未规定采用</a:t>
            </a:r>
            <a:r>
              <a:rPr lang="zh-CN" altLang="en-US" sz="600" dirty="0"/>
              <a:t>行业</a:t>
            </a:r>
            <a:r>
              <a:rPr lang="zh-CN" altLang="en-US" sz="600" dirty="0" smtClean="0"/>
              <a:t>通用术语或名称。</a:t>
            </a:r>
            <a:r>
              <a:rPr lang="zh-CN" altLang="en-US" sz="600" dirty="0"/>
              <a:t>全文名词</a:t>
            </a:r>
            <a:r>
              <a:rPr lang="zh-CN" altLang="en-US" sz="600" dirty="0" smtClean="0"/>
              <a:t>术语统一，特殊名词或新名词在适当位置说明</a:t>
            </a:r>
            <a:r>
              <a:rPr lang="zh-CN" altLang="en-US" sz="600" dirty="0"/>
              <a:t>或注解</a:t>
            </a:r>
            <a:r>
              <a:rPr lang="zh-CN" altLang="en-US" sz="600" dirty="0" smtClean="0"/>
              <a:t>。英语</a:t>
            </a:r>
            <a:r>
              <a:rPr lang="zh-CN" altLang="en-US" sz="600" dirty="0"/>
              <a:t>缩写词时，除本行业广泛应用的通用缩写词外，文中第一次</a:t>
            </a:r>
            <a:r>
              <a:rPr lang="zh-CN" altLang="en-US" sz="600" dirty="0" smtClean="0"/>
              <a:t>出现用</a:t>
            </a:r>
            <a:r>
              <a:rPr lang="zh-CN" altLang="en-US" sz="600" dirty="0"/>
              <a:t>括号注明英文原词。 </a:t>
            </a:r>
          </a:p>
          <a:p>
            <a:r>
              <a:rPr lang="zh-CN" altLang="en-US" sz="600" b="1" dirty="0" smtClean="0"/>
              <a:t>物理量</a:t>
            </a:r>
            <a:r>
              <a:rPr lang="zh-CN" altLang="en-US" sz="600" b="1" dirty="0"/>
              <a:t>名称、符号与</a:t>
            </a:r>
            <a:r>
              <a:rPr lang="zh-CN" altLang="en-US" sz="600" b="1" dirty="0" smtClean="0"/>
              <a:t>计量单位</a:t>
            </a:r>
            <a:r>
              <a:rPr lang="en-US" altLang="zh-CN" sz="600" dirty="0" smtClean="0"/>
              <a:t>(GB3100</a:t>
            </a:r>
            <a:r>
              <a:rPr lang="zh-CN" altLang="en-US" sz="600" dirty="0"/>
              <a:t>～</a:t>
            </a:r>
            <a:r>
              <a:rPr lang="en-US" altLang="zh-CN" sz="600" dirty="0" smtClean="0"/>
              <a:t>3102-86)</a:t>
            </a:r>
            <a:r>
              <a:rPr lang="zh-CN" altLang="en-US" sz="600" dirty="0" smtClean="0"/>
              <a:t>：论文</a:t>
            </a:r>
            <a:r>
              <a:rPr lang="zh-CN" altLang="en-US" sz="600" dirty="0"/>
              <a:t>中某一量的名称和</a:t>
            </a:r>
            <a:r>
              <a:rPr lang="zh-CN" altLang="en-US" sz="600" dirty="0" smtClean="0"/>
              <a:t>符号统一；物理量符号斜体、单位正体，物理量作</a:t>
            </a:r>
            <a:r>
              <a:rPr lang="zh-CN" altLang="en-US" sz="600" dirty="0"/>
              <a:t>下标时也用斜体</a:t>
            </a:r>
            <a:r>
              <a:rPr lang="zh-CN" altLang="en-US" sz="600" dirty="0" smtClean="0"/>
              <a:t>。</a:t>
            </a:r>
            <a:r>
              <a:rPr lang="en-US" altLang="zh-CN" sz="600" dirty="0" smtClean="0"/>
              <a:t>(</a:t>
            </a:r>
            <a:r>
              <a:rPr lang="en-US" altLang="zh-CN" sz="600" i="1" dirty="0" smtClean="0"/>
              <a:t>m</a:t>
            </a:r>
            <a:r>
              <a:rPr lang="en-US" altLang="zh-CN" sz="600" dirty="0" smtClean="0"/>
              <a:t>=10 kg)</a:t>
            </a:r>
            <a:endParaRPr lang="en-US" altLang="zh-CN" sz="600" dirty="0"/>
          </a:p>
          <a:p>
            <a:r>
              <a:rPr lang="zh-CN" altLang="en-US" sz="600" b="1" dirty="0" smtClean="0"/>
              <a:t>物理量</a:t>
            </a:r>
            <a:r>
              <a:rPr lang="zh-CN" altLang="en-US" sz="600" b="1" dirty="0"/>
              <a:t>计量单位 </a:t>
            </a:r>
            <a:r>
              <a:rPr lang="zh-CN" altLang="en-US" sz="600" dirty="0" smtClean="0"/>
              <a:t>：不使用</a:t>
            </a:r>
            <a:r>
              <a:rPr lang="zh-CN" altLang="en-US" sz="600" dirty="0"/>
              <a:t>非法定计量单位及符号</a:t>
            </a:r>
            <a:r>
              <a:rPr lang="zh-CN" altLang="en-US" sz="600" dirty="0" smtClean="0"/>
              <a:t>。可</a:t>
            </a:r>
            <a:r>
              <a:rPr lang="zh-CN" altLang="en-US" sz="600" dirty="0"/>
              <a:t>采用汉字或符号</a:t>
            </a:r>
            <a:r>
              <a:rPr lang="zh-CN" altLang="en-US" sz="600" dirty="0" smtClean="0"/>
              <a:t>，前后</a:t>
            </a:r>
            <a:r>
              <a:rPr lang="zh-CN" altLang="en-US" sz="600" dirty="0"/>
              <a:t>统一</a:t>
            </a:r>
            <a:r>
              <a:rPr lang="zh-CN" altLang="en-US" sz="600" dirty="0" smtClean="0"/>
              <a:t>。除人名命名单位</a:t>
            </a:r>
            <a:r>
              <a:rPr lang="zh-CN" altLang="en-US" sz="600" dirty="0"/>
              <a:t>第一个</a:t>
            </a:r>
            <a:r>
              <a:rPr lang="zh-CN" altLang="en-US" sz="600" dirty="0" smtClean="0"/>
              <a:t>字母大写，一律小写字母</a:t>
            </a:r>
            <a:r>
              <a:rPr lang="en-US" altLang="zh-CN" sz="600" dirty="0" smtClean="0"/>
              <a:t>(</a:t>
            </a:r>
            <a:r>
              <a:rPr lang="en-US" altLang="zh-CN" sz="600" dirty="0" err="1" smtClean="0"/>
              <a:t>kN</a:t>
            </a:r>
            <a:r>
              <a:rPr lang="en-US" altLang="zh-CN" sz="600" dirty="0" smtClean="0"/>
              <a:t>)</a:t>
            </a:r>
            <a:r>
              <a:rPr lang="zh-CN" altLang="en-US" sz="600" dirty="0" smtClean="0"/>
              <a:t>。表达</a:t>
            </a:r>
            <a:r>
              <a:rPr lang="zh-CN" altLang="en-US" sz="600" dirty="0"/>
              <a:t>时刻时应采用中文</a:t>
            </a:r>
            <a:r>
              <a:rPr lang="zh-CN" altLang="en-US" sz="600" dirty="0" smtClean="0"/>
              <a:t>计量单位</a:t>
            </a:r>
            <a:r>
              <a:rPr lang="en-US" altLang="zh-CN" sz="600" dirty="0" smtClean="0"/>
              <a:t>(</a:t>
            </a:r>
            <a:r>
              <a:rPr lang="zh-CN" altLang="en-US" sz="600" dirty="0" smtClean="0"/>
              <a:t>上午</a:t>
            </a:r>
            <a:r>
              <a:rPr lang="en-US" altLang="zh-CN" sz="600" dirty="0"/>
              <a:t>8</a:t>
            </a:r>
            <a:r>
              <a:rPr lang="zh-CN" altLang="en-US" sz="600" dirty="0"/>
              <a:t>点</a:t>
            </a:r>
            <a:r>
              <a:rPr lang="en-US" altLang="zh-CN" sz="600" dirty="0"/>
              <a:t>3</a:t>
            </a:r>
            <a:r>
              <a:rPr lang="zh-CN" altLang="en-US" sz="600" dirty="0" smtClean="0"/>
              <a:t>刻不能写</a:t>
            </a:r>
            <a:r>
              <a:rPr lang="en-US" altLang="zh-CN" sz="600" dirty="0" smtClean="0"/>
              <a:t>8h45min)</a:t>
            </a:r>
            <a:r>
              <a:rPr lang="zh-CN" altLang="en-US" sz="600" dirty="0" smtClean="0"/>
              <a:t>；计量单位</a:t>
            </a:r>
            <a:r>
              <a:rPr lang="zh-CN" altLang="en-US" sz="600" dirty="0"/>
              <a:t>符号一律用正体</a:t>
            </a:r>
            <a:r>
              <a:rPr lang="zh-CN" altLang="en-US" sz="600" dirty="0" smtClean="0"/>
              <a:t>。外文字母中物理</a:t>
            </a:r>
            <a:r>
              <a:rPr lang="zh-CN" altLang="en-US" sz="600" dirty="0"/>
              <a:t>常量、变量符号用斜体，计量单位等</a:t>
            </a:r>
            <a:r>
              <a:rPr lang="zh-CN" altLang="en-US" sz="600" dirty="0" smtClean="0"/>
              <a:t>符号用</a:t>
            </a:r>
            <a:r>
              <a:rPr lang="zh-CN" altLang="en-US" sz="600" dirty="0"/>
              <a:t>正体</a:t>
            </a:r>
            <a:r>
              <a:rPr lang="zh-CN" altLang="en-US" sz="600" dirty="0" smtClean="0"/>
              <a:t>。采用</a:t>
            </a:r>
            <a:r>
              <a:rPr lang="zh-CN" altLang="en-US" sz="600" dirty="0"/>
              <a:t>公式</a:t>
            </a:r>
            <a:r>
              <a:rPr lang="zh-CN" altLang="en-US" sz="600" dirty="0" smtClean="0"/>
              <a:t>编辑器。</a:t>
            </a:r>
            <a:endParaRPr lang="zh-CN" altLang="en-US" sz="600" dirty="0"/>
          </a:p>
          <a:p>
            <a:r>
              <a:rPr lang="zh-CN" altLang="en-US" sz="600" b="1" dirty="0" smtClean="0"/>
              <a:t>公式</a:t>
            </a:r>
            <a:r>
              <a:rPr lang="zh-CN" altLang="en-US" sz="600" dirty="0" smtClean="0"/>
              <a:t>：居中</a:t>
            </a:r>
            <a:r>
              <a:rPr lang="zh-CN" altLang="en-US" sz="600" dirty="0"/>
              <a:t>书写</a:t>
            </a:r>
            <a:r>
              <a:rPr lang="zh-CN" altLang="en-US" sz="600" dirty="0" smtClean="0"/>
              <a:t>。公式</a:t>
            </a:r>
            <a:r>
              <a:rPr lang="zh-CN" altLang="en-US" sz="600" dirty="0"/>
              <a:t>前有文字</a:t>
            </a:r>
            <a:r>
              <a:rPr lang="zh-CN" altLang="en-US" sz="600" dirty="0" smtClean="0"/>
              <a:t>（解</a:t>
            </a:r>
            <a:r>
              <a:rPr lang="en-US" altLang="zh-CN" sz="600" dirty="0" smtClean="0"/>
              <a:t>/</a:t>
            </a:r>
            <a:r>
              <a:rPr lang="zh-CN" altLang="en-US" sz="600" dirty="0" smtClean="0"/>
              <a:t>假定）文字</a:t>
            </a:r>
            <a:r>
              <a:rPr lang="zh-CN" altLang="en-US" sz="600" dirty="0"/>
              <a:t>前空</a:t>
            </a:r>
            <a:r>
              <a:rPr lang="en-US" altLang="zh-CN" sz="600" dirty="0"/>
              <a:t>4</a:t>
            </a:r>
            <a:r>
              <a:rPr lang="zh-CN" altLang="en-US" sz="600" dirty="0"/>
              <a:t>个半角字符，</a:t>
            </a:r>
            <a:r>
              <a:rPr lang="zh-CN" altLang="en-US" sz="600" dirty="0" smtClean="0"/>
              <a:t>公式居中</a:t>
            </a:r>
            <a:r>
              <a:rPr lang="zh-CN" altLang="en-US" sz="600" dirty="0"/>
              <a:t>，</a:t>
            </a:r>
            <a:r>
              <a:rPr lang="zh-CN" altLang="en-US" sz="600" dirty="0" smtClean="0"/>
              <a:t>公式</a:t>
            </a:r>
            <a:r>
              <a:rPr lang="zh-CN" altLang="en-US" sz="600" dirty="0"/>
              <a:t>末不加标点</a:t>
            </a:r>
            <a:r>
              <a:rPr lang="zh-CN" altLang="en-US" sz="600" dirty="0" smtClean="0"/>
              <a:t>。公式</a:t>
            </a:r>
            <a:r>
              <a:rPr lang="zh-CN" altLang="en-US" sz="600" dirty="0"/>
              <a:t>序号按章</a:t>
            </a:r>
            <a:r>
              <a:rPr lang="zh-CN" altLang="en-US" sz="600" dirty="0" smtClean="0"/>
              <a:t>编排</a:t>
            </a:r>
            <a:r>
              <a:rPr lang="en-US" altLang="zh-CN" sz="600" dirty="0"/>
              <a:t>[</a:t>
            </a:r>
            <a:r>
              <a:rPr lang="en-US" altLang="zh-CN" sz="600" dirty="0" smtClean="0"/>
              <a:t>(</a:t>
            </a:r>
            <a:r>
              <a:rPr lang="en-US" altLang="zh-CN" sz="600" dirty="0"/>
              <a:t>1-1</a:t>
            </a:r>
            <a:r>
              <a:rPr lang="en-US" altLang="zh-CN" sz="600" dirty="0" smtClean="0"/>
              <a:t>),</a:t>
            </a:r>
            <a:r>
              <a:rPr lang="zh-CN" altLang="en-US" sz="600" dirty="0" smtClean="0"/>
              <a:t>附</a:t>
            </a:r>
            <a:r>
              <a:rPr lang="en-US" altLang="zh-CN" sz="600" dirty="0" smtClean="0"/>
              <a:t>(2-1)]</a:t>
            </a:r>
            <a:r>
              <a:rPr lang="zh-CN" altLang="en-US" sz="600" dirty="0" smtClean="0"/>
              <a:t>等。引用公式</a:t>
            </a:r>
            <a:r>
              <a:rPr lang="en-US" altLang="zh-CN" sz="600" dirty="0" smtClean="0"/>
              <a:t>[</a:t>
            </a:r>
            <a:r>
              <a:rPr lang="zh-CN" altLang="en-US" sz="600" dirty="0" smtClean="0"/>
              <a:t>见</a:t>
            </a:r>
            <a:r>
              <a:rPr lang="zh-CN" altLang="en-US" sz="600" dirty="0"/>
              <a:t>式</a:t>
            </a:r>
            <a:r>
              <a:rPr lang="en-US" altLang="zh-CN" sz="600" dirty="0"/>
              <a:t>(1-1</a:t>
            </a:r>
            <a:r>
              <a:rPr lang="en-US" altLang="zh-CN" sz="600" dirty="0" smtClean="0"/>
              <a:t>)/</a:t>
            </a:r>
            <a:r>
              <a:rPr lang="zh-CN" altLang="en-US" sz="600" dirty="0" smtClean="0"/>
              <a:t>由</a:t>
            </a:r>
            <a:r>
              <a:rPr lang="zh-CN" altLang="en-US" sz="600" dirty="0"/>
              <a:t>公式</a:t>
            </a:r>
            <a:r>
              <a:rPr lang="en-US" altLang="zh-CN" sz="600" dirty="0"/>
              <a:t>(1-1</a:t>
            </a:r>
            <a:r>
              <a:rPr lang="en-US" altLang="zh-CN" sz="600" dirty="0" smtClean="0"/>
              <a:t>)]</a:t>
            </a:r>
            <a:r>
              <a:rPr lang="zh-CN" altLang="en-US" sz="600" dirty="0" smtClean="0"/>
              <a:t>；斜线表示除时采用括号；不能</a:t>
            </a:r>
            <a:r>
              <a:rPr lang="zh-CN" altLang="en-US" sz="600" dirty="0"/>
              <a:t>用文字形式表示</a:t>
            </a:r>
            <a:r>
              <a:rPr lang="zh-CN" altLang="en-US" sz="600" dirty="0" smtClean="0"/>
              <a:t>等式；公式</a:t>
            </a:r>
            <a:r>
              <a:rPr lang="zh-CN" altLang="en-US" sz="600" dirty="0"/>
              <a:t>序号的右侧与右边线顶边排</a:t>
            </a:r>
            <a:r>
              <a:rPr lang="zh-CN" altLang="en-US" sz="600" dirty="0" smtClean="0"/>
              <a:t>写；公式</a:t>
            </a:r>
            <a:r>
              <a:rPr lang="zh-CN" altLang="en-US" sz="600" dirty="0"/>
              <a:t>较长</a:t>
            </a:r>
            <a:r>
              <a:rPr lang="zh-CN" altLang="en-US" sz="600" dirty="0" smtClean="0"/>
              <a:t>时在＝处</a:t>
            </a:r>
            <a:r>
              <a:rPr lang="zh-CN" altLang="en-US" sz="600" dirty="0"/>
              <a:t>转行，如难</a:t>
            </a:r>
            <a:r>
              <a:rPr lang="zh-CN" altLang="en-US" sz="600" dirty="0" smtClean="0"/>
              <a:t>实现则</a:t>
            </a:r>
            <a:r>
              <a:rPr lang="zh-CN" altLang="en-US" sz="600" dirty="0"/>
              <a:t>可在</a:t>
            </a:r>
            <a:r>
              <a:rPr lang="zh-CN" altLang="en-US" sz="600" dirty="0" smtClean="0"/>
              <a:t>＋</a:t>
            </a:r>
            <a:r>
              <a:rPr lang="zh-CN" altLang="en-US" sz="600" dirty="0"/>
              <a:t>等</a:t>
            </a:r>
            <a:r>
              <a:rPr lang="zh-CN" altLang="en-US" sz="600" dirty="0" smtClean="0"/>
              <a:t>运算</a:t>
            </a:r>
            <a:r>
              <a:rPr lang="zh-CN" altLang="en-US" sz="600" dirty="0"/>
              <a:t>符号处转行</a:t>
            </a:r>
            <a:r>
              <a:rPr lang="zh-CN" altLang="en-US" sz="600" dirty="0" smtClean="0"/>
              <a:t>，算符</a:t>
            </a:r>
            <a:r>
              <a:rPr lang="zh-CN" altLang="en-US" sz="600" dirty="0"/>
              <a:t>号仅书写于转行式前，不重复书写</a:t>
            </a:r>
            <a:r>
              <a:rPr lang="zh-CN" altLang="en-US" sz="600" dirty="0" smtClean="0"/>
              <a:t>。第一次</a:t>
            </a:r>
            <a:r>
              <a:rPr lang="zh-CN" altLang="en-US" sz="600" dirty="0"/>
              <a:t>出现的物理量</a:t>
            </a:r>
            <a:r>
              <a:rPr lang="zh-CN" altLang="en-US" sz="600" dirty="0" smtClean="0"/>
              <a:t>代号给予</a:t>
            </a:r>
            <a:r>
              <a:rPr lang="zh-CN" altLang="en-US" sz="600" dirty="0"/>
              <a:t>注释，注释的</a:t>
            </a:r>
            <a:r>
              <a:rPr lang="zh-CN" altLang="en-US" sz="600" dirty="0" smtClean="0"/>
              <a:t>转行与</a:t>
            </a:r>
            <a:r>
              <a:rPr lang="zh-CN" altLang="en-US" sz="600" dirty="0"/>
              <a:t>破折号后第一个字</a:t>
            </a:r>
            <a:r>
              <a:rPr lang="zh-CN" altLang="en-US" sz="600" dirty="0" smtClean="0"/>
              <a:t>对齐，破折号</a:t>
            </a:r>
            <a:r>
              <a:rPr lang="zh-CN" altLang="en-US" sz="600" dirty="0"/>
              <a:t>占二个</a:t>
            </a:r>
            <a:r>
              <a:rPr lang="zh-CN" altLang="en-US" sz="600" dirty="0" smtClean="0"/>
              <a:t>字。</a:t>
            </a:r>
            <a:endParaRPr lang="en-US" altLang="zh-CN" sz="600" dirty="0" smtClean="0"/>
          </a:p>
          <a:p>
            <a:r>
              <a:rPr lang="zh-CN" altLang="en-US" sz="600" b="1" dirty="0" smtClean="0"/>
              <a:t>插表</a:t>
            </a:r>
            <a:r>
              <a:rPr lang="zh-CN" altLang="en-US" sz="600" dirty="0" smtClean="0"/>
              <a:t>：</a:t>
            </a:r>
            <a:r>
              <a:rPr lang="en-US" altLang="zh-CN" sz="600" dirty="0" smtClean="0"/>
              <a:t>3</a:t>
            </a:r>
            <a:r>
              <a:rPr lang="zh-CN" altLang="en-US" sz="600" dirty="0"/>
              <a:t>线表</a:t>
            </a:r>
            <a:r>
              <a:rPr lang="zh-CN" altLang="en-US" sz="600" dirty="0" smtClean="0"/>
              <a:t>。均有</a:t>
            </a:r>
            <a:r>
              <a:rPr lang="zh-CN" altLang="en-US" sz="600" dirty="0"/>
              <a:t>表题</a:t>
            </a:r>
            <a:r>
              <a:rPr lang="zh-CN" altLang="en-US" sz="600" dirty="0" smtClean="0"/>
              <a:t>（表序，表名）</a:t>
            </a:r>
            <a:r>
              <a:rPr lang="zh-CN" altLang="en-US" sz="600" dirty="0"/>
              <a:t>。表</a:t>
            </a:r>
            <a:r>
              <a:rPr lang="zh-CN" altLang="en-US" sz="600" dirty="0" smtClean="0"/>
              <a:t>序按</a:t>
            </a:r>
            <a:r>
              <a:rPr lang="zh-CN" altLang="en-US" sz="600" dirty="0"/>
              <a:t>章</a:t>
            </a:r>
            <a:r>
              <a:rPr lang="zh-CN" altLang="en-US" sz="600" dirty="0" smtClean="0"/>
              <a:t>编排</a:t>
            </a:r>
            <a:r>
              <a:rPr lang="en-US" altLang="zh-CN" sz="600" dirty="0"/>
              <a:t>(</a:t>
            </a:r>
            <a:r>
              <a:rPr lang="zh-CN" altLang="en-US" sz="600" dirty="0" smtClean="0"/>
              <a:t>表</a:t>
            </a:r>
            <a:r>
              <a:rPr lang="en-US" altLang="zh-CN" sz="600" dirty="0" smtClean="0"/>
              <a:t>1-1)</a:t>
            </a:r>
            <a:r>
              <a:rPr lang="zh-CN" altLang="en-US" sz="600" dirty="0"/>
              <a:t>，</a:t>
            </a:r>
            <a:r>
              <a:rPr lang="zh-CN" altLang="en-US" sz="600" dirty="0" smtClean="0"/>
              <a:t>表</a:t>
            </a:r>
            <a:r>
              <a:rPr lang="zh-CN" altLang="en-US" sz="600" dirty="0"/>
              <a:t>名</a:t>
            </a:r>
            <a:r>
              <a:rPr lang="zh-CN" altLang="en-US" sz="600" dirty="0" smtClean="0"/>
              <a:t>中</a:t>
            </a:r>
            <a:r>
              <a:rPr lang="zh-CN" altLang="en-US" sz="600" dirty="0"/>
              <a:t>无</a:t>
            </a:r>
            <a:r>
              <a:rPr lang="zh-CN" altLang="en-US" sz="600" dirty="0" smtClean="0"/>
              <a:t>标点符号。表头不用斜线，可</a:t>
            </a:r>
            <a:r>
              <a:rPr lang="zh-CN" altLang="en-US" sz="600" dirty="0"/>
              <a:t>采用</a:t>
            </a:r>
            <a:r>
              <a:rPr lang="zh-CN" altLang="en-US" sz="600" dirty="0" smtClean="0"/>
              <a:t>化学符号</a:t>
            </a:r>
            <a:r>
              <a:rPr lang="en-US" altLang="zh-CN" sz="600" dirty="0" smtClean="0"/>
              <a:t>/</a:t>
            </a:r>
            <a:r>
              <a:rPr lang="zh-CN" altLang="en-US" sz="600" dirty="0" smtClean="0"/>
              <a:t>物理量</a:t>
            </a:r>
            <a:r>
              <a:rPr lang="zh-CN" altLang="en-US" sz="600" dirty="0"/>
              <a:t>符号</a:t>
            </a:r>
            <a:r>
              <a:rPr lang="zh-CN" altLang="en-US" sz="600" dirty="0" smtClean="0"/>
              <a:t>。全表如用</a:t>
            </a:r>
            <a:r>
              <a:rPr lang="zh-CN" altLang="en-US" sz="600" dirty="0"/>
              <a:t>同一单位</a:t>
            </a:r>
            <a:r>
              <a:rPr lang="zh-CN" altLang="en-US" sz="600" dirty="0" smtClean="0"/>
              <a:t>，将</a:t>
            </a:r>
            <a:r>
              <a:rPr lang="zh-CN" altLang="en-US" sz="600" dirty="0"/>
              <a:t>单位符号移至表头右</a:t>
            </a:r>
            <a:r>
              <a:rPr lang="zh-CN" altLang="en-US" sz="600" dirty="0" smtClean="0"/>
              <a:t>上角加</a:t>
            </a:r>
            <a:r>
              <a:rPr lang="zh-CN" altLang="en-US" sz="600" dirty="0"/>
              <a:t>圆括号</a:t>
            </a:r>
            <a:r>
              <a:rPr lang="zh-CN" altLang="en-US" sz="600" dirty="0" smtClean="0"/>
              <a:t>。数字</a:t>
            </a:r>
            <a:r>
              <a:rPr lang="zh-CN" altLang="en-US" sz="600" dirty="0"/>
              <a:t>空缺的格内加</a:t>
            </a:r>
            <a:r>
              <a:rPr lang="zh-CN" altLang="en-US" sz="600" dirty="0" smtClean="0"/>
              <a:t>横线－</a:t>
            </a:r>
            <a:r>
              <a:rPr lang="en-US" altLang="zh-CN" sz="600" dirty="0" smtClean="0"/>
              <a:t>(2</a:t>
            </a:r>
            <a:r>
              <a:rPr lang="zh-CN" altLang="en-US" sz="600" dirty="0" smtClean="0"/>
              <a:t>数字宽度</a:t>
            </a:r>
            <a:r>
              <a:rPr lang="en-US" altLang="zh-CN" sz="600" dirty="0" smtClean="0"/>
              <a:t>)</a:t>
            </a:r>
            <a:r>
              <a:rPr lang="zh-CN" altLang="en-US" sz="600" dirty="0" smtClean="0"/>
              <a:t>。</a:t>
            </a:r>
            <a:r>
              <a:rPr lang="zh-CN" altLang="en-US" sz="600" dirty="0"/>
              <a:t>表内文字或数字</a:t>
            </a:r>
            <a:r>
              <a:rPr lang="zh-CN" altLang="en-US" sz="600" dirty="0" smtClean="0"/>
              <a:t>上下</a:t>
            </a:r>
            <a:r>
              <a:rPr lang="zh-CN" altLang="en-US" sz="600" dirty="0"/>
              <a:t>或</a:t>
            </a:r>
            <a:r>
              <a:rPr lang="zh-CN" altLang="en-US" sz="600" dirty="0" smtClean="0"/>
              <a:t>左右</a:t>
            </a:r>
            <a:r>
              <a:rPr lang="zh-CN" altLang="en-US" sz="600" dirty="0"/>
              <a:t>相同时，采用通栏处理</a:t>
            </a:r>
            <a:r>
              <a:rPr lang="zh-CN" altLang="en-US" sz="600" dirty="0" smtClean="0"/>
              <a:t>方式；表</a:t>
            </a:r>
            <a:r>
              <a:rPr lang="zh-CN" altLang="en-US" sz="600" dirty="0"/>
              <a:t>内文字说明，起行空一格、转行顶格、句末不加</a:t>
            </a:r>
            <a:r>
              <a:rPr lang="zh-CN" altLang="en-US" sz="600" dirty="0" smtClean="0"/>
              <a:t>标点</a:t>
            </a:r>
            <a:r>
              <a:rPr lang="zh-CN" altLang="en-US" sz="600" dirty="0"/>
              <a:t>；</a:t>
            </a:r>
            <a:r>
              <a:rPr lang="zh-CN" altLang="en-US" sz="600" dirty="0" smtClean="0"/>
              <a:t>转</a:t>
            </a:r>
            <a:r>
              <a:rPr lang="zh-CN" altLang="en-US" sz="600" dirty="0"/>
              <a:t>页接</a:t>
            </a:r>
            <a:r>
              <a:rPr lang="zh-CN" altLang="en-US" sz="600" dirty="0" smtClean="0"/>
              <a:t>排在</a:t>
            </a:r>
            <a:r>
              <a:rPr lang="zh-CN" altLang="en-US" sz="600" dirty="0"/>
              <a:t>随后的各页</a:t>
            </a:r>
            <a:r>
              <a:rPr lang="zh-CN" altLang="en-US" sz="600" dirty="0" smtClean="0"/>
              <a:t>上重复</a:t>
            </a:r>
            <a:r>
              <a:rPr lang="zh-CN" altLang="en-US" sz="600" dirty="0"/>
              <a:t>表的</a:t>
            </a:r>
            <a:r>
              <a:rPr lang="zh-CN" altLang="en-US" sz="600" dirty="0" smtClean="0"/>
              <a:t>编号，编号</a:t>
            </a:r>
            <a:r>
              <a:rPr lang="zh-CN" altLang="en-US" sz="600" dirty="0"/>
              <a:t>后</a:t>
            </a:r>
            <a:r>
              <a:rPr lang="zh-CN" altLang="en-US" sz="600" dirty="0" smtClean="0"/>
              <a:t>加（</a:t>
            </a:r>
            <a:r>
              <a:rPr lang="zh-CN" altLang="en-US" sz="600" dirty="0"/>
              <a:t>续表</a:t>
            </a:r>
            <a:r>
              <a:rPr lang="zh-CN" altLang="en-US" sz="600" dirty="0" smtClean="0"/>
              <a:t>），</a:t>
            </a:r>
            <a:r>
              <a:rPr lang="zh-CN" altLang="en-US" sz="600" dirty="0"/>
              <a:t>表题可</a:t>
            </a:r>
            <a:r>
              <a:rPr lang="zh-CN" altLang="en-US" sz="600" dirty="0" smtClean="0"/>
              <a:t>省略，重复</a:t>
            </a:r>
            <a:r>
              <a:rPr lang="zh-CN" altLang="en-US" sz="600" dirty="0"/>
              <a:t>表</a:t>
            </a:r>
            <a:r>
              <a:rPr lang="zh-CN" altLang="en-US" sz="600" dirty="0" smtClean="0"/>
              <a:t>头；字体宋体</a:t>
            </a:r>
            <a:r>
              <a:rPr lang="en-US" altLang="zh-CN" sz="600" dirty="0"/>
              <a:t>/</a:t>
            </a:r>
            <a:r>
              <a:rPr lang="en-US" altLang="zh-CN" sz="600" dirty="0" smtClean="0"/>
              <a:t>TNR5</a:t>
            </a:r>
            <a:r>
              <a:rPr lang="zh-CN" altLang="en-US" sz="600" dirty="0"/>
              <a:t>号字</a:t>
            </a:r>
            <a:r>
              <a:rPr lang="zh-CN" altLang="en-US" sz="600" dirty="0" smtClean="0"/>
              <a:t>（字数较多可用</a:t>
            </a:r>
            <a:r>
              <a:rPr lang="zh-CN" altLang="en-US" sz="600" dirty="0"/>
              <a:t>小</a:t>
            </a:r>
            <a:r>
              <a:rPr lang="en-US" altLang="zh-CN" sz="600" dirty="0" smtClean="0"/>
              <a:t>5</a:t>
            </a:r>
            <a:r>
              <a:rPr lang="zh-CN" altLang="en-US" sz="600" dirty="0" smtClean="0"/>
              <a:t>号但表</a:t>
            </a:r>
            <a:r>
              <a:rPr lang="zh-CN" altLang="en-US" sz="600" dirty="0"/>
              <a:t>内</a:t>
            </a:r>
            <a:r>
              <a:rPr lang="zh-CN" altLang="en-US" sz="600" dirty="0" smtClean="0"/>
              <a:t>字号统一）</a:t>
            </a:r>
            <a:r>
              <a:rPr lang="zh-CN" altLang="en-US" sz="600" dirty="0"/>
              <a:t>；</a:t>
            </a:r>
            <a:r>
              <a:rPr lang="zh-CN" altLang="en-US" sz="600" dirty="0" smtClean="0"/>
              <a:t>引用文献表格时在中英文</a:t>
            </a:r>
            <a:r>
              <a:rPr lang="zh-CN" altLang="en-US" sz="600" dirty="0"/>
              <a:t>表题的右上角</a:t>
            </a:r>
            <a:r>
              <a:rPr lang="zh-CN" altLang="en-US" sz="600" dirty="0" smtClean="0"/>
              <a:t>标注。</a:t>
            </a:r>
            <a:endParaRPr lang="zh-CN" altLang="en-US" sz="600" dirty="0"/>
          </a:p>
          <a:p>
            <a:r>
              <a:rPr lang="zh-CN" altLang="en-US" sz="600" b="1" dirty="0" smtClean="0"/>
              <a:t>插图</a:t>
            </a:r>
            <a:r>
              <a:rPr lang="zh-CN" altLang="en-US" sz="600" dirty="0" smtClean="0"/>
              <a:t>：机械工程图第一</a:t>
            </a:r>
            <a:r>
              <a:rPr lang="zh-CN" altLang="en-US" sz="600" dirty="0"/>
              <a:t>角</a:t>
            </a:r>
            <a:r>
              <a:rPr lang="zh-CN" altLang="en-US" sz="600" dirty="0" smtClean="0"/>
              <a:t>投影法</a:t>
            </a:r>
            <a:r>
              <a:rPr lang="zh-CN" altLang="en-US" sz="600" dirty="0"/>
              <a:t>，</a:t>
            </a:r>
            <a:r>
              <a:rPr lang="en-US" altLang="zh-CN" sz="600" dirty="0" smtClean="0"/>
              <a:t>《</a:t>
            </a:r>
            <a:r>
              <a:rPr lang="zh-CN" altLang="en-US" sz="600" dirty="0"/>
              <a:t>机械制图</a:t>
            </a:r>
            <a:r>
              <a:rPr lang="en-US" altLang="zh-CN" sz="600" dirty="0"/>
              <a:t>》</a:t>
            </a:r>
            <a:r>
              <a:rPr lang="zh-CN" altLang="en-US" sz="600" dirty="0" smtClean="0"/>
              <a:t>标准；坐标图坐标线细</a:t>
            </a:r>
            <a:r>
              <a:rPr lang="zh-CN" altLang="en-US" sz="600" dirty="0"/>
              <a:t>实线，粗细不得超过图中曲线；有数字</a:t>
            </a:r>
            <a:r>
              <a:rPr lang="zh-CN" altLang="en-US" sz="600" dirty="0" smtClean="0"/>
              <a:t>标注图注明</a:t>
            </a:r>
            <a:r>
              <a:rPr lang="zh-CN" altLang="en-US" sz="600" dirty="0"/>
              <a:t>坐标</a:t>
            </a:r>
            <a:r>
              <a:rPr lang="zh-CN" altLang="en-US" sz="600" dirty="0" smtClean="0"/>
              <a:t>单位；照片图主题</a:t>
            </a:r>
            <a:r>
              <a:rPr lang="zh-CN" altLang="en-US" sz="600" dirty="0"/>
              <a:t>和主要显示部分的轮廓</a:t>
            </a:r>
            <a:r>
              <a:rPr lang="zh-CN" altLang="en-US" sz="600" dirty="0" smtClean="0"/>
              <a:t>鲜明，有</a:t>
            </a:r>
            <a:r>
              <a:rPr lang="zh-CN" altLang="en-US" sz="600" dirty="0"/>
              <a:t>表示目的物尺寸的标度</a:t>
            </a:r>
            <a:r>
              <a:rPr lang="zh-CN" altLang="en-US" sz="600" dirty="0" smtClean="0"/>
              <a:t>。引用文献图时右</a:t>
            </a:r>
            <a:r>
              <a:rPr lang="zh-CN" altLang="en-US" sz="600" dirty="0"/>
              <a:t>上角</a:t>
            </a:r>
            <a:r>
              <a:rPr lang="zh-CN" altLang="en-US" sz="600" dirty="0" smtClean="0"/>
              <a:t>标注。</a:t>
            </a:r>
            <a:endParaRPr lang="zh-CN" altLang="en-US" sz="600" dirty="0"/>
          </a:p>
          <a:p>
            <a:r>
              <a:rPr lang="zh-CN" altLang="en-US" sz="600" b="1" dirty="0" smtClean="0"/>
              <a:t>图</a:t>
            </a:r>
            <a:r>
              <a:rPr lang="zh-CN" altLang="en-US" sz="600" b="1" dirty="0"/>
              <a:t>题及图中说明 </a:t>
            </a:r>
            <a:r>
              <a:rPr lang="zh-CN" altLang="en-US" sz="600" dirty="0" smtClean="0"/>
              <a:t>：均有图</a:t>
            </a:r>
            <a:r>
              <a:rPr lang="zh-CN" altLang="en-US" sz="600" dirty="0"/>
              <a:t>题</a:t>
            </a:r>
            <a:r>
              <a:rPr lang="zh-CN" altLang="en-US" sz="600" dirty="0" smtClean="0"/>
              <a:t>（图号，图名）</a:t>
            </a:r>
            <a:r>
              <a:rPr lang="zh-CN" altLang="en-US" sz="600" dirty="0"/>
              <a:t>。图号按章</a:t>
            </a:r>
            <a:r>
              <a:rPr lang="zh-CN" altLang="en-US" sz="600" dirty="0" smtClean="0"/>
              <a:t>编排</a:t>
            </a:r>
            <a:r>
              <a:rPr lang="en-US" altLang="zh-CN" sz="600" dirty="0" smtClean="0"/>
              <a:t>(</a:t>
            </a:r>
            <a:r>
              <a:rPr lang="zh-CN" altLang="en-US" sz="600" dirty="0" smtClean="0"/>
              <a:t>图</a:t>
            </a:r>
            <a:r>
              <a:rPr lang="en-US" altLang="zh-CN" sz="600" dirty="0" smtClean="0"/>
              <a:t>1-1)</a:t>
            </a:r>
            <a:r>
              <a:rPr lang="zh-CN" altLang="en-US" sz="600" dirty="0" smtClean="0"/>
              <a:t>。</a:t>
            </a:r>
            <a:r>
              <a:rPr lang="zh-CN" altLang="en-US" sz="600" dirty="0"/>
              <a:t>图题置于图下</a:t>
            </a:r>
            <a:r>
              <a:rPr lang="zh-CN" altLang="en-US" sz="600" dirty="0" smtClean="0"/>
              <a:t>，中英文居中</a:t>
            </a:r>
            <a:r>
              <a:rPr lang="zh-CN" altLang="en-US" sz="600" dirty="0"/>
              <a:t>书写，</a:t>
            </a:r>
            <a:r>
              <a:rPr lang="zh-CN" altLang="en-US" sz="600" dirty="0" smtClean="0"/>
              <a:t>中文在上</a:t>
            </a:r>
            <a:r>
              <a:rPr lang="en-US" altLang="zh-CN" sz="600" dirty="0" smtClean="0"/>
              <a:t>5</a:t>
            </a:r>
            <a:r>
              <a:rPr lang="zh-CN" altLang="en-US" sz="600" dirty="0"/>
              <a:t>号字</a:t>
            </a:r>
            <a:r>
              <a:rPr lang="zh-CN" altLang="en-US" sz="600" dirty="0" smtClean="0"/>
              <a:t>。图</a:t>
            </a:r>
            <a:r>
              <a:rPr lang="zh-CN" altLang="en-US" sz="600" dirty="0"/>
              <a:t>注或其它</a:t>
            </a:r>
            <a:r>
              <a:rPr lang="zh-CN" altLang="en-US" sz="600" dirty="0" smtClean="0"/>
              <a:t>说明置于</a:t>
            </a:r>
            <a:r>
              <a:rPr lang="zh-CN" altLang="en-US" sz="600" dirty="0"/>
              <a:t>图题之上。图名在图号之后空一格排写</a:t>
            </a:r>
            <a:r>
              <a:rPr lang="zh-CN" altLang="en-US" sz="600" dirty="0" smtClean="0"/>
              <a:t>。分</a:t>
            </a:r>
            <a:r>
              <a:rPr lang="zh-CN" altLang="en-US" sz="600" dirty="0"/>
              <a:t>图题置于分图之下，分图号用</a:t>
            </a:r>
            <a:r>
              <a:rPr lang="en-US" altLang="zh-CN" sz="600" dirty="0"/>
              <a:t>a</a:t>
            </a:r>
            <a:r>
              <a:rPr lang="en-US" altLang="zh-CN" sz="600" dirty="0" smtClean="0"/>
              <a:t>)</a:t>
            </a:r>
            <a:r>
              <a:rPr lang="zh-CN" altLang="en-US" sz="600" dirty="0" smtClean="0"/>
              <a:t>等</a:t>
            </a:r>
            <a:r>
              <a:rPr lang="zh-CN" altLang="en-US" sz="600" dirty="0"/>
              <a:t>表示</a:t>
            </a:r>
            <a:r>
              <a:rPr lang="zh-CN" altLang="en-US" sz="600" dirty="0" smtClean="0"/>
              <a:t>。图中说明采用</a:t>
            </a:r>
            <a:r>
              <a:rPr lang="zh-CN" altLang="en-US" sz="600" dirty="0"/>
              <a:t>中文（引用的外文图除外）或数字项号，各项文字说明置于图题之上（有分图题者，置于分图题之上）</a:t>
            </a:r>
            <a:r>
              <a:rPr lang="zh-CN" altLang="en-US" sz="600" dirty="0" smtClean="0"/>
              <a:t>。图</a:t>
            </a:r>
            <a:r>
              <a:rPr lang="zh-CN" altLang="en-US" sz="600" dirty="0"/>
              <a:t>中文字用</a:t>
            </a:r>
            <a:r>
              <a:rPr lang="zh-CN" altLang="en-US" sz="600" dirty="0" smtClean="0"/>
              <a:t>宋体</a:t>
            </a:r>
            <a:r>
              <a:rPr lang="en-US" altLang="zh-CN" sz="600" dirty="0" smtClean="0"/>
              <a:t>/TNR5</a:t>
            </a:r>
            <a:r>
              <a:rPr lang="zh-CN" altLang="en-US" sz="600" dirty="0"/>
              <a:t>号字</a:t>
            </a:r>
            <a:r>
              <a:rPr lang="zh-CN" altLang="en-US" sz="600" dirty="0" smtClean="0"/>
              <a:t>（字数较多可用</a:t>
            </a:r>
            <a:r>
              <a:rPr lang="zh-CN" altLang="en-US" sz="600" dirty="0"/>
              <a:t>小</a:t>
            </a:r>
            <a:r>
              <a:rPr lang="en-US" altLang="zh-CN" sz="600" dirty="0"/>
              <a:t>5</a:t>
            </a:r>
            <a:r>
              <a:rPr lang="zh-CN" altLang="en-US" sz="600" dirty="0" smtClean="0"/>
              <a:t>号，但图</a:t>
            </a:r>
            <a:r>
              <a:rPr lang="zh-CN" altLang="en-US" sz="600" dirty="0"/>
              <a:t>内</a:t>
            </a:r>
            <a:r>
              <a:rPr lang="zh-CN" altLang="en-US" sz="600" dirty="0" smtClean="0"/>
              <a:t>字号统一</a:t>
            </a:r>
            <a:r>
              <a:rPr lang="zh-CN" altLang="en-US" sz="600" dirty="0"/>
              <a:t>）。同一图内使用文字应统一。</a:t>
            </a:r>
          </a:p>
          <a:p>
            <a:r>
              <a:rPr lang="zh-CN" altLang="en-US" sz="600" b="1" dirty="0" smtClean="0"/>
              <a:t>插图编排</a:t>
            </a:r>
            <a:r>
              <a:rPr lang="zh-CN" altLang="en-US" sz="600" dirty="0" smtClean="0"/>
              <a:t>：插图前文中有提示</a:t>
            </a:r>
            <a:r>
              <a:rPr lang="en-US" altLang="zh-CN" sz="600" dirty="0" smtClean="0"/>
              <a:t>(</a:t>
            </a:r>
            <a:r>
              <a:rPr lang="zh-CN" altLang="en-US" sz="600" dirty="0" smtClean="0"/>
              <a:t>见</a:t>
            </a:r>
            <a:r>
              <a:rPr lang="zh-CN" altLang="en-US" sz="600" dirty="0"/>
              <a:t>图</a:t>
            </a:r>
            <a:r>
              <a:rPr lang="en-US" altLang="zh-CN" sz="600" dirty="0" smtClean="0"/>
              <a:t>1-1,</a:t>
            </a:r>
            <a:r>
              <a:rPr lang="zh-CN" altLang="en-US" sz="600" dirty="0" smtClean="0"/>
              <a:t>如</a:t>
            </a:r>
            <a:r>
              <a:rPr lang="zh-CN" altLang="en-US" sz="600" dirty="0"/>
              <a:t>图</a:t>
            </a:r>
            <a:r>
              <a:rPr lang="en-US" altLang="zh-CN" sz="600" dirty="0"/>
              <a:t>1-1</a:t>
            </a:r>
            <a:r>
              <a:rPr lang="zh-CN" altLang="en-US" sz="600" dirty="0"/>
              <a:t>所</a:t>
            </a:r>
            <a:r>
              <a:rPr lang="zh-CN" altLang="en-US" sz="600" dirty="0" smtClean="0"/>
              <a:t>示</a:t>
            </a:r>
            <a:r>
              <a:rPr lang="en-US" altLang="zh-CN" sz="600" dirty="0" smtClean="0"/>
              <a:t>)</a:t>
            </a:r>
            <a:r>
              <a:rPr lang="zh-CN" altLang="en-US" sz="600" dirty="0" smtClean="0"/>
              <a:t>。</a:t>
            </a:r>
            <a:r>
              <a:rPr lang="zh-CN" altLang="en-US" sz="600" dirty="0"/>
              <a:t>插图</a:t>
            </a:r>
            <a:r>
              <a:rPr lang="zh-CN" altLang="en-US" sz="600" dirty="0" smtClean="0"/>
              <a:t>与图不拆开</a:t>
            </a:r>
            <a:r>
              <a:rPr lang="zh-CN" altLang="en-US" sz="600" dirty="0"/>
              <a:t>排写于两页。插图</a:t>
            </a:r>
            <a:r>
              <a:rPr lang="zh-CN" altLang="en-US" sz="600" dirty="0" smtClean="0"/>
              <a:t>处空白不够时</a:t>
            </a:r>
            <a:r>
              <a:rPr lang="zh-CN" altLang="en-US" sz="600" dirty="0"/>
              <a:t>，则可将其后文字部分提前排写，将图移到次页最</a:t>
            </a:r>
            <a:r>
              <a:rPr lang="zh-CN" altLang="en-US" sz="600" dirty="0" smtClean="0"/>
              <a:t>前。</a:t>
            </a:r>
            <a:endParaRPr lang="en-US" altLang="zh-CN" sz="600" dirty="0" smtClean="0"/>
          </a:p>
          <a:p>
            <a:r>
              <a:rPr lang="zh-CN" altLang="en-US" sz="600" b="1" dirty="0" smtClean="0"/>
              <a:t>基本要求</a:t>
            </a:r>
            <a:r>
              <a:rPr lang="zh-CN" altLang="en-US" sz="600" dirty="0" smtClean="0"/>
              <a:t>：① 尊重</a:t>
            </a:r>
            <a:r>
              <a:rPr lang="zh-CN" altLang="en-US" sz="600" dirty="0"/>
              <a:t>他人成果，注意引用</a:t>
            </a:r>
            <a:r>
              <a:rPr lang="zh-CN" altLang="en-US" sz="600" dirty="0" smtClean="0"/>
              <a:t>；② </a:t>
            </a:r>
            <a:r>
              <a:rPr lang="zh-CN" altLang="en-US" sz="600" dirty="0"/>
              <a:t>合作</a:t>
            </a:r>
            <a:r>
              <a:rPr lang="zh-CN" altLang="en-US" sz="600" dirty="0" smtClean="0"/>
              <a:t>发表成果</a:t>
            </a:r>
            <a:r>
              <a:rPr lang="zh-CN" altLang="en-US" sz="600" dirty="0"/>
              <a:t>，所有署名</a:t>
            </a:r>
            <a:r>
              <a:rPr lang="zh-CN" altLang="en-US" sz="600" dirty="0" smtClean="0"/>
              <a:t>人知情</a:t>
            </a:r>
            <a:r>
              <a:rPr lang="zh-CN" altLang="en-US" sz="600" dirty="0"/>
              <a:t>并同意，署名顺序根据</a:t>
            </a:r>
            <a:r>
              <a:rPr lang="zh-CN" altLang="en-US" sz="600" dirty="0" smtClean="0"/>
              <a:t>贡献大小</a:t>
            </a:r>
            <a:r>
              <a:rPr lang="zh-CN" altLang="en-US" sz="600" dirty="0"/>
              <a:t>；③ </a:t>
            </a:r>
            <a:r>
              <a:rPr lang="zh-CN" altLang="en-US" sz="600" dirty="0" smtClean="0"/>
              <a:t>准确客观</a:t>
            </a:r>
            <a:r>
              <a:rPr lang="zh-CN" altLang="en-US" sz="600" dirty="0"/>
              <a:t>评价他人成果</a:t>
            </a:r>
            <a:r>
              <a:rPr lang="zh-CN" altLang="en-US" sz="600" dirty="0" smtClean="0"/>
              <a:t>；④ </a:t>
            </a:r>
            <a:r>
              <a:rPr lang="zh-CN" altLang="en-US" sz="600" dirty="0"/>
              <a:t>尊重实验</a:t>
            </a:r>
            <a:r>
              <a:rPr lang="zh-CN" altLang="en-US" sz="600" dirty="0" smtClean="0"/>
              <a:t>对象，保护</a:t>
            </a:r>
            <a:r>
              <a:rPr lang="zh-CN" altLang="en-US" sz="600" dirty="0"/>
              <a:t>受试人</a:t>
            </a:r>
            <a:r>
              <a:rPr lang="zh-CN" altLang="en-US" sz="600" dirty="0" smtClean="0"/>
              <a:t>权益隐私</a:t>
            </a:r>
            <a:r>
              <a:rPr lang="zh-CN" altLang="en-US" sz="600" dirty="0"/>
              <a:t>并保障知情同意权</a:t>
            </a:r>
            <a:r>
              <a:rPr lang="zh-CN" altLang="en-US" sz="600" dirty="0" smtClean="0"/>
              <a:t>；⑤ 实事求是数据</a:t>
            </a:r>
            <a:r>
              <a:rPr lang="zh-CN" altLang="en-US" sz="600" dirty="0"/>
              <a:t>准确</a:t>
            </a:r>
            <a:r>
              <a:rPr lang="zh-CN" altLang="en-US" sz="600" dirty="0" smtClean="0"/>
              <a:t>；⑥ </a:t>
            </a:r>
            <a:r>
              <a:rPr lang="zh-CN" altLang="en-US" sz="600" dirty="0"/>
              <a:t>耐心</a:t>
            </a:r>
            <a:r>
              <a:rPr lang="zh-CN" altLang="en-US" sz="600" dirty="0" smtClean="0"/>
              <a:t>诚恳对待</a:t>
            </a:r>
            <a:r>
              <a:rPr lang="zh-CN" altLang="en-US" sz="600" dirty="0"/>
              <a:t>学术批评和质疑</a:t>
            </a:r>
            <a:r>
              <a:rPr lang="zh-CN" altLang="en-US" sz="600" dirty="0" smtClean="0"/>
              <a:t>；⑦ </a:t>
            </a:r>
            <a:r>
              <a:rPr lang="zh-CN" altLang="en-US" sz="600" dirty="0"/>
              <a:t>尊重科学规律，</a:t>
            </a:r>
            <a:r>
              <a:rPr lang="zh-CN" altLang="en-US" sz="600" dirty="0" smtClean="0"/>
              <a:t>不利用</a:t>
            </a:r>
            <a:r>
              <a:rPr lang="zh-CN" altLang="en-US" sz="600" dirty="0"/>
              <a:t>科研活动谋取不正当利益</a:t>
            </a:r>
            <a:r>
              <a:rPr lang="zh-CN" altLang="en-US" sz="600" dirty="0" smtClean="0"/>
              <a:t>。</a:t>
            </a:r>
            <a:endParaRPr lang="en-US" altLang="zh-CN" sz="600" dirty="0" smtClean="0"/>
          </a:p>
          <a:p>
            <a:r>
              <a:rPr lang="zh-CN" altLang="en-US" sz="600" b="1" dirty="0"/>
              <a:t>学术</a:t>
            </a:r>
            <a:r>
              <a:rPr lang="zh-CN" altLang="en-US" sz="600" b="1" dirty="0" smtClean="0"/>
              <a:t>不端</a:t>
            </a:r>
            <a:r>
              <a:rPr lang="zh-CN" altLang="en-US" sz="600" dirty="0" smtClean="0"/>
              <a:t>：① </a:t>
            </a:r>
            <a:r>
              <a:rPr lang="zh-CN" altLang="en-US" sz="600" dirty="0"/>
              <a:t>抄袭、剽窃、侵吞、篡改他人学术成果</a:t>
            </a:r>
            <a:r>
              <a:rPr lang="zh-CN" altLang="en-US" sz="600" dirty="0" smtClean="0"/>
              <a:t>；② 故意错误</a:t>
            </a:r>
            <a:r>
              <a:rPr lang="zh-CN" altLang="en-US" sz="600" dirty="0"/>
              <a:t>的陈述，捏造数据或结果，破坏</a:t>
            </a:r>
            <a:r>
              <a:rPr lang="zh-CN" altLang="en-US" sz="600" dirty="0" smtClean="0"/>
              <a:t>原始数据完整性</a:t>
            </a:r>
            <a:r>
              <a:rPr lang="zh-CN" altLang="en-US" sz="600" dirty="0"/>
              <a:t>；伪造、拼凑、篡改科学研究实验数据、结论、注释或文献资料等行为</a:t>
            </a:r>
            <a:r>
              <a:rPr lang="zh-CN" altLang="en-US" sz="600" dirty="0" smtClean="0"/>
              <a:t>；③ </a:t>
            </a:r>
            <a:r>
              <a:rPr lang="zh-CN" altLang="en-US" sz="600" dirty="0"/>
              <a:t>伪造学术经历</a:t>
            </a:r>
            <a:r>
              <a:rPr lang="zh-CN" altLang="en-US" sz="600" dirty="0" smtClean="0"/>
              <a:t>；④ </a:t>
            </a:r>
            <a:r>
              <a:rPr lang="zh-CN" altLang="en-US" sz="600" dirty="0"/>
              <a:t>成果</a:t>
            </a:r>
            <a:r>
              <a:rPr lang="zh-CN" altLang="en-US" sz="600" dirty="0" smtClean="0"/>
              <a:t>发表出版</a:t>
            </a:r>
            <a:r>
              <a:rPr lang="zh-CN" altLang="en-US" sz="600" dirty="0"/>
              <a:t>时一稿多</a:t>
            </a:r>
            <a:r>
              <a:rPr lang="zh-CN" altLang="en-US" sz="600" dirty="0" smtClean="0"/>
              <a:t>投；⑤ 虚报科研成果，重复申报同级同类奖项，随意提高成果的学术档次；⑥ 不当或滥用署名；⑦ 采用不正当手段干扰妨碍他人研究活动；⑧ 参与或与他人合谋隐匿学术劣迹，对投诉人进行打击报复。</a:t>
            </a:r>
            <a:endParaRPr lang="en-US" altLang="zh-CN" sz="600" dirty="0" smtClean="0"/>
          </a:p>
          <a:p>
            <a:r>
              <a:rPr lang="zh-CN" altLang="en-US" sz="600" b="1" dirty="0"/>
              <a:t>学术造假、抄袭与</a:t>
            </a:r>
            <a:r>
              <a:rPr lang="zh-CN" altLang="en-US" sz="600" b="1" dirty="0" smtClean="0"/>
              <a:t>剽窃</a:t>
            </a:r>
            <a:r>
              <a:rPr lang="zh-CN" altLang="en-US" sz="600" dirty="0" smtClean="0"/>
              <a:t>：有意</a:t>
            </a:r>
            <a:r>
              <a:rPr lang="zh-CN" altLang="en-US" sz="600" dirty="0"/>
              <a:t>欺骗，以区别于失误与疏忽</a:t>
            </a:r>
            <a:r>
              <a:rPr lang="zh-CN" altLang="en-US" sz="600" dirty="0" smtClean="0"/>
              <a:t>大意，分为伪造</a:t>
            </a:r>
            <a:r>
              <a:rPr lang="zh-CN" altLang="en-US" sz="600" dirty="0"/>
              <a:t>、篡改和剽窃</a:t>
            </a:r>
            <a:r>
              <a:rPr lang="zh-CN" altLang="en-US" sz="600" dirty="0" smtClean="0"/>
              <a:t>。凡是</a:t>
            </a:r>
            <a:r>
              <a:rPr lang="zh-CN" altLang="en-US" sz="600" dirty="0"/>
              <a:t>在自己的文章中有意或无意地使用他人的思想见解或语言表述，而没有申明其来源的，就是剽窃</a:t>
            </a:r>
            <a:r>
              <a:rPr lang="zh-CN" altLang="en-US" sz="600" dirty="0" smtClean="0"/>
              <a:t>。①整体</a:t>
            </a:r>
            <a:r>
              <a:rPr lang="zh-CN" altLang="en-US" sz="600" dirty="0"/>
              <a:t>立论、构思、框架等方面抄袭</a:t>
            </a:r>
            <a:r>
              <a:rPr lang="zh-CN" altLang="en-US" sz="600" dirty="0" smtClean="0"/>
              <a:t>；②直接寻章摘句</a:t>
            </a:r>
            <a:r>
              <a:rPr lang="zh-CN" altLang="en-US" sz="600" dirty="0"/>
              <a:t>，整段、整页地抄袭；为了</a:t>
            </a:r>
            <a:r>
              <a:rPr lang="zh-CN" altLang="en-US" sz="600" dirty="0" smtClean="0"/>
              <a:t>隐蔽，同时</a:t>
            </a:r>
            <a:r>
              <a:rPr lang="zh-CN" altLang="en-US" sz="600" dirty="0"/>
              <a:t>照搬</a:t>
            </a:r>
            <a:r>
              <a:rPr lang="zh-CN" altLang="en-US" sz="600" dirty="0" smtClean="0"/>
              <a:t>原著引文注释；③照搬</a:t>
            </a:r>
            <a:r>
              <a:rPr lang="zh-CN" altLang="en-US" sz="600" dirty="0"/>
              <a:t>他人</a:t>
            </a:r>
            <a:r>
              <a:rPr lang="zh-CN" altLang="en-US" sz="600" dirty="0" smtClean="0"/>
              <a:t>文字，只</a:t>
            </a:r>
            <a:r>
              <a:rPr lang="zh-CN" altLang="en-US" sz="600" dirty="0"/>
              <a:t>将极少数的文字做</a:t>
            </a:r>
            <a:r>
              <a:rPr lang="zh-CN" altLang="en-US" sz="600" dirty="0" smtClean="0"/>
              <a:t>注；④略更动无关紧要</a:t>
            </a:r>
            <a:r>
              <a:rPr lang="zh-CN" altLang="en-US" sz="600" dirty="0"/>
              <a:t>的字或换一种句型</a:t>
            </a:r>
            <a:r>
              <a:rPr lang="zh-CN" altLang="en-US" sz="600" dirty="0" smtClean="0"/>
              <a:t>；⑤将</a:t>
            </a:r>
            <a:r>
              <a:rPr lang="zh-CN" altLang="en-US" sz="600" dirty="0"/>
              <a:t>部分综述对象照单全</a:t>
            </a:r>
            <a:r>
              <a:rPr lang="zh-CN" altLang="en-US" sz="600" dirty="0" smtClean="0"/>
              <a:t>收；⑥从</a:t>
            </a:r>
            <a:r>
              <a:rPr lang="zh-CN" altLang="en-US" sz="600" dirty="0"/>
              <a:t>同一源文本中寻章摘句，并不完全遵循源文本的行文次第和论述逻辑</a:t>
            </a:r>
            <a:r>
              <a:rPr lang="zh-CN" altLang="en-US" sz="600" dirty="0" smtClean="0"/>
              <a:t>；⑦将</a:t>
            </a:r>
            <a:r>
              <a:rPr lang="zh-CN" altLang="en-US" sz="600" dirty="0"/>
              <a:t>来自不同源文本的语句拼凑起来，完全不顾这些语句在源文本中的文脉走向。 </a:t>
            </a:r>
          </a:p>
          <a:p>
            <a:r>
              <a:rPr lang="zh-CN" altLang="en-US" sz="600" b="1" dirty="0"/>
              <a:t>司法</a:t>
            </a:r>
            <a:r>
              <a:rPr lang="zh-CN" altLang="en-US" sz="600" b="1" dirty="0" smtClean="0"/>
              <a:t>实践对剽窃界定</a:t>
            </a:r>
            <a:r>
              <a:rPr lang="zh-CN" altLang="en-US" sz="600" dirty="0" smtClean="0"/>
              <a:t>（</a:t>
            </a:r>
            <a:r>
              <a:rPr lang="en-US" altLang="zh-CN" sz="600" dirty="0" smtClean="0"/>
              <a:t>《</a:t>
            </a:r>
            <a:r>
              <a:rPr lang="zh-CN" altLang="en-US" sz="600" dirty="0"/>
              <a:t>著作权法</a:t>
            </a:r>
            <a:r>
              <a:rPr lang="en-US" altLang="zh-CN" sz="600" dirty="0" smtClean="0"/>
              <a:t>》</a:t>
            </a:r>
            <a:r>
              <a:rPr lang="zh-CN" altLang="en-US" sz="600" dirty="0" smtClean="0"/>
              <a:t>）：将</a:t>
            </a:r>
            <a:r>
              <a:rPr lang="zh-CN" altLang="en-US" sz="600" dirty="0"/>
              <a:t>他人作品或者作品的片段窃为己有。</a:t>
            </a:r>
          </a:p>
          <a:p>
            <a:r>
              <a:rPr lang="zh-CN" altLang="en-US" sz="600" dirty="0" smtClean="0"/>
              <a:t>①</a:t>
            </a:r>
            <a:r>
              <a:rPr lang="zh-CN" altLang="en-US" sz="600" dirty="0"/>
              <a:t>行为具有违法性</a:t>
            </a:r>
            <a:r>
              <a:rPr lang="zh-CN" altLang="en-US" sz="600" dirty="0" smtClean="0"/>
              <a:t>；②</a:t>
            </a:r>
            <a:r>
              <a:rPr lang="zh-CN" altLang="en-US" sz="600" dirty="0"/>
              <a:t>有损害的客观事实存在</a:t>
            </a:r>
            <a:r>
              <a:rPr lang="zh-CN" altLang="en-US" sz="600" dirty="0" smtClean="0"/>
              <a:t>；③</a:t>
            </a:r>
            <a:r>
              <a:rPr lang="zh-CN" altLang="en-US" sz="600" dirty="0"/>
              <a:t>和损害事实有因果关系</a:t>
            </a:r>
            <a:r>
              <a:rPr lang="zh-CN" altLang="en-US" sz="600" dirty="0" smtClean="0"/>
              <a:t>；④</a:t>
            </a:r>
            <a:r>
              <a:rPr lang="zh-CN" altLang="en-US" sz="600" dirty="0"/>
              <a:t>行为人有过错</a:t>
            </a:r>
            <a:r>
              <a:rPr lang="zh-CN" altLang="en-US" sz="600" dirty="0" smtClean="0"/>
              <a:t>。判定：被剽窃的</a:t>
            </a:r>
            <a:r>
              <a:rPr lang="zh-CN" altLang="en-US" sz="600" dirty="0"/>
              <a:t>作品是否依法</a:t>
            </a:r>
            <a:r>
              <a:rPr lang="zh-CN" altLang="en-US" sz="600" dirty="0" smtClean="0"/>
              <a:t>受法保护；剽窃者</a:t>
            </a:r>
            <a:r>
              <a:rPr lang="zh-CN" altLang="en-US" sz="600" dirty="0"/>
              <a:t>使用他人作品是否超出了“适当引用”的范围。</a:t>
            </a:r>
          </a:p>
          <a:p>
            <a:r>
              <a:rPr lang="zh-CN" altLang="en-US" sz="600" b="1" dirty="0" smtClean="0"/>
              <a:t>学术</a:t>
            </a:r>
            <a:r>
              <a:rPr lang="zh-CN" altLang="en-US" sz="600" b="1" dirty="0"/>
              <a:t>道德规范 </a:t>
            </a:r>
            <a:r>
              <a:rPr lang="zh-CN" altLang="en-US" sz="600" dirty="0" smtClean="0"/>
              <a:t>：①增强</a:t>
            </a:r>
            <a:r>
              <a:rPr lang="zh-CN" altLang="en-US" sz="600" dirty="0"/>
              <a:t>献身科教、服务社会的历史使命感和社会责任感。 </a:t>
            </a:r>
            <a:r>
              <a:rPr lang="zh-CN" altLang="en-US" sz="600" dirty="0" smtClean="0"/>
              <a:t>②坚持</a:t>
            </a:r>
            <a:r>
              <a:rPr lang="zh-CN" altLang="en-US" sz="600" dirty="0"/>
              <a:t>实事求是的科学精神和严谨的治学态度。 </a:t>
            </a:r>
            <a:r>
              <a:rPr lang="zh-CN" altLang="en-US" sz="600" dirty="0" smtClean="0"/>
              <a:t>③树立</a:t>
            </a:r>
            <a:r>
              <a:rPr lang="zh-CN" altLang="en-US" sz="600" dirty="0"/>
              <a:t>法制观念，保护知识产权、尊重他人劳动和权益。 </a:t>
            </a:r>
            <a:r>
              <a:rPr lang="zh-CN" altLang="en-US" sz="600" dirty="0" smtClean="0"/>
              <a:t>④认真</a:t>
            </a:r>
            <a:r>
              <a:rPr lang="zh-CN" altLang="en-US" sz="600" dirty="0"/>
              <a:t>履行职责，维护学术评价的客观公正。 </a:t>
            </a:r>
          </a:p>
          <a:p>
            <a:r>
              <a:rPr lang="zh-CN" altLang="en-US" sz="600" b="1" dirty="0" smtClean="0"/>
              <a:t>学术</a:t>
            </a:r>
            <a:r>
              <a:rPr lang="zh-CN" altLang="en-US" sz="600" b="1" dirty="0"/>
              <a:t>法律</a:t>
            </a:r>
            <a:r>
              <a:rPr lang="zh-CN" altLang="en-US" sz="600" b="1" dirty="0" smtClean="0"/>
              <a:t>规范</a:t>
            </a:r>
            <a:r>
              <a:rPr lang="zh-CN" altLang="en-US" sz="600" dirty="0" smtClean="0"/>
              <a:t>：①不得</a:t>
            </a:r>
            <a:r>
              <a:rPr lang="zh-CN" altLang="en-US" sz="600" dirty="0"/>
              <a:t>泄露国家秘密和单位的技术秘密</a:t>
            </a:r>
            <a:r>
              <a:rPr lang="zh-CN" altLang="en-US" sz="600" dirty="0" smtClean="0"/>
              <a:t>。②不得</a:t>
            </a:r>
            <a:r>
              <a:rPr lang="zh-CN" altLang="en-US" sz="600" dirty="0"/>
              <a:t>干涉宗教事务。 </a:t>
            </a:r>
            <a:r>
              <a:rPr lang="zh-CN" altLang="en-US" sz="600" dirty="0" smtClean="0"/>
              <a:t>③遵守</a:t>
            </a:r>
            <a:r>
              <a:rPr lang="zh-CN" altLang="en-US" sz="600" dirty="0"/>
              <a:t>著作权法、专利法规定。 </a:t>
            </a:r>
            <a:r>
              <a:rPr lang="zh-CN" altLang="en-US" sz="600" dirty="0" smtClean="0"/>
              <a:t>④遵守</a:t>
            </a:r>
            <a:r>
              <a:rPr lang="zh-CN" altLang="en-US" sz="600" dirty="0"/>
              <a:t>语言文字规范。 </a:t>
            </a:r>
          </a:p>
          <a:p>
            <a:r>
              <a:rPr lang="zh-CN" altLang="en-US" sz="600" b="1" dirty="0" smtClean="0"/>
              <a:t>学术</a:t>
            </a:r>
            <a:r>
              <a:rPr lang="zh-CN" altLang="en-US" sz="600" b="1" dirty="0"/>
              <a:t>技术</a:t>
            </a:r>
            <a:r>
              <a:rPr lang="zh-CN" altLang="en-US" sz="600" b="1" dirty="0" smtClean="0"/>
              <a:t>规范</a:t>
            </a:r>
            <a:r>
              <a:rPr lang="zh-CN" altLang="en-US" sz="600" dirty="0" smtClean="0"/>
              <a:t>：学术</a:t>
            </a:r>
            <a:r>
              <a:rPr lang="zh-CN" altLang="en-US" sz="600" dirty="0"/>
              <a:t>论文写作</a:t>
            </a:r>
            <a:r>
              <a:rPr lang="zh-CN" altLang="en-US" sz="600" dirty="0" smtClean="0"/>
              <a:t>规范（最为重要）、</a:t>
            </a:r>
            <a:r>
              <a:rPr lang="zh-CN" altLang="en-US" sz="600" dirty="0"/>
              <a:t>学术评价规范、学术批评规范和学术引用</a:t>
            </a:r>
            <a:r>
              <a:rPr lang="zh-CN" altLang="en-US" sz="600" dirty="0" smtClean="0"/>
              <a:t>规范</a:t>
            </a:r>
            <a:r>
              <a:rPr lang="zh-CN" altLang="en-US" sz="600" dirty="0"/>
              <a:t>。</a:t>
            </a:r>
            <a:r>
              <a:rPr lang="zh-CN" altLang="en-US" sz="600" dirty="0" smtClean="0"/>
              <a:t> </a:t>
            </a:r>
            <a:r>
              <a:rPr lang="zh-CN" altLang="en-US" sz="600" dirty="0"/>
              <a:t>学术论文写作技术</a:t>
            </a:r>
            <a:r>
              <a:rPr lang="zh-CN" altLang="en-US" sz="600" dirty="0" smtClean="0"/>
              <a:t>规范： ①</a:t>
            </a:r>
            <a:r>
              <a:rPr lang="zh-CN" altLang="en-US" sz="600" dirty="0"/>
              <a:t>学术成果应观点明确，资料充分，论证严密；内容与形式应完美统一，达到观点鲜明，结构谨严，条理分明，文字通畅</a:t>
            </a:r>
            <a:r>
              <a:rPr lang="zh-CN" altLang="en-US" sz="600" dirty="0" smtClean="0"/>
              <a:t>。②</a:t>
            </a:r>
            <a:r>
              <a:rPr lang="zh-CN" altLang="en-US" sz="600" dirty="0"/>
              <a:t>学术成果的格式应符合要求。 </a:t>
            </a:r>
            <a:r>
              <a:rPr lang="zh-CN" altLang="en-US" sz="600" dirty="0" smtClean="0"/>
              <a:t>③</a:t>
            </a:r>
            <a:r>
              <a:rPr lang="zh-CN" altLang="en-US" sz="600" dirty="0"/>
              <a:t>参考文献的著录应符合要求。</a:t>
            </a:r>
          </a:p>
        </p:txBody>
      </p:sp>
    </p:spTree>
    <p:extLst>
      <p:ext uri="{BB962C8B-B14F-4D97-AF65-F5344CB8AC3E}">
        <p14:creationId xmlns:p14="http://schemas.microsoft.com/office/powerpoint/2010/main" val="21234483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9617</TotalTime>
  <Words>12437</Words>
  <Application>Microsoft Office PowerPoint</Application>
  <PresentationFormat>自定义</PresentationFormat>
  <Paragraphs>245</Paragraphs>
  <Slides>2</Slides>
  <Notes>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vt:i4>
      </vt:variant>
    </vt:vector>
  </HeadingPairs>
  <TitlesOfParts>
    <vt:vector size="9" baseType="lpstr">
      <vt:lpstr>等线</vt:lpstr>
      <vt:lpstr>等线 Light</vt:lpstr>
      <vt:lpstr>Arial</vt:lpstr>
      <vt:lpstr>Calibri</vt:lpstr>
      <vt:lpstr>Calibri Light</vt:lpstr>
      <vt:lpstr>Wingdings</vt:lpstr>
      <vt:lpstr>Office 主题​​</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LJH</dc:creator>
  <cp:lastModifiedBy>LJH</cp:lastModifiedBy>
  <cp:revision>279</cp:revision>
  <dcterms:created xsi:type="dcterms:W3CDTF">2026-06-11T09:54:06Z</dcterms:created>
  <dcterms:modified xsi:type="dcterms:W3CDTF">2026-07-06T04:08:06Z</dcterms:modified>
</cp:coreProperties>
</file>