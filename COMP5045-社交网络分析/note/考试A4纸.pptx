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 autoAdjust="0"/>
    <p:restoredTop sz="93289" autoAdjust="0"/>
  </p:normalViewPr>
  <p:slideViewPr>
    <p:cSldViewPr snapToGrid="0">
      <p:cViewPr>
        <p:scale>
          <a:sx n="75" d="100"/>
          <a:sy n="75" d="100"/>
        </p:scale>
        <p:origin x="144" y="-1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11776-8685-4339-89B8-3A0E1F74BCD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99057-7BC8-41FC-950C-F3B536C9E8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4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99057-7BC8-41FC-950C-F3B536C9E8D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500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1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51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43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62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29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08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10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243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91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71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18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9F989-786A-4265-8D1C-0BA5CC8FE84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6A91B-AD63-4E84-ABBD-F892719F0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73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9.png"/><Relationship Id="rId7" Type="http://schemas.openxmlformats.org/officeDocument/2006/relationships/image" Target="../media/image390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8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0.png"/><Relationship Id="rId11" Type="http://schemas.openxmlformats.org/officeDocument/2006/relationships/image" Target="../media/image43.png"/><Relationship Id="rId5" Type="http://schemas.openxmlformats.org/officeDocument/2006/relationships/image" Target="../media/image41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40.png"/><Relationship Id="rId9" Type="http://schemas.openxmlformats.org/officeDocument/2006/relationships/image" Target="../media/image410.png"/><Relationship Id="rId1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组合 146"/>
          <p:cNvGrpSpPr/>
          <p:nvPr/>
        </p:nvGrpSpPr>
        <p:grpSpPr>
          <a:xfrm>
            <a:off x="2017566" y="5226802"/>
            <a:ext cx="869493" cy="964266"/>
            <a:chOff x="1725248" y="5538134"/>
            <a:chExt cx="1074593" cy="1191722"/>
          </a:xfrm>
        </p:grpSpPr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5248" y="5555068"/>
              <a:ext cx="1074593" cy="1174788"/>
            </a:xfrm>
            <a:prstGeom prst="rect">
              <a:avLst/>
            </a:prstGeom>
          </p:spPr>
        </p:pic>
        <p:sp>
          <p:nvSpPr>
            <p:cNvPr id="104" name="椭圆 103"/>
            <p:cNvSpPr/>
            <p:nvPr/>
          </p:nvSpPr>
          <p:spPr>
            <a:xfrm>
              <a:off x="2205037" y="5538134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06" name="椭圆 105"/>
            <p:cNvSpPr/>
            <p:nvPr/>
          </p:nvSpPr>
          <p:spPr>
            <a:xfrm>
              <a:off x="2205037" y="6582466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>
                  <a:solidFill>
                    <a:schemeClr val="tx1"/>
                  </a:solidFill>
                </a:rPr>
                <a:t>6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1770423" y="5792883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 smtClean="0">
                  <a:solidFill>
                    <a:schemeClr val="tx1"/>
                  </a:solidFill>
                </a:rPr>
                <a:t>1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2018785" y="5797115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 smtClean="0">
                  <a:solidFill>
                    <a:schemeClr val="tx1"/>
                  </a:solidFill>
                </a:rPr>
                <a:t>1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2373123" y="5790764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 smtClean="0">
                  <a:solidFill>
                    <a:schemeClr val="tx1"/>
                  </a:solidFill>
                </a:rPr>
                <a:t>1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2622592" y="5799234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 smtClean="0">
                  <a:solidFill>
                    <a:schemeClr val="tx1"/>
                  </a:solidFill>
                </a:rPr>
                <a:t>1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2023223" y="6322503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>
                  <a:solidFill>
                    <a:schemeClr val="tx1"/>
                  </a:solidFill>
                </a:rPr>
                <a:t>3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>
              <a:off x="2364019" y="6324588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>
                  <a:solidFill>
                    <a:schemeClr val="tx1"/>
                  </a:solidFill>
                </a:rPr>
                <a:t>3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1901186" y="6069322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 smtClean="0">
                  <a:solidFill>
                    <a:schemeClr val="tx1"/>
                  </a:solidFill>
                </a:rPr>
                <a:t>2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5" name="椭圆 114"/>
            <p:cNvSpPr/>
            <p:nvPr/>
          </p:nvSpPr>
          <p:spPr>
            <a:xfrm>
              <a:off x="2222414" y="6063179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 smtClean="0">
                  <a:solidFill>
                    <a:schemeClr val="tx1"/>
                  </a:solidFill>
                </a:rPr>
                <a:t>1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2528507" y="6065296"/>
              <a:ext cx="132622" cy="1326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 smtClean="0">
                  <a:solidFill>
                    <a:schemeClr val="tx1"/>
                  </a:solidFill>
                </a:rPr>
                <a:t>2</a:t>
              </a:r>
              <a:endParaRPr lang="zh-CN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956265" y="6401719"/>
              <a:ext cx="29206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1/2</a:t>
              </a:r>
              <a:endParaRPr lang="zh-CN" altLang="en-US" sz="600" dirty="0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2248506" y="6393269"/>
              <a:ext cx="29206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1/2</a:t>
              </a:r>
              <a:endParaRPr lang="zh-CN" altLang="en-US" sz="600" dirty="0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1868557" y="6148406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</a:t>
              </a:r>
              <a:endParaRPr lang="zh-CN" altLang="en-US" sz="600" dirty="0"/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2038582" y="6148027"/>
              <a:ext cx="29206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1/2</a:t>
              </a:r>
              <a:endParaRPr lang="zh-CN" altLang="en-US" sz="600" dirty="0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2201406" y="6148793"/>
              <a:ext cx="29206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1/2</a:t>
              </a:r>
              <a:endParaRPr lang="zh-CN" altLang="en-US" sz="600" dirty="0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2409007" y="6140407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</a:t>
              </a:r>
              <a:endParaRPr lang="zh-CN" altLang="en-US" sz="600" dirty="0"/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2262545" y="5892731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/>
                <a:t>2</a:t>
              </a:r>
              <a:endParaRPr lang="zh-CN" altLang="en-US" sz="600" dirty="0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2414149" y="5892029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</a:t>
              </a:r>
              <a:endParaRPr lang="zh-CN" altLang="en-US" sz="600" dirty="0"/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2539140" y="5889480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</a:t>
              </a:r>
              <a:endParaRPr lang="zh-CN" altLang="en-US" sz="600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1774518" y="5881226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</a:t>
              </a:r>
              <a:endParaRPr lang="zh-CN" altLang="en-US" sz="600" dirty="0"/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1909984" y="5879106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1</a:t>
              </a:r>
              <a:endParaRPr lang="zh-CN" altLang="en-US" sz="600" dirty="0"/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1911242" y="5644865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/>
                <a:t>2</a:t>
              </a:r>
              <a:endParaRPr lang="zh-CN" altLang="en-US" sz="600" dirty="0"/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2039988" y="5647290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/>
                <a:t>2</a:t>
              </a:r>
              <a:endParaRPr lang="zh-CN" altLang="en-US" sz="600" dirty="0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2235883" y="5636607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/>
                <a:t>4</a:t>
              </a:r>
              <a:endParaRPr lang="zh-CN" altLang="en-US" sz="600" dirty="0"/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2377698" y="5632370"/>
              <a:ext cx="22313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" dirty="0"/>
                <a:t>2</a:t>
              </a:r>
              <a:endParaRPr lang="zh-CN" altLang="en-US" sz="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-47978" y="1284430"/>
                <a:ext cx="2994378" cy="1667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节点无向图</a:t>
                </a:r>
                <a:r>
                  <a:rPr lang="zh-CN" altLang="en-US" sz="700" dirty="0">
                    <a:latin typeface="+mj-lt"/>
                  </a:rPr>
                  <a:t>，每两节点间</a:t>
                </a:r>
                <a:r>
                  <a:rPr lang="zh-CN" altLang="en-US" sz="700" dirty="0" smtClean="0">
                    <a:latin typeface="+mj-lt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概率</a:t>
                </a:r>
                <a:r>
                  <a:rPr lang="zh-CN" altLang="en-US" sz="700" dirty="0">
                    <a:latin typeface="+mj-lt"/>
                  </a:rPr>
                  <a:t>形成边</a:t>
                </a:r>
              </a:p>
              <a:p>
                <a:r>
                  <a:rPr lang="zh-CN" altLang="en-US" sz="700" dirty="0" smtClean="0">
                    <a:latin typeface="+mj-lt"/>
                  </a:rPr>
                  <a:t>网络</a:t>
                </a:r>
                <a:r>
                  <a:rPr lang="zh-CN" altLang="en-US" sz="700" dirty="0">
                    <a:latin typeface="+mj-lt"/>
                  </a:rPr>
                  <a:t>边</a:t>
                </a:r>
                <a:r>
                  <a:rPr lang="zh-CN" altLang="en-US" sz="700" dirty="0" smtClean="0">
                    <a:latin typeface="+mj-lt"/>
                  </a:rPr>
                  <a:t>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𝐸𝑚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p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𝐸𝑚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p>
                    <m:r>
                      <a:rPr lang="zh-CN" altLang="en-US" sz="700" i="1">
                        <a:latin typeface="Cambria Math" panose="02040503050406030204" pitchFamily="18" charset="0"/>
                      </a:rPr>
                      <m:t>服从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二项分布。</a:t>
                </a:r>
              </a:p>
              <a:p>
                <a:r>
                  <a:rPr lang="zh-CN" altLang="en-US" sz="700" dirty="0" smtClean="0">
                    <a:latin typeface="+mj-lt"/>
                  </a:rPr>
                  <a:t>节点</a:t>
                </a:r>
                <a:r>
                  <a:rPr lang="zh-CN" altLang="en-US" sz="700" dirty="0">
                    <a:latin typeface="+mj-lt"/>
                  </a:rPr>
                  <a:t>度</a:t>
                </a:r>
                <a:r>
                  <a:rPr lang="zh-CN" altLang="en-US" sz="700" dirty="0" smtClean="0">
                    <a:latin typeface="+mj-lt"/>
                  </a:rPr>
                  <a:t>期望</a:t>
                </a:r>
                <a:r>
                  <a:rPr lang="zh-CN" altLang="en-US" sz="700" dirty="0">
                    <a:latin typeface="+mj-lt"/>
                  </a:rPr>
                  <a:t>为</a:t>
                </a:r>
                <a:r>
                  <a:rPr lang="zh-CN" altLang="en-US" sz="7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服从二项分布</a:t>
                </a:r>
                <a:r>
                  <a:rPr lang="en-US" altLang="zh-CN" sz="700" dirty="0" smtClean="0">
                    <a:latin typeface="+mj-lt"/>
                  </a:rPr>
                  <a:t>; CC</a:t>
                </a:r>
                <a:r>
                  <a:rPr lang="zh-CN" altLang="en-US" sz="700" dirty="0" smtClean="0">
                    <a:latin typeface="+mj-lt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定义</a:t>
                </a:r>
                <a:r>
                  <a:rPr lang="en-US" altLang="zh-CN" sz="700" dirty="0" smtClean="0">
                    <a:latin typeface="+mj-lt"/>
                  </a:rPr>
                  <a:t>expansion</a:t>
                </a:r>
                <a:r>
                  <a:rPr lang="zh-CN" altLang="en-US" sz="700" dirty="0" smtClean="0">
                    <a:latin typeface="+mj-lt"/>
                  </a:rPr>
                  <a:t>，表示</a:t>
                </a:r>
                <a:r>
                  <a:rPr lang="zh-CN" altLang="en-US" sz="700" dirty="0">
                    <a:latin typeface="+mj-lt"/>
                  </a:rPr>
                  <a:t>图节点联系紧密且</a:t>
                </a:r>
                <a:r>
                  <a:rPr lang="zh-CN" altLang="en-US" sz="700" dirty="0" smtClean="0">
                    <a:latin typeface="+mj-lt"/>
                  </a:rPr>
                  <a:t>均匀：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节点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  expansion</a:t>
                </a:r>
                <a:r>
                  <a:rPr lang="zh-CN" altLang="en-US" sz="700" dirty="0" smtClean="0">
                    <a:latin typeface="+mj-lt"/>
                  </a:rPr>
                  <a:t>的图，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任意节点间距离为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。</a:t>
                </a:r>
                <a:endParaRPr lang="en-US" altLang="zh-CN" sz="700" dirty="0" smtClean="0">
                  <a:latin typeface="+mj-lt"/>
                </a:endParaRPr>
              </a:p>
              <a:p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证明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对</a:t>
                </a:r>
                <a:r>
                  <a:rPr lang="en-US" altLang="zh-CN" sz="700" dirty="0" smtClean="0">
                    <a:latin typeface="+mj-lt"/>
                  </a:rPr>
                  <a:t>k-Regular</a:t>
                </a:r>
                <a:r>
                  <a:rPr lang="zh-CN" altLang="en-US" sz="700" dirty="0" smtClean="0">
                    <a:latin typeface="+mj-lt"/>
                  </a:rPr>
                  <a:t>随机网络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经过</a:t>
                </a:r>
                <a:r>
                  <a:rPr lang="en-US" altLang="zh-CN" sz="700" dirty="0" err="1" smtClean="0">
                    <a:latin typeface="+mj-lt"/>
                  </a:rPr>
                  <a:t>i</a:t>
                </a:r>
                <a:r>
                  <a:rPr lang="zh-CN" altLang="en-US" sz="700" dirty="0" smtClean="0">
                    <a:latin typeface="+mj-lt"/>
                  </a:rPr>
                  <a:t>次</a:t>
                </a:r>
                <a:r>
                  <a:rPr lang="en-US" altLang="zh-CN" sz="700" dirty="0" smtClean="0">
                    <a:latin typeface="+mj-lt"/>
                  </a:rPr>
                  <a:t>BFS</a:t>
                </a:r>
                <a:r>
                  <a:rPr lang="zh-CN" altLang="en-US" sz="700" dirty="0" smtClean="0">
                    <a:latin typeface="+mj-lt"/>
                  </a:rPr>
                  <a:t>搜索后集合为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则搜索一次之所以引出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条边</a:t>
                </a:r>
                <a:r>
                  <a:rPr lang="en-US" altLang="zh-CN" sz="700" dirty="0" smtClean="0">
                    <a:latin typeface="+mj-lt"/>
                  </a:rPr>
                  <a:t>; </a:t>
                </a:r>
                <a:r>
                  <a:rPr lang="zh-CN" altLang="en-US" sz="700" dirty="0" smtClean="0">
                    <a:latin typeface="+mj-lt"/>
                  </a:rPr>
                  <a:t>由于节点可能重复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最坏情况下每个新增节点对应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条边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此时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}/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迭代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得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klog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700" i="1" dirty="0">
                        <a:latin typeface="Cambria Math" panose="02040503050406030204" pitchFamily="18" charset="0"/>
                      </a:rPr>
                      <m:t>于是</m:t>
                    </m:r>
                    <m:sSup>
                      <m:sSup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j</m:t>
                        </m:r>
                      </m:sup>
                    </m:sSup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/>
                      <m:sup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i="1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利用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1+1/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zh-CN" altLang="en-US" sz="700" i="1" dirty="0">
                        <a:latin typeface="Cambria Math" panose="02040503050406030204" pitchFamily="18" charset="0"/>
                      </a:rPr>
                      <m:t>在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(0,1)</a:t>
                </a:r>
                <a:r>
                  <a:rPr lang="zh-CN" altLang="en-US" sz="700" dirty="0" smtClean="0">
                    <a:latin typeface="+mj-lt"/>
                  </a:rPr>
                  <a:t>递减。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因此搜索完半张图最多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次，全图直径</a:t>
                </a:r>
                <a14:m>
                  <m:oMath xmlns:m="http://schemas.openxmlformats.org/officeDocument/2006/math"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此时发现随机图的</a:t>
                </a:r>
                <a:r>
                  <a:rPr lang="en-US" altLang="zh-CN" sz="700" dirty="0" smtClean="0">
                    <a:latin typeface="+mj-lt"/>
                  </a:rPr>
                  <a:t>CC</a:t>
                </a:r>
                <a:r>
                  <a:rPr lang="zh-CN" altLang="en-US" sz="700" dirty="0" smtClean="0">
                    <a:latin typeface="+mj-lt"/>
                  </a:rPr>
                  <a:t>远低于实际网络。</a:t>
                </a:r>
                <a:endParaRPr lang="zh-CN" altLang="en-US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78" y="1284430"/>
                <a:ext cx="2994378" cy="1667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-39044" y="-52403"/>
            <a:ext cx="19223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1 An </a:t>
            </a:r>
            <a:r>
              <a:rPr lang="en-US" altLang="zh-CN" sz="700" b="1" dirty="0">
                <a:latin typeface="+mj-lt"/>
              </a:rPr>
              <a:t>Introduction to Basic Properties and </a:t>
            </a:r>
            <a:r>
              <a:rPr lang="en-US" altLang="zh-CN" sz="700" b="1" dirty="0" smtClean="0">
                <a:latin typeface="+mj-lt"/>
              </a:rPr>
              <a:t>Models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39044" y="31024"/>
            <a:ext cx="13532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Basic Graph Theory and </a:t>
            </a:r>
            <a:r>
              <a:rPr lang="en-US" altLang="zh-CN" sz="700" b="1" dirty="0" smtClean="0">
                <a:latin typeface="+mj-lt"/>
              </a:rPr>
              <a:t>Statistics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-39044" y="153931"/>
                <a:ext cx="201830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真实社交网络中图边</a:t>
                </a:r>
                <a14:m>
                  <m:oMath xmlns:m="http://schemas.openxmlformats.org/officeDocument/2006/math">
                    <m:r>
                      <a:rPr lang="zh-CN" altLang="en-US" sz="700" b="0" i="1" dirty="0">
                        <a:latin typeface="Cambria Math" panose="02040503050406030204" pitchFamily="18" charset="0"/>
                      </a:rPr>
                      <m:t>数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044" y="153931"/>
                <a:ext cx="2018309" cy="200055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-39045" y="305323"/>
                <a:ext cx="2706548" cy="433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直径</a:t>
                </a:r>
                <a:r>
                  <a:rPr lang="en-US" altLang="en-US" sz="700" dirty="0" smtClean="0">
                    <a:latin typeface="+mj-lt"/>
                  </a:rPr>
                  <a:t>Diameter: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700" b="0" i="1" smtClean="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7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en-US" sz="7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altLang="en-US" sz="7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其中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h</a:t>
                </a:r>
                <a:r>
                  <a:rPr lang="zh-CN" altLang="en-US" sz="700" dirty="0" smtClean="0">
                    <a:latin typeface="+mj-lt"/>
                  </a:rPr>
                  <a:t>为两节点距离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en-US" sz="700" dirty="0">
                    <a:latin typeface="+mj-lt"/>
                  </a:rPr>
                  <a:t>Clustering </a:t>
                </a:r>
                <a:r>
                  <a:rPr lang="en-US" altLang="en-US" sz="700" dirty="0" smtClean="0">
                    <a:latin typeface="+mj-lt"/>
                  </a:rPr>
                  <a:t>Coeffic</a:t>
                </a:r>
                <a:r>
                  <a:rPr lang="en-US" altLang="zh-CN" sz="700" dirty="0" smtClean="0">
                    <a:latin typeface="+mj-lt"/>
                    <a:ea typeface="宋体" panose="02010600030101010101" pitchFamily="2" charset="-122"/>
                  </a:rPr>
                  <a:t>i</a:t>
                </a:r>
                <a:r>
                  <a:rPr lang="en-US" altLang="en-US" sz="700" dirty="0" smtClean="0">
                    <a:latin typeface="+mj-lt"/>
                  </a:rPr>
                  <a:t>ents(CC):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700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7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7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en-US" sz="700" dirty="0" smtClean="0">
                    <a:latin typeface="+mj-lt"/>
                  </a:rPr>
                  <a:t> </a:t>
                </a:r>
                <a:r>
                  <a:rPr lang="en-US" altLang="en-US" sz="700" dirty="0">
                    <a:latin typeface="+mj-lt"/>
                  </a:rPr>
                  <a:t>,</a:t>
                </a:r>
                <a:r>
                  <a:rPr lang="zh-CN" altLang="en-US" sz="700" dirty="0" smtClean="0">
                    <a:latin typeface="+mj-lt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:r>
                  <a:rPr lang="zh-CN" altLang="en-US" sz="700" dirty="0">
                    <a:latin typeface="+mj-lt"/>
                  </a:rPr>
                  <a:t>节点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700" i="1" smtClean="0">
                        <a:latin typeface="Cambria Math" panose="02040503050406030204" pitchFamily="18" charset="0"/>
                      </a:rPr>
                      <m:t>度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相邻节点形成的边数</a:t>
                </a:r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045" y="305323"/>
                <a:ext cx="2706548" cy="433388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-39045" y="651381"/>
            <a:ext cx="270654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真实社交网络</a:t>
            </a:r>
            <a:r>
              <a:rPr lang="en-US" altLang="zh-CN" sz="700" dirty="0" smtClean="0">
                <a:latin typeface="+mj-lt"/>
              </a:rPr>
              <a:t>(MSN)</a:t>
            </a:r>
            <a:r>
              <a:rPr lang="zh-CN" altLang="en-US" sz="700" dirty="0" smtClean="0">
                <a:latin typeface="+mj-lt"/>
              </a:rPr>
              <a:t>：</a:t>
            </a:r>
            <a:endParaRPr lang="en-US" altLang="zh-CN" sz="700" dirty="0" smtClean="0">
              <a:latin typeface="+mj-lt"/>
            </a:endParaRPr>
          </a:p>
          <a:p>
            <a:r>
              <a:rPr lang="en-US" altLang="zh-CN" sz="700" dirty="0" smtClean="0">
                <a:latin typeface="+mj-lt"/>
              </a:rPr>
              <a:t>1 – </a:t>
            </a:r>
            <a:r>
              <a:rPr lang="zh-CN" altLang="en-US" sz="700" dirty="0" smtClean="0">
                <a:latin typeface="+mj-lt"/>
              </a:rPr>
              <a:t>大部分节点在一个巨大连通分量中</a:t>
            </a:r>
            <a:endParaRPr lang="en-US" altLang="zh-CN" sz="700" dirty="0" smtClean="0">
              <a:latin typeface="+mj-lt"/>
            </a:endParaRPr>
          </a:p>
          <a:p>
            <a:r>
              <a:rPr lang="en-US" altLang="zh-CN" sz="700" dirty="0" smtClean="0">
                <a:latin typeface="+mj-lt"/>
              </a:rPr>
              <a:t>2 – </a:t>
            </a:r>
            <a:r>
              <a:rPr lang="zh-CN" altLang="en-US" sz="700" dirty="0" smtClean="0">
                <a:latin typeface="+mj-lt"/>
              </a:rPr>
              <a:t>节点度分布</a:t>
            </a:r>
            <a:r>
              <a:rPr lang="en-US" altLang="zh-CN" sz="700" dirty="0" smtClean="0">
                <a:latin typeface="+mj-lt"/>
              </a:rPr>
              <a:t>(</a:t>
            </a:r>
            <a:r>
              <a:rPr lang="zh-CN" altLang="en-US" sz="700" dirty="0" smtClean="0">
                <a:latin typeface="+mj-lt"/>
              </a:rPr>
              <a:t>数量 </a:t>
            </a:r>
            <a:r>
              <a:rPr lang="en-US" altLang="zh-CN" sz="700" dirty="0" smtClean="0">
                <a:latin typeface="+mj-lt"/>
              </a:rPr>
              <a:t>vs. </a:t>
            </a:r>
            <a:r>
              <a:rPr lang="zh-CN" altLang="en-US" sz="700" dirty="0" smtClean="0">
                <a:latin typeface="+mj-lt"/>
              </a:rPr>
              <a:t>节点度</a:t>
            </a:r>
            <a:r>
              <a:rPr lang="en-US" altLang="zh-CN" sz="700" dirty="0" smtClean="0">
                <a:latin typeface="+mj-lt"/>
              </a:rPr>
              <a:t>), log-log</a:t>
            </a:r>
          </a:p>
          <a:p>
            <a:r>
              <a:rPr lang="en-US" altLang="zh-CN" sz="700" dirty="0" smtClean="0">
                <a:latin typeface="+mj-lt"/>
              </a:rPr>
              <a:t>3 – CC</a:t>
            </a:r>
            <a:r>
              <a:rPr lang="zh-CN" altLang="en-US" sz="700" dirty="0">
                <a:latin typeface="+mj-lt"/>
              </a:rPr>
              <a:t> </a:t>
            </a:r>
            <a:r>
              <a:rPr lang="en-US" altLang="zh-CN" sz="700" dirty="0" smtClean="0">
                <a:latin typeface="+mj-lt"/>
              </a:rPr>
              <a:t>vs</a:t>
            </a:r>
            <a:r>
              <a:rPr lang="en-US" altLang="zh-CN" sz="700" dirty="0">
                <a:latin typeface="+mj-lt"/>
              </a:rPr>
              <a:t>.</a:t>
            </a:r>
            <a:r>
              <a:rPr lang="en-US" altLang="zh-CN" sz="700" dirty="0" smtClean="0">
                <a:latin typeface="+mj-lt"/>
              </a:rPr>
              <a:t> </a:t>
            </a:r>
            <a:r>
              <a:rPr lang="zh-CN" altLang="en-US" sz="700" dirty="0" smtClean="0">
                <a:latin typeface="+mj-lt"/>
              </a:rPr>
              <a:t>节点度</a:t>
            </a:r>
            <a:endParaRPr lang="en-US" altLang="zh-CN" sz="700" dirty="0" smtClean="0">
              <a:latin typeface="+mj-lt"/>
            </a:endParaRPr>
          </a:p>
          <a:p>
            <a:r>
              <a:rPr lang="en-US" altLang="zh-CN" sz="700" dirty="0" smtClean="0">
                <a:latin typeface="+mj-lt"/>
              </a:rPr>
              <a:t>4 – </a:t>
            </a:r>
            <a:r>
              <a:rPr lang="zh-CN" altLang="en-US" sz="700" dirty="0" smtClean="0">
                <a:latin typeface="+mj-lt"/>
              </a:rPr>
              <a:t>节点距离 </a:t>
            </a:r>
            <a:r>
              <a:rPr lang="en-US" altLang="zh-CN" sz="700" dirty="0" smtClean="0">
                <a:latin typeface="+mj-lt"/>
              </a:rPr>
              <a:t>vs. </a:t>
            </a:r>
            <a:r>
              <a:rPr lang="zh-CN" altLang="en-US" sz="700" dirty="0" smtClean="0">
                <a:latin typeface="+mj-lt"/>
              </a:rPr>
              <a:t>边数量</a:t>
            </a:r>
            <a:r>
              <a:rPr lang="en-US" altLang="zh-CN" sz="700" dirty="0" smtClean="0">
                <a:latin typeface="+mj-lt"/>
              </a:rPr>
              <a:t>; </a:t>
            </a:r>
            <a:r>
              <a:rPr lang="zh-CN" altLang="en-US" sz="700" dirty="0" smtClean="0">
                <a:latin typeface="+mj-lt"/>
              </a:rPr>
              <a:t>平均</a:t>
            </a:r>
            <a:r>
              <a:rPr lang="en-US" altLang="zh-CN" sz="700" dirty="0" smtClean="0">
                <a:latin typeface="+mj-lt"/>
              </a:rPr>
              <a:t>6</a:t>
            </a:r>
            <a:r>
              <a:rPr lang="en-US" altLang="zh-CN" sz="700" dirty="0">
                <a:latin typeface="+mj-lt"/>
              </a:rPr>
              <a:t>.</a:t>
            </a:r>
            <a:r>
              <a:rPr lang="en-US" altLang="zh-CN" sz="700" dirty="0" smtClean="0">
                <a:latin typeface="+mj-lt"/>
              </a:rPr>
              <a:t>6</a:t>
            </a:r>
            <a:endParaRPr lang="en-US" altLang="zh-CN" sz="700" dirty="0">
              <a:latin typeface="+mj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39045" y="1189222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The Random Graph Model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-4590" y="2025382"/>
            <a:ext cx="2832139" cy="102795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8" name="文本框 27"/>
          <p:cNvSpPr txBox="1"/>
          <p:nvPr/>
        </p:nvSpPr>
        <p:spPr>
          <a:xfrm>
            <a:off x="-27400" y="3006737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The Random Graph Model</a:t>
            </a:r>
            <a:endParaRPr lang="en-US" altLang="zh-CN" sz="700" b="1" dirty="0">
              <a:latin typeface="+mj-lt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641097" y="613061"/>
            <a:ext cx="842819" cy="627826"/>
            <a:chOff x="2922646" y="727899"/>
            <a:chExt cx="977080" cy="727839"/>
          </a:xfrm>
        </p:grpSpPr>
        <p:sp>
          <p:nvSpPr>
            <p:cNvPr id="66" name="矩形 65"/>
            <p:cNvSpPr/>
            <p:nvPr/>
          </p:nvSpPr>
          <p:spPr>
            <a:xfrm>
              <a:off x="2922646" y="727899"/>
              <a:ext cx="428567" cy="3175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74" name="直接连接符 73"/>
            <p:cNvCxnSpPr/>
            <p:nvPr/>
          </p:nvCxnSpPr>
          <p:spPr>
            <a:xfrm>
              <a:off x="2940050" y="773113"/>
              <a:ext cx="66675" cy="2722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2924922" y="1115190"/>
              <a:ext cx="434166" cy="32784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78" name="矩形 77"/>
            <p:cNvSpPr/>
            <p:nvPr/>
          </p:nvSpPr>
          <p:spPr>
            <a:xfrm>
              <a:off x="3451519" y="1115190"/>
              <a:ext cx="447989" cy="34054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79" name="矩形 78"/>
            <p:cNvSpPr/>
            <p:nvPr/>
          </p:nvSpPr>
          <p:spPr>
            <a:xfrm>
              <a:off x="3461837" y="728438"/>
              <a:ext cx="437889" cy="316961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3476625" y="752475"/>
              <a:ext cx="309206" cy="286581"/>
            </a:xfrm>
            <a:custGeom>
              <a:avLst/>
              <a:gdLst>
                <a:gd name="connsiteX0" fmla="*/ 0 w 325438"/>
                <a:gd name="connsiteY0" fmla="*/ 0 h 301625"/>
                <a:gd name="connsiteX1" fmla="*/ 149225 w 325438"/>
                <a:gd name="connsiteY1" fmla="*/ 52388 h 301625"/>
                <a:gd name="connsiteX2" fmla="*/ 254000 w 325438"/>
                <a:gd name="connsiteY2" fmla="*/ 157163 h 301625"/>
                <a:gd name="connsiteX3" fmla="*/ 325438 w 325438"/>
                <a:gd name="connsiteY3" fmla="*/ 301625 h 30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438" h="301625">
                  <a:moveTo>
                    <a:pt x="0" y="0"/>
                  </a:moveTo>
                  <a:cubicBezTo>
                    <a:pt x="53446" y="13097"/>
                    <a:pt x="106892" y="26194"/>
                    <a:pt x="149225" y="52388"/>
                  </a:cubicBezTo>
                  <a:cubicBezTo>
                    <a:pt x="191558" y="78582"/>
                    <a:pt x="224631" y="115624"/>
                    <a:pt x="254000" y="157163"/>
                  </a:cubicBezTo>
                  <a:cubicBezTo>
                    <a:pt x="283369" y="198702"/>
                    <a:pt x="309563" y="282311"/>
                    <a:pt x="325438" y="301625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2922646" y="1196557"/>
              <a:ext cx="436441" cy="198032"/>
            </a:xfrm>
            <a:custGeom>
              <a:avLst/>
              <a:gdLst>
                <a:gd name="connsiteX0" fmla="*/ 0 w 360363"/>
                <a:gd name="connsiteY0" fmla="*/ 0 h 163512"/>
                <a:gd name="connsiteX1" fmla="*/ 61913 w 360363"/>
                <a:gd name="connsiteY1" fmla="*/ 12700 h 163512"/>
                <a:gd name="connsiteX2" fmla="*/ 115888 w 360363"/>
                <a:gd name="connsiteY2" fmla="*/ 26987 h 163512"/>
                <a:gd name="connsiteX3" fmla="*/ 169863 w 360363"/>
                <a:gd name="connsiteY3" fmla="*/ 39687 h 163512"/>
                <a:gd name="connsiteX4" fmla="*/ 234950 w 360363"/>
                <a:gd name="connsiteY4" fmla="*/ 53975 h 163512"/>
                <a:gd name="connsiteX5" fmla="*/ 296863 w 360363"/>
                <a:gd name="connsiteY5" fmla="*/ 87312 h 163512"/>
                <a:gd name="connsiteX6" fmla="*/ 339725 w 360363"/>
                <a:gd name="connsiteY6" fmla="*/ 120650 h 163512"/>
                <a:gd name="connsiteX7" fmla="*/ 360363 w 360363"/>
                <a:gd name="connsiteY7" fmla="*/ 163512 h 163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0363" h="163512">
                  <a:moveTo>
                    <a:pt x="0" y="0"/>
                  </a:moveTo>
                  <a:cubicBezTo>
                    <a:pt x="21299" y="4101"/>
                    <a:pt x="42598" y="8202"/>
                    <a:pt x="61913" y="12700"/>
                  </a:cubicBezTo>
                  <a:cubicBezTo>
                    <a:pt x="81228" y="17198"/>
                    <a:pt x="97896" y="22489"/>
                    <a:pt x="115888" y="26987"/>
                  </a:cubicBezTo>
                  <a:cubicBezTo>
                    <a:pt x="133880" y="31485"/>
                    <a:pt x="169863" y="39687"/>
                    <a:pt x="169863" y="39687"/>
                  </a:cubicBezTo>
                  <a:cubicBezTo>
                    <a:pt x="189707" y="44185"/>
                    <a:pt x="213783" y="46038"/>
                    <a:pt x="234950" y="53975"/>
                  </a:cubicBezTo>
                  <a:cubicBezTo>
                    <a:pt x="256117" y="61913"/>
                    <a:pt x="279401" y="76200"/>
                    <a:pt x="296863" y="87312"/>
                  </a:cubicBezTo>
                  <a:cubicBezTo>
                    <a:pt x="314325" y="98424"/>
                    <a:pt x="329142" y="107950"/>
                    <a:pt x="339725" y="120650"/>
                  </a:cubicBezTo>
                  <a:cubicBezTo>
                    <a:pt x="350308" y="133350"/>
                    <a:pt x="355335" y="148431"/>
                    <a:pt x="360363" y="16351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3448050" y="1155792"/>
              <a:ext cx="438959" cy="287246"/>
            </a:xfrm>
            <a:custGeom>
              <a:avLst/>
              <a:gdLst>
                <a:gd name="connsiteX0" fmla="*/ 0 w 371475"/>
                <a:gd name="connsiteY0" fmla="*/ 185936 h 243086"/>
                <a:gd name="connsiteX1" fmla="*/ 31750 w 371475"/>
                <a:gd name="connsiteY1" fmla="*/ 79573 h 243086"/>
                <a:gd name="connsiteX2" fmla="*/ 41275 w 371475"/>
                <a:gd name="connsiteY2" fmla="*/ 50998 h 243086"/>
                <a:gd name="connsiteX3" fmla="*/ 52388 w 371475"/>
                <a:gd name="connsiteY3" fmla="*/ 24011 h 243086"/>
                <a:gd name="connsiteX4" fmla="*/ 65088 w 371475"/>
                <a:gd name="connsiteY4" fmla="*/ 4961 h 243086"/>
                <a:gd name="connsiteX5" fmla="*/ 79375 w 371475"/>
                <a:gd name="connsiteY5" fmla="*/ 198 h 243086"/>
                <a:gd name="connsiteX6" fmla="*/ 106363 w 371475"/>
                <a:gd name="connsiteY6" fmla="*/ 9723 h 243086"/>
                <a:gd name="connsiteX7" fmla="*/ 136525 w 371475"/>
                <a:gd name="connsiteY7" fmla="*/ 41473 h 243086"/>
                <a:gd name="connsiteX8" fmla="*/ 185738 w 371475"/>
                <a:gd name="connsiteY8" fmla="*/ 93861 h 243086"/>
                <a:gd name="connsiteX9" fmla="*/ 233363 w 371475"/>
                <a:gd name="connsiteY9" fmla="*/ 135136 h 243086"/>
                <a:gd name="connsiteX10" fmla="*/ 274638 w 371475"/>
                <a:gd name="connsiteY10" fmla="*/ 162123 h 243086"/>
                <a:gd name="connsiteX11" fmla="*/ 315913 w 371475"/>
                <a:gd name="connsiteY11" fmla="*/ 174823 h 243086"/>
                <a:gd name="connsiteX12" fmla="*/ 339725 w 371475"/>
                <a:gd name="connsiteY12" fmla="*/ 193873 h 243086"/>
                <a:gd name="connsiteX13" fmla="*/ 371475 w 371475"/>
                <a:gd name="connsiteY13" fmla="*/ 243086 h 243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1475" h="243086">
                  <a:moveTo>
                    <a:pt x="0" y="185936"/>
                  </a:moveTo>
                  <a:cubicBezTo>
                    <a:pt x="12435" y="143999"/>
                    <a:pt x="24871" y="102063"/>
                    <a:pt x="31750" y="79573"/>
                  </a:cubicBezTo>
                  <a:cubicBezTo>
                    <a:pt x="38629" y="57083"/>
                    <a:pt x="37835" y="60258"/>
                    <a:pt x="41275" y="50998"/>
                  </a:cubicBezTo>
                  <a:cubicBezTo>
                    <a:pt x="44715" y="41738"/>
                    <a:pt x="48419" y="31684"/>
                    <a:pt x="52388" y="24011"/>
                  </a:cubicBezTo>
                  <a:cubicBezTo>
                    <a:pt x="56357" y="16338"/>
                    <a:pt x="60590" y="8930"/>
                    <a:pt x="65088" y="4961"/>
                  </a:cubicBezTo>
                  <a:cubicBezTo>
                    <a:pt x="69586" y="992"/>
                    <a:pt x="72496" y="-596"/>
                    <a:pt x="79375" y="198"/>
                  </a:cubicBezTo>
                  <a:cubicBezTo>
                    <a:pt x="86254" y="992"/>
                    <a:pt x="96838" y="2844"/>
                    <a:pt x="106363" y="9723"/>
                  </a:cubicBezTo>
                  <a:cubicBezTo>
                    <a:pt x="115888" y="16602"/>
                    <a:pt x="136525" y="41473"/>
                    <a:pt x="136525" y="41473"/>
                  </a:cubicBezTo>
                  <a:cubicBezTo>
                    <a:pt x="149754" y="55496"/>
                    <a:pt x="169598" y="78250"/>
                    <a:pt x="185738" y="93861"/>
                  </a:cubicBezTo>
                  <a:cubicBezTo>
                    <a:pt x="201878" y="109471"/>
                    <a:pt x="218546" y="123759"/>
                    <a:pt x="233363" y="135136"/>
                  </a:cubicBezTo>
                  <a:cubicBezTo>
                    <a:pt x="248180" y="146513"/>
                    <a:pt x="260880" y="155509"/>
                    <a:pt x="274638" y="162123"/>
                  </a:cubicBezTo>
                  <a:cubicBezTo>
                    <a:pt x="288396" y="168737"/>
                    <a:pt x="305065" y="169531"/>
                    <a:pt x="315913" y="174823"/>
                  </a:cubicBezTo>
                  <a:cubicBezTo>
                    <a:pt x="326761" y="180115"/>
                    <a:pt x="330465" y="182496"/>
                    <a:pt x="339725" y="193873"/>
                  </a:cubicBezTo>
                  <a:cubicBezTo>
                    <a:pt x="348985" y="205250"/>
                    <a:pt x="360230" y="224168"/>
                    <a:pt x="371475" y="243086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/>
              <p:cNvSpPr/>
              <p:nvPr/>
            </p:nvSpPr>
            <p:spPr>
              <a:xfrm>
                <a:off x="1416621" y="1666836"/>
                <a:ext cx="1186735" cy="3242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7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7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700" i="1">
                                  <a:latin typeface="Cambria Math" panose="02040503050406030204" pitchFamily="18" charset="0"/>
                                </a:rPr>
                                <m:t>连接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zh-CN" altLang="en-US" sz="700" i="1">
                                  <a:latin typeface="Cambria Math" panose="02040503050406030204" pitchFamily="18" charset="0"/>
                                </a:rPr>
                                <m:t>与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zh-CN" altLang="en-US" sz="700" i="1">
                                  <a:latin typeface="Cambria Math" panose="02040503050406030204" pitchFamily="18" charset="0"/>
                                </a:rPr>
                                <m:t>边数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7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, |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altLang="zh-CN" sz="700" i="1">
                                  <a:latin typeface="Cambria Math" panose="02040503050406030204" pitchFamily="18" charset="0"/>
                                </a:rPr>
                                <m:t>|)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700" dirty="0"/>
              </a:p>
            </p:txBody>
          </p:sp>
        </mc:Choice>
        <mc:Fallback xmlns="">
          <p:sp>
            <p:nvSpPr>
              <p:cNvPr id="84" name="矩形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21" y="1666836"/>
                <a:ext cx="1186735" cy="3242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文本框 84"/>
          <p:cNvSpPr txBox="1"/>
          <p:nvPr/>
        </p:nvSpPr>
        <p:spPr>
          <a:xfrm>
            <a:off x="-47978" y="3100629"/>
            <a:ext cx="2994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>
                <a:latin typeface="+mj-lt"/>
              </a:rPr>
              <a:t>小世界网络：从</a:t>
            </a:r>
            <a:r>
              <a:rPr lang="en-US" altLang="zh-CN" sz="700" dirty="0">
                <a:latin typeface="+mj-lt"/>
              </a:rPr>
              <a:t>k-Regular</a:t>
            </a:r>
            <a:r>
              <a:rPr lang="zh-CN" altLang="en-US" sz="700" dirty="0">
                <a:latin typeface="+mj-lt"/>
              </a:rPr>
              <a:t>网络出发，随机修改边所连接</a:t>
            </a:r>
            <a:r>
              <a:rPr lang="zh-CN" altLang="en-US" sz="700" dirty="0" smtClean="0">
                <a:latin typeface="+mj-lt"/>
              </a:rPr>
              <a:t>节点，高</a:t>
            </a:r>
            <a:r>
              <a:rPr lang="en-US" altLang="zh-CN" sz="700" dirty="0">
                <a:latin typeface="+mj-lt"/>
              </a:rPr>
              <a:t>CC</a:t>
            </a:r>
            <a:r>
              <a:rPr lang="zh-CN" altLang="en-US" sz="700" dirty="0">
                <a:latin typeface="+mj-lt"/>
              </a:rPr>
              <a:t>、低直径，符合实际网络特征。</a:t>
            </a:r>
          </a:p>
          <a:p>
            <a:r>
              <a:rPr lang="zh-CN" altLang="en-US" sz="700" dirty="0">
                <a:latin typeface="+mj-lt"/>
              </a:rPr>
              <a:t>等效模型：从方形网格出发，每个节点随机指向另一个节点；将相邻的</a:t>
            </a:r>
            <a:r>
              <a:rPr lang="en-US" altLang="zh-CN" sz="700" dirty="0">
                <a:latin typeface="+mj-lt"/>
              </a:rPr>
              <a:t>2*2</a:t>
            </a:r>
            <a:r>
              <a:rPr lang="zh-CN" altLang="en-US" sz="700" dirty="0">
                <a:latin typeface="+mj-lt"/>
              </a:rPr>
              <a:t>节点视为“超节点”，此时“超节点”为</a:t>
            </a:r>
            <a:r>
              <a:rPr lang="en-US" altLang="zh-CN" sz="700" dirty="0">
                <a:latin typeface="+mj-lt"/>
              </a:rPr>
              <a:t>4-Regular</a:t>
            </a:r>
            <a:r>
              <a:rPr lang="zh-CN" altLang="en-US" sz="700" dirty="0">
                <a:latin typeface="+mj-lt"/>
              </a:rPr>
              <a:t>随机图</a:t>
            </a:r>
            <a:r>
              <a:rPr lang="zh-CN" altLang="en-US" sz="700" dirty="0" smtClean="0">
                <a:latin typeface="+mj-lt"/>
              </a:rPr>
              <a:t>。</a:t>
            </a:r>
            <a:endParaRPr lang="zh-CN" altLang="en-US" sz="700" dirty="0">
              <a:latin typeface="+mj-lt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-47978" y="3540871"/>
            <a:ext cx="10246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2 Community Detection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-47978" y="3632274"/>
            <a:ext cx="1168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Strong and Weak 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/>
              <p:cNvSpPr txBox="1"/>
              <p:nvPr/>
            </p:nvSpPr>
            <p:spPr>
              <a:xfrm>
                <a:off x="-47978" y="3726113"/>
                <a:ext cx="2994378" cy="1320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弱连接在信息传播（如找工作）中更重要，因为强连接的节点之间，也更容易形成连接（三元闭包</a:t>
                </a:r>
                <a:r>
                  <a:rPr lang="en-US" altLang="zh-CN" sz="700" dirty="0">
                    <a:latin typeface="+mj-lt"/>
                  </a:rPr>
                  <a:t>/</a:t>
                </a:r>
                <a:r>
                  <a:rPr lang="zh-CN" altLang="en-US" sz="700" dirty="0">
                    <a:latin typeface="+mj-lt"/>
                  </a:rPr>
                  <a:t>高</a:t>
                </a:r>
                <a:r>
                  <a:rPr lang="en-US" altLang="zh-CN" sz="700" dirty="0">
                    <a:latin typeface="+mj-lt"/>
                  </a:rPr>
                  <a:t>CC</a:t>
                </a:r>
                <a:r>
                  <a:rPr lang="zh-CN" altLang="en-US" sz="700" dirty="0">
                    <a:latin typeface="+mj-lt"/>
                  </a:rPr>
                  <a:t>）</a:t>
                </a:r>
                <a:r>
                  <a:rPr lang="zh-CN" altLang="en-US" sz="700" dirty="0" smtClean="0">
                    <a:latin typeface="+mj-lt"/>
                  </a:rPr>
                  <a:t>。</a:t>
                </a:r>
                <a:endParaRPr lang="zh-CN" altLang="en-US" sz="700" dirty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定义</a:t>
                </a:r>
                <a:r>
                  <a:rPr lang="en-US" altLang="zh-CN" sz="700" dirty="0" smtClean="0">
                    <a:latin typeface="+mj-lt"/>
                  </a:rPr>
                  <a:t>bridge edge</a:t>
                </a:r>
                <a:r>
                  <a:rPr lang="en-US" altLang="zh-CN" sz="700" dirty="0">
                    <a:latin typeface="+mj-lt"/>
                  </a:rPr>
                  <a:t>:</a:t>
                </a:r>
                <a:r>
                  <a:rPr lang="zh-CN" altLang="en-US" sz="700" dirty="0" smtClean="0">
                    <a:latin typeface="+mj-lt"/>
                  </a:rPr>
                  <a:t> 删除</a:t>
                </a:r>
                <a:r>
                  <a:rPr lang="zh-CN" altLang="en-US" sz="700" dirty="0">
                    <a:latin typeface="+mj-lt"/>
                  </a:rPr>
                  <a:t>后图被分为两</a:t>
                </a:r>
                <a:r>
                  <a:rPr lang="zh-CN" altLang="en-US" sz="700" dirty="0" smtClean="0">
                    <a:latin typeface="+mj-lt"/>
                  </a:rPr>
                  <a:t>部分方边</a:t>
                </a:r>
                <a:endParaRPr lang="zh-CN" altLang="en-US" sz="700" dirty="0">
                  <a:latin typeface="+mj-lt"/>
                </a:endParaRPr>
              </a:p>
              <a:p>
                <a:r>
                  <a:rPr lang="en-US" altLang="zh-CN" sz="700" dirty="0">
                    <a:latin typeface="+mj-lt"/>
                  </a:rPr>
                  <a:t>local </a:t>
                </a:r>
                <a:r>
                  <a:rPr lang="en-US" altLang="zh-CN" sz="700" dirty="0" smtClean="0">
                    <a:latin typeface="+mj-lt"/>
                  </a:rPr>
                  <a:t>bridge:  span&gt;2</a:t>
                </a:r>
                <a:r>
                  <a:rPr lang="zh-CN" altLang="en-US" sz="700" dirty="0">
                    <a:latin typeface="+mj-lt"/>
                  </a:rPr>
                  <a:t>的边，其中</a:t>
                </a:r>
                <a:r>
                  <a:rPr lang="en-US" altLang="zh-CN" sz="700" dirty="0">
                    <a:latin typeface="+mj-lt"/>
                  </a:rPr>
                  <a:t>span</a:t>
                </a:r>
                <a:r>
                  <a:rPr lang="zh-CN" altLang="en-US" sz="700" dirty="0">
                    <a:latin typeface="+mj-lt"/>
                  </a:rPr>
                  <a:t>表示删除该边后两节点距离；弱连接常作为</a:t>
                </a:r>
                <a:r>
                  <a:rPr lang="en-US" altLang="zh-CN" sz="700" dirty="0">
                    <a:latin typeface="+mj-lt"/>
                  </a:rPr>
                  <a:t>local bridge</a:t>
                </a:r>
              </a:p>
              <a:p>
                <a:r>
                  <a:rPr lang="zh-CN" altLang="en-US" sz="700" dirty="0">
                    <a:latin typeface="+mj-lt"/>
                  </a:rPr>
                  <a:t>若一节点有至少两个强连接边，则相连的</a:t>
                </a:r>
                <a:r>
                  <a:rPr lang="en-US" altLang="zh-CN" sz="700" dirty="0">
                    <a:latin typeface="+mj-lt"/>
                  </a:rPr>
                  <a:t>local bridge</a:t>
                </a:r>
                <a:r>
                  <a:rPr lang="zh-CN" altLang="en-US" sz="700" dirty="0">
                    <a:latin typeface="+mj-lt"/>
                  </a:rPr>
                  <a:t>一定是弱连接</a:t>
                </a:r>
                <a:r>
                  <a:rPr lang="zh-CN" altLang="en-US" sz="700" dirty="0" smtClean="0">
                    <a:latin typeface="+mj-lt"/>
                  </a:rPr>
                  <a:t>。</a:t>
                </a:r>
                <a:endParaRPr lang="zh-CN" altLang="en-US" sz="700" dirty="0">
                  <a:latin typeface="+mj-lt"/>
                </a:endParaRPr>
              </a:p>
              <a:p>
                <a:r>
                  <a:rPr lang="en-US" altLang="zh-CN" sz="700" dirty="0">
                    <a:latin typeface="+mj-lt"/>
                  </a:rPr>
                  <a:t>Neighborhood Overlap</a:t>
                </a:r>
                <a:r>
                  <a:rPr lang="zh-CN" altLang="en-US" sz="700" dirty="0">
                    <a:latin typeface="+mj-lt"/>
                  </a:rPr>
                  <a:t>：对连接</a:t>
                </a:r>
                <a:r>
                  <a:rPr lang="zh-CN" altLang="en-US" sz="700" dirty="0" smtClean="0">
                    <a:latin typeface="+mj-lt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的边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800" i="1" dirty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)∩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)∪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700" b="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实际网络</a:t>
                </a:r>
                <a:r>
                  <a:rPr lang="en-US" altLang="zh-CN" sz="700" dirty="0" err="1" smtClean="0">
                    <a:latin typeface="+mj-lt"/>
                  </a:rPr>
                  <a:t>nbh-ol</a:t>
                </a:r>
                <a:r>
                  <a:rPr lang="en-US" altLang="zh-CN" sz="700" dirty="0" smtClean="0">
                    <a:latin typeface="+mj-lt"/>
                  </a:rPr>
                  <a:t> vs. </a:t>
                </a:r>
                <a:r>
                  <a:rPr lang="zh-CN" altLang="en-US" sz="700" dirty="0" smtClean="0">
                    <a:latin typeface="+mj-lt"/>
                  </a:rPr>
                  <a:t>边强度为线性上升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:r>
                  <a:rPr lang="zh-CN" altLang="en-US" sz="700" dirty="0" smtClean="0">
                    <a:latin typeface="+mj-lt"/>
                  </a:rPr>
                  <a:t>随机网络基本不变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Network 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700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700" dirty="0" smtClean="0">
                    <a:latin typeface="+mj-lt"/>
                  </a:rPr>
                  <a:t>  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>
                    <a:latin typeface="+mj-lt"/>
                  </a:rPr>
                  <a:t>节点</a:t>
                </a:r>
                <a:r>
                  <a:rPr lang="zh-CN" altLang="en-US" sz="700" dirty="0" smtClean="0">
                    <a:latin typeface="+mj-lt"/>
                  </a:rPr>
                  <a:t>约束程度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所有邻节点的紧密程度</a:t>
                </a:r>
                <a:endParaRPr lang="zh-CN" altLang="en-US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78" y="3726113"/>
                <a:ext cx="2994378" cy="13201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直接连接符 95"/>
          <p:cNvCxnSpPr/>
          <p:nvPr/>
        </p:nvCxnSpPr>
        <p:spPr>
          <a:xfrm>
            <a:off x="-4590" y="3596948"/>
            <a:ext cx="28130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/>
              <p:cNvSpPr txBox="1"/>
              <p:nvPr/>
            </p:nvSpPr>
            <p:spPr>
              <a:xfrm>
                <a:off x="-56445" y="5352074"/>
                <a:ext cx="2294027" cy="979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[1]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从一个节点开始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, BFS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搜索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; </a:t>
                </a:r>
              </a:p>
              <a:p>
                <a:pPr lvl="0"/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[2]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自顶而下计算每个节点最短路径数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; </a:t>
                </a:r>
              </a:p>
              <a:p>
                <a:pPr lvl="0"/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[3]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自底而上计算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”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流量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”,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每个节点流出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=1+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流入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上层节点按最短路径数等比例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分配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确定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社区划分数量：模块度 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Modularity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，其中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S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</a:t>
                </a:r>
                <a:r>
                  <a:rPr lang="zh-CN" altLang="en-US" sz="700" dirty="0">
                    <a:solidFill>
                      <a:prstClr val="black"/>
                    </a:solidFill>
                    <a:latin typeface="Calibri Light" panose="020F0302020204030204"/>
                  </a:rPr>
                  <a:t>划分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社区</a:t>
                </a:r>
                <a:r>
                  <a:rPr lang="en-US" altLang="zh-CN" sz="8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b>
                      <m:sSubPr>
                        <m:ctrlP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)/2</m:t>
                    </m:r>
                    <m:r>
                      <a:rPr lang="en-US" altLang="zh-CN" sz="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CN" sz="8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表示模块划分使得模块内部边数显著多于随机划分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endParaRPr lang="zh-CN" altLang="en-US" sz="700" dirty="0">
                  <a:solidFill>
                    <a:prstClr val="black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98" name="文本框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445" y="5352074"/>
                <a:ext cx="2294027" cy="9794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/>
          <p:cNvSpPr txBox="1"/>
          <p:nvPr/>
        </p:nvSpPr>
        <p:spPr>
          <a:xfrm>
            <a:off x="-44125" y="4920014"/>
            <a:ext cx="2994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社区划分：重复以下流程</a:t>
            </a:r>
            <a:endParaRPr lang="en-US" altLang="zh-CN" sz="700" dirty="0" smtClean="0">
              <a:latin typeface="+mj-lt"/>
            </a:endParaRPr>
          </a:p>
          <a:p>
            <a:r>
              <a:rPr lang="en-US" altLang="zh-CN" sz="700" dirty="0" smtClean="0">
                <a:latin typeface="+mj-lt"/>
              </a:rPr>
              <a:t>[1]  </a:t>
            </a:r>
            <a:r>
              <a:rPr lang="zh-CN" altLang="en-US" sz="700" dirty="0" smtClean="0">
                <a:latin typeface="+mj-lt"/>
              </a:rPr>
              <a:t>计算边的</a:t>
            </a:r>
            <a:r>
              <a:rPr lang="en-US" altLang="zh-CN" sz="700" dirty="0" err="1" smtClean="0">
                <a:latin typeface="+mj-lt"/>
              </a:rPr>
              <a:t>betweenness</a:t>
            </a:r>
            <a:r>
              <a:rPr lang="en-US" altLang="zh-CN" sz="700" dirty="0" smtClean="0">
                <a:latin typeface="+mj-lt"/>
              </a:rPr>
              <a:t>, </a:t>
            </a:r>
            <a:r>
              <a:rPr lang="zh-CN" altLang="en-US" sz="700" dirty="0" smtClean="0">
                <a:latin typeface="+mj-lt"/>
              </a:rPr>
              <a:t>即所有节点对最短路径经过该边次数</a:t>
            </a:r>
            <a:r>
              <a:rPr lang="en-US" altLang="zh-CN" sz="700" dirty="0" smtClean="0">
                <a:latin typeface="+mj-lt"/>
              </a:rPr>
              <a:t>;  [2]  </a:t>
            </a:r>
            <a:r>
              <a:rPr lang="zh-CN" altLang="en-US" sz="700" dirty="0" smtClean="0">
                <a:latin typeface="+mj-lt"/>
              </a:rPr>
              <a:t>删除最高</a:t>
            </a:r>
            <a:r>
              <a:rPr lang="en-US" altLang="zh-CN" sz="700" dirty="0" err="1" smtClean="0">
                <a:latin typeface="+mj-lt"/>
              </a:rPr>
              <a:t>betweenness</a:t>
            </a:r>
            <a:r>
              <a:rPr lang="zh-CN" altLang="en-US" sz="700" dirty="0" smtClean="0">
                <a:latin typeface="+mj-lt"/>
              </a:rPr>
              <a:t>的边</a:t>
            </a:r>
            <a:endParaRPr lang="en-US" altLang="zh-CN" sz="700" dirty="0" smtClean="0">
              <a:latin typeface="+mj-lt"/>
            </a:endParaRPr>
          </a:p>
          <a:p>
            <a:r>
              <a:rPr lang="en-US" altLang="zh-CN" sz="700" dirty="0" err="1" smtClean="0">
                <a:latin typeface="+mj-lt"/>
              </a:rPr>
              <a:t>Betweenness</a:t>
            </a:r>
            <a:r>
              <a:rPr lang="zh-CN" altLang="en-US" sz="700" dirty="0" smtClean="0">
                <a:latin typeface="+mj-lt"/>
              </a:rPr>
              <a:t>计算方法：对每一个节点执行并相加</a:t>
            </a:r>
            <a:endParaRPr lang="en-US" altLang="zh-CN" sz="700" dirty="0" smtClean="0">
              <a:latin typeface="+mj-lt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-57212" y="6131518"/>
            <a:ext cx="19444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Modularity </a:t>
            </a:r>
            <a:r>
              <a:rPr lang="en-US" altLang="zh-CN" sz="700" b="1" dirty="0" err="1" smtClean="0">
                <a:latin typeface="+mj-lt"/>
              </a:rPr>
              <a:t>Optimmization</a:t>
            </a:r>
            <a:r>
              <a:rPr lang="en-US" altLang="zh-CN" sz="700" b="1" dirty="0" smtClean="0">
                <a:latin typeface="+mj-lt"/>
              </a:rPr>
              <a:t> Method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/>
              <p:cNvSpPr txBox="1"/>
              <p:nvPr/>
            </p:nvSpPr>
            <p:spPr>
              <a:xfrm>
                <a:off x="-50598" y="6236175"/>
                <a:ext cx="2996998" cy="58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对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Q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进行优化，考虑划分为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2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个社区：令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=1/−1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对应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划分不同社区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+1)</m:t>
                    </m:r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</a:p>
              <a:p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记模块度矩阵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altLang="zh-CN" sz="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𝐵𝑠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/4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为划分向量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为使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最大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理论上取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最大特征值向量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;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实际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根据特征向量取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±1</a:t>
                </a:r>
                <a:endParaRPr lang="en-US" altLang="zh-CN" sz="700" dirty="0">
                  <a:solidFill>
                    <a:prstClr val="black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149" name="文本框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598" y="6236175"/>
                <a:ext cx="2996998" cy="589200"/>
              </a:xfrm>
              <a:prstGeom prst="rect">
                <a:avLst/>
              </a:prstGeom>
              <a:blipFill>
                <a:blip r:embed="rId10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/>
          <p:cNvSpPr txBox="1"/>
          <p:nvPr/>
        </p:nvSpPr>
        <p:spPr>
          <a:xfrm>
            <a:off x="-67862" y="6779162"/>
            <a:ext cx="19444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Spectral Clustering Method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/>
              <p:cNvSpPr txBox="1"/>
              <p:nvPr/>
            </p:nvSpPr>
            <p:spPr>
              <a:xfrm>
                <a:off x="-42640" y="6886079"/>
                <a:ext cx="2996998" cy="1032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划分社区目标：最大化社区内连接，最小化社区间连接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𝑐𝑢𝑡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  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→  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lim>
                    </m:limLow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𝑐𝑢𝑡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/ 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除以社区度数之和避免产生孤立节点。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现考虑每个节点赋值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且根据符号分为两社区，且有边的节点数值尽可能接近（即切割代价），此时代价为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p>
                      <m:sSup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𝐿𝑥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为节点度矩阵，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为邻接矩阵，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正定对称。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若最小化代价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𝐿𝑥</m:t>
                    </m:r>
                    <m:sSup>
                      <m:sSup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取</m:t>
                    </m:r>
                    <m:r>
                      <a:rPr lang="zh-CN" altLang="en-US" sz="7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第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二小特征值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对应特征向量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不为全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1),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符号化后作为划分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(Fiedler vector)</a:t>
                </a:r>
                <a:endParaRPr lang="en-US" altLang="zh-CN" sz="700" dirty="0">
                  <a:solidFill>
                    <a:prstClr val="black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640" y="6886079"/>
                <a:ext cx="2996998" cy="1032527"/>
              </a:xfrm>
              <a:prstGeom prst="rect">
                <a:avLst/>
              </a:prstGeom>
              <a:blipFill>
                <a:blip r:embed="rId11"/>
                <a:stretch>
                  <a:fillRect t="-2959" b="-5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/>
              <p:cNvSpPr txBox="1"/>
              <p:nvPr/>
            </p:nvSpPr>
            <p:spPr>
              <a:xfrm>
                <a:off x="-42640" y="7820928"/>
                <a:ext cx="2996998" cy="477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证明：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Lx</m:t>
                            </m:r>
                            <m: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lim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lim>
                    </m:limLow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令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特征向量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且与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正交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𝐿𝑥</m:t>
                      </m:r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=∑</m:t>
                      </m:r>
                      <m:sSubSup>
                        <m:sSubSup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7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7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7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正交得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7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时上式取最小值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。</a:t>
                </a:r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640" y="7820928"/>
                <a:ext cx="2996998" cy="477118"/>
              </a:xfrm>
              <a:prstGeom prst="rect">
                <a:avLst/>
              </a:prstGeom>
              <a:blipFill>
                <a:blip r:embed="rId1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/>
              <p:cNvSpPr txBox="1"/>
              <p:nvPr/>
            </p:nvSpPr>
            <p:spPr>
              <a:xfrm>
                <a:off x="-30516" y="8230114"/>
                <a:ext cx="2996998" cy="523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以下记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为图的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expansion,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边数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于是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7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sSubSup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; 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=−1/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7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根据</m:t>
                    </m:r>
                  </m:oMath>
                </a14:m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社区</a:t>
                </a:r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), 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右式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+1/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7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假设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d>
                      </m:e>
                    </m:d>
                  </m:oMath>
                </a14:m>
                <a:endParaRPr lang="en-US" altLang="zh-CN" sz="70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en-US" altLang="zh-CN" sz="700" b="0" dirty="0" err="1" smtClean="0">
                    <a:solidFill>
                      <a:prstClr val="black"/>
                    </a:solidFill>
                    <a:latin typeface="Calibri Light" panose="020F0302020204030204"/>
                  </a:rPr>
                  <a:t>Cheeger</a:t>
                </a:r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 inequality: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/2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为图中最大节点度</a:t>
                </a:r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16" y="8230114"/>
                <a:ext cx="2996998" cy="523733"/>
              </a:xfrm>
              <a:prstGeom prst="rect">
                <a:avLst/>
              </a:prstGeom>
              <a:blipFill>
                <a:blip r:embed="rId13"/>
                <a:stretch>
                  <a:fillRect b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矩形 61"/>
          <p:cNvSpPr/>
          <p:nvPr/>
        </p:nvSpPr>
        <p:spPr>
          <a:xfrm>
            <a:off x="31831" y="7858370"/>
            <a:ext cx="2832139" cy="4200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3" name="文本框 62"/>
          <p:cNvSpPr txBox="1"/>
          <p:nvPr/>
        </p:nvSpPr>
        <p:spPr>
          <a:xfrm>
            <a:off x="-67862" y="8760317"/>
            <a:ext cx="14830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3 Overlapping </a:t>
            </a:r>
            <a:r>
              <a:rPr lang="en-US" altLang="zh-CN" sz="700" b="1" dirty="0">
                <a:latin typeface="+mj-lt"/>
              </a:rPr>
              <a:t>community </a:t>
            </a:r>
            <a:r>
              <a:rPr lang="en-US" altLang="zh-CN" sz="700" b="1" dirty="0" smtClean="0">
                <a:latin typeface="+mj-lt"/>
              </a:rPr>
              <a:t>detection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-67862" y="8856444"/>
            <a:ext cx="113364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Clique Percolation Method</a:t>
            </a:r>
          </a:p>
        </p:txBody>
      </p:sp>
      <p:cxnSp>
        <p:nvCxnSpPr>
          <p:cNvPr id="65" name="直接连接符 64"/>
          <p:cNvCxnSpPr/>
          <p:nvPr/>
        </p:nvCxnSpPr>
        <p:spPr>
          <a:xfrm>
            <a:off x="-15296" y="8788565"/>
            <a:ext cx="28130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-50862" y="8966111"/>
            <a:ext cx="2996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700" dirty="0" smtClean="0">
                <a:solidFill>
                  <a:prstClr val="black"/>
                </a:solidFill>
                <a:latin typeface="Calibri Light" panose="020F0302020204030204"/>
              </a:rPr>
              <a:t>K-clique: k</a:t>
            </a:r>
            <a:r>
              <a:rPr lang="zh-CN" altLang="en-US" sz="700" dirty="0" smtClean="0">
                <a:solidFill>
                  <a:prstClr val="black"/>
                </a:solidFill>
                <a:latin typeface="Calibri Light" panose="020F0302020204030204"/>
              </a:rPr>
              <a:t>节点全连接图</a:t>
            </a:r>
            <a:r>
              <a:rPr lang="en-US" altLang="zh-CN" sz="700" dirty="0" smtClean="0">
                <a:solidFill>
                  <a:prstClr val="black"/>
                </a:solidFill>
                <a:latin typeface="Calibri Light" panose="020F0302020204030204"/>
              </a:rPr>
              <a:t>;  </a:t>
            </a:r>
            <a:r>
              <a:rPr lang="zh-CN" altLang="en-US" sz="700" dirty="0" smtClean="0">
                <a:solidFill>
                  <a:prstClr val="black"/>
                </a:solidFill>
                <a:latin typeface="Calibri Light" panose="020F0302020204030204"/>
              </a:rPr>
              <a:t>邻接</a:t>
            </a:r>
            <a:r>
              <a:rPr lang="en-US" altLang="zh-CN" sz="700" dirty="0" smtClean="0">
                <a:solidFill>
                  <a:prstClr val="black"/>
                </a:solidFill>
                <a:latin typeface="Calibri Light" panose="020F0302020204030204"/>
              </a:rPr>
              <a:t>k-cliques:  </a:t>
            </a:r>
            <a:r>
              <a:rPr lang="zh-CN" altLang="en-US" sz="700" dirty="0" smtClean="0">
                <a:solidFill>
                  <a:prstClr val="black"/>
                </a:solidFill>
                <a:latin typeface="Calibri Light" panose="020F0302020204030204"/>
              </a:rPr>
              <a:t>两</a:t>
            </a:r>
            <a:r>
              <a:rPr lang="en-US" altLang="zh-CN" sz="700" dirty="0" smtClean="0">
                <a:solidFill>
                  <a:prstClr val="black"/>
                </a:solidFill>
                <a:latin typeface="Calibri Light" panose="020F0302020204030204"/>
              </a:rPr>
              <a:t>k-clique</a:t>
            </a:r>
            <a:r>
              <a:rPr lang="zh-CN" altLang="en-US" sz="700" dirty="0" smtClean="0">
                <a:solidFill>
                  <a:prstClr val="black"/>
                </a:solidFill>
                <a:latin typeface="Calibri Light" panose="020F0302020204030204"/>
              </a:rPr>
              <a:t>包含</a:t>
            </a:r>
            <a:r>
              <a:rPr lang="en-US" altLang="zh-CN" sz="700" dirty="0" smtClean="0">
                <a:solidFill>
                  <a:prstClr val="black"/>
                </a:solidFill>
                <a:latin typeface="Calibri Light" panose="020F0302020204030204"/>
              </a:rPr>
              <a:t>k-1</a:t>
            </a:r>
            <a:r>
              <a:rPr lang="zh-CN" altLang="en-US" sz="700" dirty="0" smtClean="0">
                <a:solidFill>
                  <a:prstClr val="black"/>
                </a:solidFill>
                <a:latin typeface="Calibri Light" panose="020F0302020204030204"/>
              </a:rPr>
              <a:t>个重叠节点</a:t>
            </a:r>
            <a:endParaRPr lang="en-US" altLang="zh-CN" sz="700" dirty="0" smtClean="0">
              <a:solidFill>
                <a:prstClr val="black"/>
              </a:solidFill>
              <a:latin typeface="Calibri Light" panose="020F0302020204030204"/>
            </a:endParaRPr>
          </a:p>
          <a:p>
            <a:pPr lvl="0"/>
            <a:r>
              <a:rPr lang="zh-CN" altLang="en-US" sz="700" b="0" dirty="0" smtClean="0">
                <a:solidFill>
                  <a:prstClr val="black"/>
                </a:solidFill>
                <a:latin typeface="Calibri Light" panose="020F0302020204030204"/>
              </a:rPr>
              <a:t>将所有邻接的</a:t>
            </a:r>
            <a:r>
              <a:rPr lang="en-US" altLang="zh-CN" sz="700" b="0" dirty="0" smtClean="0">
                <a:solidFill>
                  <a:prstClr val="black"/>
                </a:solidFill>
                <a:latin typeface="Calibri Light" panose="020F0302020204030204"/>
              </a:rPr>
              <a:t>k-clique</a:t>
            </a:r>
            <a:r>
              <a:rPr lang="zh-CN" altLang="en-US" sz="700" b="0" dirty="0" smtClean="0">
                <a:solidFill>
                  <a:prstClr val="black"/>
                </a:solidFill>
                <a:latin typeface="Calibri Light" panose="020F0302020204030204"/>
              </a:rPr>
              <a:t>视为一个社区</a:t>
            </a:r>
            <a:endParaRPr lang="en-US" altLang="zh-CN" sz="700" b="0" dirty="0" smtClean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-50862" y="9173860"/>
            <a:ext cx="17700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How to model networks with communities</a:t>
            </a:r>
            <a:r>
              <a:rPr lang="en-US" altLang="zh-CN" sz="700" b="1" dirty="0" smtClean="0">
                <a:latin typeface="+mj-lt"/>
              </a:rPr>
              <a:t>?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/>
              <p:cNvSpPr txBox="1"/>
              <p:nvPr/>
            </p:nvSpPr>
            <p:spPr>
              <a:xfrm>
                <a:off x="-44125" y="9284131"/>
                <a:ext cx="29969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定义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conductance: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Network Community 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Profile(NCP):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对实际大型网络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NCP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表现为先降后升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且子社区同样出现该现象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表明实际网络存在分级结构</a:t>
                </a:r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69" name="文本框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5" y="9284131"/>
                <a:ext cx="2996998" cy="523220"/>
              </a:xfrm>
              <a:prstGeom prst="rect">
                <a:avLst/>
              </a:prstGeom>
              <a:blipFill>
                <a:blip r:embed="rId14"/>
                <a:stretch>
                  <a:fillRect b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/>
          <p:cNvSpPr txBox="1"/>
          <p:nvPr/>
        </p:nvSpPr>
        <p:spPr>
          <a:xfrm>
            <a:off x="-57212" y="9726172"/>
            <a:ext cx="175560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Community-Affiliation </a:t>
            </a:r>
            <a:r>
              <a:rPr lang="en-US" altLang="zh-CN" sz="700" b="1" dirty="0">
                <a:latin typeface="+mj-lt"/>
              </a:rPr>
              <a:t>Graph </a:t>
            </a:r>
            <a:r>
              <a:rPr lang="en-US" altLang="zh-CN" sz="700" b="1" dirty="0" smtClean="0">
                <a:latin typeface="+mj-lt"/>
              </a:rPr>
              <a:t>Method (AGM)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/>
              <p:cNvSpPr txBox="1"/>
              <p:nvPr/>
            </p:nvSpPr>
            <p:spPr>
              <a:xfrm>
                <a:off x="-50862" y="9831038"/>
                <a:ext cx="2996998" cy="685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社区重叠部分边更密集</a:t>
                </a:r>
                <a:r>
                  <a:rPr lang="en-US" altLang="zh-CN" sz="700" dirty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因此使用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AGM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检测存在重叠的多个社区</a:t>
                </a:r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:</a:t>
                </a:r>
              </a:p>
              <a:p>
                <a:pPr lvl="0"/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输入节点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社区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社区</m:t>
                    </m:r>
                  </m:oMath>
                </a14:m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成员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7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7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每个</m:t>
                    </m:r>
                  </m:oMath>
                </a14:m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社区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中两两节点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存在概率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连接</m:t>
                    </m:r>
                  </m:oMath>
                </a14:m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连接概率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𝑀𝑢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𝑀𝑣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遍历为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公共社区</a:t>
                </a:r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目标：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lim>
                    </m:limLow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US" altLang="zh-CN" sz="7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e>
                    </m:d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迭代</m:t>
                    </m:r>
                  </m:oMath>
                </a14:m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以下步骤：</a:t>
                </a:r>
                <a:endParaRPr lang="en-US" altLang="zh-CN" sz="700" b="0" dirty="0" smtClean="0">
                  <a:solidFill>
                    <a:prstClr val="black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en-US" altLang="zh-CN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[1]  </a:t>
                </a:r>
                <a:r>
                  <a:rPr lang="zh-CN" altLang="en-US" sz="7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固定节点分布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7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求解</m:t>
                    </m:r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;  [2]  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固定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,  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更新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(</a:t>
                </a:r>
                <a:r>
                  <a:rPr lang="zh-CN" altLang="en-US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随机增删改节点连接</a:t>
                </a:r>
                <a:r>
                  <a:rPr lang="en-US" altLang="zh-CN" sz="700" b="0" dirty="0" smtClean="0">
                    <a:solidFill>
                      <a:prstClr val="black"/>
                    </a:solidFill>
                    <a:latin typeface="Calibri Light" panose="020F0302020204030204"/>
                  </a:rPr>
                  <a:t>)</a:t>
                </a:r>
              </a:p>
            </p:txBody>
          </p:sp>
        </mc:Choice>
        <mc:Fallback xmlns="">
          <p:sp>
            <p:nvSpPr>
              <p:cNvPr id="71" name="文本框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862" y="9831038"/>
                <a:ext cx="2996998" cy="685188"/>
              </a:xfrm>
              <a:prstGeom prst="rect">
                <a:avLst/>
              </a:prstGeom>
              <a:blipFill>
                <a:blip r:embed="rId15"/>
                <a:stretch>
                  <a:fillRect b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本框 71"/>
          <p:cNvSpPr txBox="1"/>
          <p:nvPr/>
        </p:nvSpPr>
        <p:spPr>
          <a:xfrm>
            <a:off x="2755877" y="-31863"/>
            <a:ext cx="16882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4 Human </a:t>
            </a:r>
            <a:r>
              <a:rPr lang="en-US" altLang="zh-CN" sz="700" b="1" dirty="0">
                <a:latin typeface="+mj-lt"/>
              </a:rPr>
              <a:t>Evaluation and Signed Networks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2753451" y="67096"/>
            <a:ext cx="255484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人类评估主要因素</a:t>
            </a:r>
            <a:r>
              <a:rPr lang="en-US" altLang="zh-CN" sz="700" dirty="0" smtClean="0">
                <a:latin typeface="+mj-lt"/>
              </a:rPr>
              <a:t>: Status, Similarity   </a:t>
            </a:r>
            <a:r>
              <a:rPr lang="zh-CN" altLang="en-US" sz="700" dirty="0" smtClean="0">
                <a:latin typeface="+mj-lt"/>
              </a:rPr>
              <a:t>高</a:t>
            </a:r>
            <a:r>
              <a:rPr lang="en-US" altLang="zh-CN" sz="700" dirty="0" smtClean="0">
                <a:latin typeface="+mj-lt"/>
              </a:rPr>
              <a:t>Similarity</a:t>
            </a:r>
            <a:r>
              <a:rPr lang="zh-CN" altLang="en-US" sz="700" dirty="0" smtClean="0">
                <a:latin typeface="+mj-lt"/>
              </a:rPr>
              <a:t>情况下倾向于更高评价</a:t>
            </a:r>
            <a:r>
              <a:rPr lang="en-US" altLang="zh-CN" sz="700" dirty="0" smtClean="0">
                <a:latin typeface="+mj-lt"/>
              </a:rPr>
              <a:t>, </a:t>
            </a:r>
            <a:r>
              <a:rPr lang="zh-CN" altLang="en-US" sz="700" dirty="0" smtClean="0">
                <a:latin typeface="+mj-lt"/>
              </a:rPr>
              <a:t>且对</a:t>
            </a:r>
            <a:r>
              <a:rPr lang="en-US" altLang="zh-CN" sz="700" dirty="0" smtClean="0">
                <a:latin typeface="+mj-lt"/>
              </a:rPr>
              <a:t>Status</a:t>
            </a:r>
            <a:r>
              <a:rPr lang="zh-CN" altLang="en-US" sz="700" dirty="0" smtClean="0">
                <a:latin typeface="+mj-lt"/>
              </a:rPr>
              <a:t>更高者给更高评价</a:t>
            </a:r>
            <a:r>
              <a:rPr lang="en-US" altLang="zh-CN" sz="700" dirty="0" smtClean="0">
                <a:latin typeface="+mj-lt"/>
              </a:rPr>
              <a:t>(</a:t>
            </a:r>
            <a:r>
              <a:rPr lang="zh-CN" altLang="en-US" sz="700" dirty="0" smtClean="0">
                <a:latin typeface="+mj-lt"/>
              </a:rPr>
              <a:t>仅与</a:t>
            </a:r>
            <a:r>
              <a:rPr lang="en-US" altLang="zh-CN" sz="700" dirty="0" smtClean="0">
                <a:latin typeface="+mj-lt"/>
              </a:rPr>
              <a:t>Status</a:t>
            </a:r>
            <a:r>
              <a:rPr lang="zh-CN" altLang="en-US" sz="700" dirty="0" smtClean="0">
                <a:latin typeface="+mj-lt"/>
              </a:rPr>
              <a:t>之差相关</a:t>
            </a:r>
            <a:r>
              <a:rPr lang="en-US" altLang="zh-CN" sz="700" dirty="0" smtClean="0">
                <a:latin typeface="+mj-lt"/>
              </a:rPr>
              <a:t>)</a:t>
            </a:r>
          </a:p>
          <a:p>
            <a:r>
              <a:rPr lang="zh-CN" altLang="en-US" sz="700" dirty="0" smtClean="0">
                <a:latin typeface="+mj-lt"/>
              </a:rPr>
              <a:t>符号平衡</a:t>
            </a:r>
            <a:r>
              <a:rPr lang="en-US" altLang="zh-CN" sz="700" dirty="0" smtClean="0">
                <a:latin typeface="+mj-lt"/>
              </a:rPr>
              <a:t>:  </a:t>
            </a:r>
            <a:r>
              <a:rPr lang="zh-CN" altLang="en-US" sz="700" dirty="0" smtClean="0">
                <a:latin typeface="+mj-lt"/>
              </a:rPr>
              <a:t>三角形</a:t>
            </a:r>
            <a:r>
              <a:rPr lang="en-US" altLang="zh-CN" sz="700" dirty="0" smtClean="0">
                <a:latin typeface="+mj-lt"/>
              </a:rPr>
              <a:t>+/-</a:t>
            </a:r>
            <a:r>
              <a:rPr lang="zh-CN" altLang="en-US" sz="700" dirty="0" smtClean="0">
                <a:latin typeface="+mj-lt"/>
              </a:rPr>
              <a:t>网络中</a:t>
            </a:r>
            <a:r>
              <a:rPr lang="en-US" altLang="zh-CN" sz="700" dirty="0" smtClean="0">
                <a:latin typeface="+mj-lt"/>
              </a:rPr>
              <a:t>+</a:t>
            </a:r>
            <a:r>
              <a:rPr lang="zh-CN" altLang="en-US" sz="700" dirty="0" smtClean="0">
                <a:latin typeface="+mj-lt"/>
              </a:rPr>
              <a:t>的边数为奇数</a:t>
            </a:r>
            <a:endParaRPr lang="en-US" altLang="zh-CN" sz="700" dirty="0" smtClean="0">
              <a:latin typeface="+mj-lt"/>
            </a:endParaRPr>
          </a:p>
          <a:p>
            <a:r>
              <a:rPr lang="zh-CN" altLang="en-US" sz="700" dirty="0" smtClean="0">
                <a:latin typeface="+mj-lt"/>
              </a:rPr>
              <a:t>判断全局平衡</a:t>
            </a:r>
            <a:r>
              <a:rPr lang="en-US" altLang="zh-CN" sz="700" dirty="0" smtClean="0">
                <a:latin typeface="+mj-lt"/>
              </a:rPr>
              <a:t>:  [1]</a:t>
            </a:r>
            <a:r>
              <a:rPr lang="zh-CN" altLang="en-US" sz="700" dirty="0" smtClean="0">
                <a:latin typeface="+mj-lt"/>
              </a:rPr>
              <a:t>将无负边正连通部分作为超节点</a:t>
            </a:r>
            <a:r>
              <a:rPr lang="en-US" altLang="zh-CN" sz="700" dirty="0" smtClean="0">
                <a:latin typeface="+mj-lt"/>
              </a:rPr>
              <a:t>; [2] </a:t>
            </a:r>
            <a:r>
              <a:rPr lang="zh-CN" altLang="en-US" sz="700" dirty="0" smtClean="0">
                <a:latin typeface="+mj-lt"/>
              </a:rPr>
              <a:t>若超节点内部无负边</a:t>
            </a:r>
            <a:r>
              <a:rPr lang="en-US" altLang="zh-CN" sz="700" dirty="0" smtClean="0">
                <a:latin typeface="+mj-lt"/>
              </a:rPr>
              <a:t>, </a:t>
            </a:r>
            <a:r>
              <a:rPr lang="zh-CN" altLang="en-US" sz="700" dirty="0" smtClean="0">
                <a:latin typeface="+mj-lt"/>
              </a:rPr>
              <a:t>且超节点间不构成奇环</a:t>
            </a:r>
            <a:r>
              <a:rPr lang="en-US" altLang="zh-CN" sz="700" dirty="0" smtClean="0">
                <a:latin typeface="+mj-lt"/>
              </a:rPr>
              <a:t>(</a:t>
            </a:r>
            <a:r>
              <a:rPr lang="zh-CN" altLang="en-US" sz="700" dirty="0" smtClean="0">
                <a:latin typeface="+mj-lt"/>
              </a:rPr>
              <a:t>奇数负边连接</a:t>
            </a:r>
            <a:r>
              <a:rPr lang="en-US" altLang="zh-CN" sz="700" dirty="0" smtClean="0">
                <a:latin typeface="+mj-lt"/>
              </a:rPr>
              <a:t>)</a:t>
            </a:r>
            <a:r>
              <a:rPr lang="zh-CN" altLang="en-US" sz="700" dirty="0" smtClean="0">
                <a:latin typeface="+mj-lt"/>
              </a:rPr>
              <a:t>则平衡</a:t>
            </a:r>
            <a:endParaRPr lang="zh-CN" altLang="en-US" sz="700" dirty="0">
              <a:latin typeface="+mj-lt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755877" y="596720"/>
            <a:ext cx="8691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Exploring Real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/>
              <p:cNvSpPr txBox="1"/>
              <p:nvPr/>
            </p:nvSpPr>
            <p:spPr>
              <a:xfrm>
                <a:off x="2753452" y="695973"/>
                <a:ext cx="1959284" cy="639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Context: 16 Types  A-&gt;B | X</a:t>
                </a:r>
              </a:p>
              <a:p>
                <a:r>
                  <a:rPr lang="en-US" altLang="zh-CN" sz="700" dirty="0" smtClean="0">
                    <a:latin typeface="+mj-lt"/>
                  </a:rPr>
                  <a:t>Surprise:  A/B</a:t>
                </a:r>
                <a:r>
                  <a:rPr lang="zh-CN" altLang="en-US" sz="700" dirty="0" smtClean="0">
                    <a:latin typeface="+mj-lt"/>
                  </a:rPr>
                  <a:t>在</a:t>
                </a:r>
                <a:r>
                  <a:rPr lang="en-US" altLang="zh-CN" sz="700" dirty="0" smtClean="0">
                    <a:latin typeface="+mj-lt"/>
                  </a:rPr>
                  <a:t>X</a:t>
                </a:r>
                <a:r>
                  <a:rPr lang="zh-CN" altLang="en-US" sz="700" dirty="0" smtClean="0">
                    <a:latin typeface="+mj-lt"/>
                  </a:rPr>
                  <a:t>中的评价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相比基线偏离程度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每个节点基线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给出正边概率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为三元组中</a:t>
                </a:r>
                <a:r>
                  <a:rPr lang="en-US" altLang="zh-CN" sz="700" dirty="0" smtClean="0">
                    <a:latin typeface="+mj-lt"/>
                  </a:rPr>
                  <a:t>A-&gt;B</a:t>
                </a:r>
                <a:r>
                  <a:rPr lang="zh-CN" altLang="en-US" sz="700" dirty="0" smtClean="0">
                    <a:latin typeface="+mj-lt"/>
                  </a:rPr>
                  <a:t>为</a:t>
                </a:r>
                <a:r>
                  <a:rPr lang="en-US" altLang="zh-CN" sz="700" dirty="0" smtClean="0">
                    <a:latin typeface="+mj-lt"/>
                  </a:rPr>
                  <a:t>+</a:t>
                </a:r>
                <a:r>
                  <a:rPr lang="zh-CN" altLang="en-US" sz="700" dirty="0" smtClean="0">
                    <a:latin typeface="+mj-lt"/>
                  </a:rPr>
                  <a:t>的次数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此时对同种类型的所有三元组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zh-CN" altLang="en-US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87" name="文本框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52" y="695973"/>
                <a:ext cx="1959284" cy="639662"/>
              </a:xfrm>
              <a:prstGeom prst="rect">
                <a:avLst/>
              </a:prstGeom>
              <a:blipFill>
                <a:blip r:embed="rId16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004282" y="855206"/>
            <a:ext cx="308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/>
              <a:t>+/-</a:t>
            </a:r>
            <a:endParaRPr lang="zh-CN" altLang="en-US" sz="800" dirty="0"/>
          </a:p>
        </p:txBody>
      </p:sp>
      <p:sp>
        <p:nvSpPr>
          <p:cNvPr id="94" name="文本框 93"/>
          <p:cNvSpPr txBox="1"/>
          <p:nvPr/>
        </p:nvSpPr>
        <p:spPr>
          <a:xfrm>
            <a:off x="4560893" y="1088735"/>
            <a:ext cx="308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/>
              <a:t>+/-</a:t>
            </a:r>
            <a:endParaRPr lang="zh-CN" altLang="en-US" sz="800" dirty="0"/>
          </a:p>
        </p:txBody>
      </p:sp>
      <p:sp>
        <p:nvSpPr>
          <p:cNvPr id="88" name="椭圆 87"/>
          <p:cNvSpPr/>
          <p:nvPr/>
        </p:nvSpPr>
        <p:spPr>
          <a:xfrm>
            <a:off x="4809594" y="705052"/>
            <a:ext cx="123769" cy="1237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 smtClean="0">
                <a:solidFill>
                  <a:schemeClr val="tx1"/>
                </a:solidFill>
              </a:rPr>
              <a:t>B</a:t>
            </a:r>
            <a:endParaRPr lang="zh-CN" altLang="en-US" sz="600" dirty="0">
              <a:solidFill>
                <a:schemeClr val="tx1"/>
              </a:solidFill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4968890" y="993218"/>
            <a:ext cx="123769" cy="1237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tx1"/>
                </a:solidFill>
              </a:rPr>
              <a:t>X</a:t>
            </a:r>
            <a:endParaRPr lang="zh-CN" altLang="en-US" sz="600" dirty="0">
              <a:solidFill>
                <a:schemeClr val="tx1"/>
              </a:solidFill>
            </a:endParaRPr>
          </a:p>
        </p:txBody>
      </p:sp>
      <p:sp>
        <p:nvSpPr>
          <p:cNvPr id="93" name="椭圆 92"/>
          <p:cNvSpPr/>
          <p:nvPr/>
        </p:nvSpPr>
        <p:spPr>
          <a:xfrm>
            <a:off x="4633158" y="990715"/>
            <a:ext cx="123769" cy="1237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tx1"/>
                </a:solidFill>
              </a:rPr>
              <a:t>A</a:t>
            </a:r>
            <a:endParaRPr lang="zh-CN" altLang="en-US" sz="600" dirty="0">
              <a:solidFill>
                <a:schemeClr val="tx1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4776740" y="1052599"/>
            <a:ext cx="156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4927764" y="818902"/>
            <a:ext cx="97413" cy="164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4871478" y="1191983"/>
            <a:ext cx="1747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>
            <a:off x="5077276" y="745825"/>
            <a:ext cx="103670" cy="1555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4923678" y="758986"/>
            <a:ext cx="316528" cy="248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/>
              <a:t>or</a:t>
            </a:r>
            <a:endParaRPr lang="zh-CN" altLang="en-US" sz="800" dirty="0"/>
          </a:p>
        </p:txBody>
      </p:sp>
      <p:sp>
        <p:nvSpPr>
          <p:cNvPr id="102" name="文本框 101"/>
          <p:cNvSpPr txBox="1"/>
          <p:nvPr/>
        </p:nvSpPr>
        <p:spPr>
          <a:xfrm>
            <a:off x="4727251" y="1000158"/>
            <a:ext cx="316528" cy="248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/>
              <a:t>or</a:t>
            </a:r>
            <a:endParaRPr lang="zh-CN" altLang="en-US" sz="800" dirty="0"/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4727251" y="828821"/>
            <a:ext cx="82343" cy="13410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/>
              <p:cNvSpPr txBox="1"/>
              <p:nvPr/>
            </p:nvSpPr>
            <p:spPr>
              <a:xfrm>
                <a:off x="3255765" y="1126795"/>
                <a:ext cx="1959284" cy="308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−∑</m:t>
                        </m:r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800" i="1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sSubPr>
                                <m:ctrlP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n-US" altLang="zh-CN" sz="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800" i="1">
                                <a:latin typeface="Cambria Math" panose="02040503050406030204" pitchFamily="18" charset="0"/>
                              </a:rPr>
                              <m:t>)(1−</m:t>
                            </m:r>
                            <m:sSub>
                              <m:sSubPr>
                                <m:ctrlP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n-US" altLang="zh-CN" sz="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800" i="1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800" dirty="0" smtClean="0">
                    <a:latin typeface="+mj-lt"/>
                  </a:rPr>
                  <a:t> </a:t>
                </a:r>
                <a:endParaRPr lang="zh-CN" altLang="en-US" sz="800" dirty="0">
                  <a:latin typeface="+mj-lt"/>
                </a:endParaRPr>
              </a:p>
            </p:txBody>
          </p:sp>
        </mc:Choice>
        <mc:Fallback xmlns=""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765" y="1126795"/>
                <a:ext cx="1959284" cy="30886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文本框 104"/>
          <p:cNvSpPr txBox="1"/>
          <p:nvPr/>
        </p:nvSpPr>
        <p:spPr>
          <a:xfrm>
            <a:off x="2766390" y="1346701"/>
            <a:ext cx="13356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5  </a:t>
            </a:r>
            <a:r>
              <a:rPr lang="en-US" altLang="zh-CN" sz="700" b="1" dirty="0">
                <a:latin typeface="+mj-lt"/>
              </a:rPr>
              <a:t>Cascade Behavior in Networks</a:t>
            </a:r>
          </a:p>
        </p:txBody>
      </p:sp>
      <p:cxnSp>
        <p:nvCxnSpPr>
          <p:cNvPr id="132" name="直接连接符 131"/>
          <p:cNvCxnSpPr/>
          <p:nvPr/>
        </p:nvCxnSpPr>
        <p:spPr>
          <a:xfrm>
            <a:off x="2836234" y="1389277"/>
            <a:ext cx="24039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2774822" y="1436098"/>
            <a:ext cx="9909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Decision based models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/>
              <p:cNvSpPr txBox="1"/>
              <p:nvPr/>
            </p:nvSpPr>
            <p:spPr>
              <a:xfrm>
                <a:off x="2751370" y="1531449"/>
                <a:ext cx="255692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Collective Action Model:  </a:t>
                </a:r>
                <a:r>
                  <a:rPr lang="zh-CN" altLang="en-US" sz="700" dirty="0" smtClean="0">
                    <a:latin typeface="+mj-lt"/>
                  </a:rPr>
                  <a:t>每个人具有阈值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若整个图中超过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比例的人</a:t>
                </a:r>
                <a:r>
                  <a:rPr lang="en-US" altLang="zh-CN" sz="700" dirty="0" smtClean="0">
                    <a:latin typeface="+mj-lt"/>
                  </a:rPr>
                  <a:t>”</a:t>
                </a:r>
                <a:r>
                  <a:rPr lang="zh-CN" altLang="en-US" sz="700" dirty="0" smtClean="0">
                    <a:latin typeface="+mj-lt"/>
                  </a:rPr>
                  <a:t>行动</a:t>
                </a:r>
                <a:r>
                  <a:rPr lang="en-US" altLang="zh-CN" sz="700" dirty="0" smtClean="0">
                    <a:latin typeface="+mj-lt"/>
                  </a:rPr>
                  <a:t>”, </a:t>
                </a:r>
                <a:r>
                  <a:rPr lang="zh-CN" altLang="en-US" sz="700" dirty="0" smtClean="0">
                    <a:latin typeface="+mj-lt"/>
                  </a:rPr>
                  <a:t>则行动</a:t>
                </a:r>
                <a:r>
                  <a:rPr lang="en-US" altLang="zh-CN" sz="700" dirty="0" smtClean="0">
                    <a:latin typeface="+mj-lt"/>
                  </a:rPr>
                  <a:t>;   </a:t>
                </a:r>
                <a:r>
                  <a:rPr lang="zh-CN" altLang="en-US" sz="700" dirty="0" smtClean="0">
                    <a:latin typeface="+mj-lt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人数</a:t>
                </a:r>
                <a:endParaRPr lang="en-US" altLang="zh-CN" sz="700" dirty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则最终行动人数趋向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交点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且交点选择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取决于起始点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未考虑网络结构影响且实际网络不为完全图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Game-Theoretic Model: </a:t>
                </a:r>
                <a:r>
                  <a:rPr lang="zh-CN" altLang="en-US" sz="700" dirty="0" smtClean="0">
                    <a:latin typeface="+mj-lt"/>
                  </a:rPr>
                  <a:t>每个人可选决策</a:t>
                </a:r>
                <a:r>
                  <a:rPr lang="en-US" altLang="zh-CN" sz="700" dirty="0" smtClean="0">
                    <a:latin typeface="+mj-lt"/>
                  </a:rPr>
                  <a:t>A/B,  </a:t>
                </a:r>
                <a:r>
                  <a:rPr lang="zh-CN" altLang="en-US" sz="700" dirty="0" smtClean="0">
                    <a:latin typeface="+mj-lt"/>
                  </a:rPr>
                  <a:t>若双方相同决策则均收益</a:t>
                </a:r>
                <a:r>
                  <a:rPr lang="en-US" altLang="zh-CN" sz="700" dirty="0" smtClean="0">
                    <a:latin typeface="+mj-lt"/>
                  </a:rPr>
                  <a:t>a/b,  </a:t>
                </a:r>
                <a:r>
                  <a:rPr lang="zh-CN" altLang="en-US" sz="700" dirty="0" smtClean="0">
                    <a:latin typeface="+mj-lt"/>
                  </a:rPr>
                  <a:t>否则收益</a:t>
                </a:r>
                <a:r>
                  <a:rPr lang="en-US" altLang="zh-CN" sz="700" dirty="0" smtClean="0">
                    <a:latin typeface="+mj-lt"/>
                  </a:rPr>
                  <a:t>0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假设初始小部分为</a:t>
                </a:r>
                <a:r>
                  <a:rPr lang="en-US" altLang="zh-CN" sz="700" dirty="0" smtClean="0">
                    <a:latin typeface="+mj-lt"/>
                  </a:rPr>
                  <a:t>A, </a:t>
                </a:r>
                <a:r>
                  <a:rPr lang="zh-CN" altLang="en-US" sz="700" dirty="0" smtClean="0">
                    <a:latin typeface="+mj-lt"/>
                  </a:rPr>
                  <a:t>其他为</a:t>
                </a:r>
                <a:r>
                  <a:rPr lang="en-US" altLang="zh-CN" sz="700" dirty="0" smtClean="0">
                    <a:latin typeface="+mj-lt"/>
                  </a:rPr>
                  <a:t>B, </a:t>
                </a:r>
                <a:r>
                  <a:rPr lang="zh-CN" altLang="en-US" sz="700" dirty="0" smtClean="0">
                    <a:latin typeface="+mj-lt"/>
                  </a:rPr>
                  <a:t>且仅进行</a:t>
                </a:r>
                <a:r>
                  <a:rPr lang="en-US" altLang="zh-CN" sz="700" dirty="0" smtClean="0">
                    <a:latin typeface="+mj-lt"/>
                  </a:rPr>
                  <a:t>B-&gt;A</a:t>
                </a:r>
                <a:r>
                  <a:rPr lang="zh-CN" altLang="en-US" sz="700" dirty="0" smtClean="0">
                    <a:latin typeface="+mj-lt"/>
                  </a:rPr>
                  <a:t>转换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此时若邻接节点比例大于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则进行转换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Cascade Capacity: </a:t>
                </a:r>
                <a:r>
                  <a:rPr lang="zh-CN" altLang="en-US" sz="700" dirty="0" smtClean="0">
                    <a:latin typeface="+mj-lt"/>
                  </a:rPr>
                  <a:t>无限图中引起级联的最大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Cluster of density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节点集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节点边中至少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比例在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内部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添加桥接边阻止级联</a:t>
                </a:r>
                <a:r>
                  <a:rPr lang="en-US" altLang="zh-CN" sz="700" dirty="0" smtClean="0">
                    <a:latin typeface="+mj-lt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&gt;1−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700" i="1">
                        <a:latin typeface="Cambria Math" panose="02040503050406030204" pitchFamily="18" charset="0"/>
                      </a:rPr>
                      <m:t>in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34" name="文本框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370" y="1531449"/>
                <a:ext cx="2556924" cy="138499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/>
          <p:cNvGrpSpPr/>
          <p:nvPr/>
        </p:nvGrpSpPr>
        <p:grpSpPr>
          <a:xfrm>
            <a:off x="4609632" y="1655290"/>
            <a:ext cx="599138" cy="468399"/>
            <a:chOff x="4609632" y="1706086"/>
            <a:chExt cx="599138" cy="46839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4678417" y="1711930"/>
              <a:ext cx="0" cy="45570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4609632" y="2117762"/>
              <a:ext cx="519479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4619950" y="1706086"/>
              <a:ext cx="466272" cy="468399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4757391" y="1966078"/>
              <a:ext cx="237282" cy="150027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600" dirty="0"/>
                <a:t>y</a:t>
              </a:r>
              <a:r>
                <a:rPr lang="en-US" altLang="zh-CN" sz="600" dirty="0" smtClean="0"/>
                <a:t>=x</a:t>
              </a:r>
              <a:endParaRPr lang="zh-CN" altLang="en-US" sz="600" dirty="0"/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4963674" y="1706086"/>
              <a:ext cx="245096" cy="150027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600" dirty="0" smtClean="0"/>
                <a:t>F(x)</a:t>
              </a:r>
              <a:endParaRPr lang="zh-CN" altLang="en-US" sz="600" dirty="0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4675408" y="1711930"/>
              <a:ext cx="515888" cy="332326"/>
            </a:xfrm>
            <a:custGeom>
              <a:avLst/>
              <a:gdLst>
                <a:gd name="connsiteX0" fmla="*/ 0 w 635000"/>
                <a:gd name="connsiteY0" fmla="*/ 406400 h 409056"/>
                <a:gd name="connsiteX1" fmla="*/ 212725 w 635000"/>
                <a:gd name="connsiteY1" fmla="*/ 368300 h 409056"/>
                <a:gd name="connsiteX2" fmla="*/ 300037 w 635000"/>
                <a:gd name="connsiteY2" fmla="*/ 123825 h 409056"/>
                <a:gd name="connsiteX3" fmla="*/ 536575 w 635000"/>
                <a:gd name="connsiteY3" fmla="*/ 15875 h 409056"/>
                <a:gd name="connsiteX4" fmla="*/ 635000 w 635000"/>
                <a:gd name="connsiteY4" fmla="*/ 0 h 40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000" h="409056">
                  <a:moveTo>
                    <a:pt x="0" y="406400"/>
                  </a:moveTo>
                  <a:cubicBezTo>
                    <a:pt x="81359" y="410898"/>
                    <a:pt x="162719" y="415396"/>
                    <a:pt x="212725" y="368300"/>
                  </a:cubicBezTo>
                  <a:cubicBezTo>
                    <a:pt x="262731" y="321204"/>
                    <a:pt x="246062" y="182562"/>
                    <a:pt x="300037" y="123825"/>
                  </a:cubicBezTo>
                  <a:cubicBezTo>
                    <a:pt x="354012" y="65087"/>
                    <a:pt x="480748" y="36512"/>
                    <a:pt x="536575" y="15875"/>
                  </a:cubicBezTo>
                  <a:cubicBezTo>
                    <a:pt x="592402" y="-4762"/>
                    <a:pt x="612775" y="3175"/>
                    <a:pt x="635000" y="0"/>
                  </a:cubicBez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4754691" y="1952002"/>
              <a:ext cx="120688" cy="89090"/>
            </a:xfrm>
            <a:custGeom>
              <a:avLst/>
              <a:gdLst>
                <a:gd name="connsiteX0" fmla="*/ 436562 w 436562"/>
                <a:gd name="connsiteY0" fmla="*/ 0 h 322262"/>
                <a:gd name="connsiteX1" fmla="*/ 311150 w 436562"/>
                <a:gd name="connsiteY1" fmla="*/ 0 h 322262"/>
                <a:gd name="connsiteX2" fmla="*/ 311150 w 436562"/>
                <a:gd name="connsiteY2" fmla="*/ 238125 h 322262"/>
                <a:gd name="connsiteX3" fmla="*/ 76200 w 436562"/>
                <a:gd name="connsiteY3" fmla="*/ 238125 h 322262"/>
                <a:gd name="connsiteX4" fmla="*/ 76200 w 436562"/>
                <a:gd name="connsiteY4" fmla="*/ 322262 h 322262"/>
                <a:gd name="connsiteX5" fmla="*/ 0 w 436562"/>
                <a:gd name="connsiteY5" fmla="*/ 322262 h 32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562" h="322262">
                  <a:moveTo>
                    <a:pt x="436562" y="0"/>
                  </a:moveTo>
                  <a:lnTo>
                    <a:pt x="311150" y="0"/>
                  </a:lnTo>
                  <a:lnTo>
                    <a:pt x="311150" y="238125"/>
                  </a:lnTo>
                  <a:lnTo>
                    <a:pt x="76200" y="238125"/>
                  </a:lnTo>
                  <a:lnTo>
                    <a:pt x="76200" y="322262"/>
                  </a:lnTo>
                  <a:lnTo>
                    <a:pt x="0" y="322262"/>
                  </a:lnTo>
                </a:path>
              </a:pathLst>
            </a:custGeom>
            <a:noFill/>
            <a:ln w="6350">
              <a:solidFill>
                <a:schemeClr val="tx1"/>
              </a:solidFill>
              <a:headEnd type="none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4906540" y="1755389"/>
              <a:ext cx="129905" cy="75485"/>
            </a:xfrm>
            <a:custGeom>
              <a:avLst/>
              <a:gdLst>
                <a:gd name="connsiteX0" fmla="*/ 0 w 469900"/>
                <a:gd name="connsiteY0" fmla="*/ 273050 h 273050"/>
                <a:gd name="connsiteX1" fmla="*/ 204787 w 469900"/>
                <a:gd name="connsiteY1" fmla="*/ 273050 h 273050"/>
                <a:gd name="connsiteX2" fmla="*/ 204787 w 469900"/>
                <a:gd name="connsiteY2" fmla="*/ 85725 h 273050"/>
                <a:gd name="connsiteX3" fmla="*/ 385762 w 469900"/>
                <a:gd name="connsiteY3" fmla="*/ 85725 h 273050"/>
                <a:gd name="connsiteX4" fmla="*/ 385762 w 469900"/>
                <a:gd name="connsiteY4" fmla="*/ 0 h 273050"/>
                <a:gd name="connsiteX5" fmla="*/ 469900 w 469900"/>
                <a:gd name="connsiteY5" fmla="*/ 0 h 27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9900" h="273050">
                  <a:moveTo>
                    <a:pt x="0" y="273050"/>
                  </a:moveTo>
                  <a:lnTo>
                    <a:pt x="204787" y="273050"/>
                  </a:lnTo>
                  <a:lnTo>
                    <a:pt x="204787" y="85725"/>
                  </a:lnTo>
                  <a:lnTo>
                    <a:pt x="385762" y="85725"/>
                  </a:lnTo>
                  <a:lnTo>
                    <a:pt x="385762" y="0"/>
                  </a:lnTo>
                  <a:lnTo>
                    <a:pt x="469900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headEnd type="none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7" name="文本框 136"/>
          <p:cNvSpPr txBox="1"/>
          <p:nvPr/>
        </p:nvSpPr>
        <p:spPr>
          <a:xfrm>
            <a:off x="2758597" y="2813269"/>
            <a:ext cx="1223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Probability Spreading Models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/>
              <p:cNvSpPr txBox="1"/>
              <p:nvPr/>
            </p:nvSpPr>
            <p:spPr>
              <a:xfrm>
                <a:off x="2757252" y="2902689"/>
                <a:ext cx="2556924" cy="1314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Epidemic Model based on Random Trees:  </a:t>
                </a:r>
                <a:r>
                  <a:rPr lang="zh-CN" altLang="en-US" sz="700" dirty="0" smtClean="0">
                    <a:latin typeface="+mj-lt"/>
                  </a:rPr>
                  <a:t>考虑每个感染者接触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人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概率</m:t>
                    </m:r>
                    <m:r>
                      <a:rPr lang="zh-CN" altLang="en-US" sz="700" i="1" smtClean="0">
                        <a:latin typeface="Cambria Math" panose="02040503050406030204" pitchFamily="18" charset="0"/>
                      </a:rPr>
                      <m:t>感染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  <a:r>
                  <a:rPr lang="zh-CN" altLang="en-US" sz="700" dirty="0" smtClean="0">
                    <a:latin typeface="+mj-lt"/>
                  </a:rPr>
                  <a:t>在第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次迭代</a:t>
                </a:r>
                <a:r>
                  <a:rPr lang="zh-CN" altLang="en-US" sz="700" dirty="0">
                    <a:latin typeface="+mj-lt"/>
                  </a:rPr>
                  <a:t>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人感染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</m:t>
                    </m:r>
                    <m:limLow>
                      <m:limLow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iter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 1−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𝑞𝑥</m:t>
                            </m:r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700" b="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SIR model:  Susceptible-&gt;Infected-&gt;Recovered</a:t>
                </a:r>
              </a:p>
              <a:p>
                <a:r>
                  <a:rPr lang="en-US" altLang="zh-CN" sz="700" dirty="0" smtClean="0">
                    <a:latin typeface="+mj-lt"/>
                  </a:rPr>
                  <a:t>I</a:t>
                </a:r>
                <a:r>
                  <a:rPr lang="zh-CN" altLang="en-US" sz="700" dirty="0">
                    <a:latin typeface="+mj-lt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概率感染</a:t>
                </a:r>
                <a:r>
                  <a:rPr lang="en-US" altLang="zh-CN" sz="700" dirty="0" smtClean="0">
                    <a:latin typeface="+mj-lt"/>
                  </a:rPr>
                  <a:t>S,  I</a:t>
                </a:r>
                <a:r>
                  <a:rPr lang="zh-CN" altLang="en-US" sz="700" dirty="0" smtClean="0">
                    <a:latin typeface="+mj-lt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概率康复</a:t>
                </a:r>
                <a:r>
                  <a:rPr lang="en-US" altLang="zh-CN" sz="700" dirty="0" smtClean="0">
                    <a:latin typeface="+mj-lt"/>
                  </a:rPr>
                  <a:t>(R);   SIS model</a:t>
                </a:r>
                <a:r>
                  <a:rPr lang="zh-CN" altLang="en-US" sz="700" dirty="0" smtClean="0">
                    <a:latin typeface="+mj-lt"/>
                  </a:rPr>
                  <a:t>中</a:t>
                </a:r>
                <a:r>
                  <a:rPr lang="en-US" altLang="zh-CN" sz="700" dirty="0" smtClean="0">
                    <a:latin typeface="+mj-lt"/>
                  </a:rPr>
                  <a:t>I</a:t>
                </a:r>
                <a:r>
                  <a:rPr lang="zh-CN" altLang="en-US" sz="700" dirty="0" smtClean="0">
                    <a:latin typeface="+mj-lt"/>
                  </a:rPr>
                  <a:t>康复转换为</a:t>
                </a:r>
                <a:r>
                  <a:rPr lang="en-US" altLang="zh-CN" sz="700" dirty="0" smtClean="0">
                    <a:latin typeface="+mj-lt"/>
                  </a:rPr>
                  <a:t>S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时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邻接矩阵最大特征值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时疾病持续存在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Independent Cascade Model:  </a:t>
                </a:r>
                <a:r>
                  <a:rPr lang="zh-CN" altLang="en-US" sz="700" dirty="0" smtClean="0">
                    <a:latin typeface="+mj-lt"/>
                  </a:rPr>
                  <a:t>初始部分节点激活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每两节点之间存在激活概率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之间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只进行一次激活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全等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等效</a:t>
                </a:r>
                <a:r>
                  <a:rPr lang="en-US" altLang="zh-CN" sz="700" dirty="0" smtClean="0">
                    <a:latin typeface="+mj-lt"/>
                  </a:rPr>
                  <a:t>SIR)</a:t>
                </a:r>
              </a:p>
              <a:p>
                <a:r>
                  <a:rPr lang="en-US" altLang="zh-CN" sz="700" dirty="0" smtClean="0">
                    <a:latin typeface="+mj-lt"/>
                  </a:rPr>
                  <a:t>Exposure curve: </a:t>
                </a:r>
                <a:r>
                  <a:rPr lang="zh-CN" altLang="en-US" sz="700" dirty="0" smtClean="0">
                    <a:latin typeface="+mj-lt"/>
                  </a:rPr>
                  <a:t>用户采纳概率 </a:t>
                </a:r>
                <a:r>
                  <a:rPr lang="en-US" altLang="zh-CN" sz="700" dirty="0" smtClean="0">
                    <a:latin typeface="+mj-lt"/>
                  </a:rPr>
                  <a:t>vs. </a:t>
                </a:r>
                <a:r>
                  <a:rPr lang="zh-CN" altLang="en-US" sz="700" dirty="0" smtClean="0">
                    <a:latin typeface="+mj-lt"/>
                  </a:rPr>
                  <a:t>用户被推荐次数</a:t>
                </a:r>
                <a:endParaRPr lang="en-US" altLang="zh-CN" sz="700" dirty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Persistence:  </a:t>
                </a:r>
                <a:r>
                  <a:rPr lang="zh-CN" altLang="en-US" sz="700" dirty="0" smtClean="0">
                    <a:latin typeface="+mj-lt"/>
                  </a:rPr>
                  <a:t>曲线下方面积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衡量曲线衰减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Stickiness:  </a:t>
                </a:r>
                <a:r>
                  <a:rPr lang="zh-CN" altLang="en-US" sz="700" dirty="0" smtClean="0">
                    <a:latin typeface="+mj-lt"/>
                  </a:rPr>
                  <a:t>曲线最大值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衡量吸引力或推荐效率</a:t>
                </a:r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52" y="2902689"/>
                <a:ext cx="2556924" cy="13142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文本框 138"/>
          <p:cNvSpPr txBox="1"/>
          <p:nvPr/>
        </p:nvSpPr>
        <p:spPr>
          <a:xfrm>
            <a:off x="2766996" y="4121169"/>
            <a:ext cx="17796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6 Influence </a:t>
            </a:r>
            <a:r>
              <a:rPr lang="en-US" altLang="zh-CN" sz="700" b="1" dirty="0">
                <a:latin typeface="+mj-lt"/>
              </a:rPr>
              <a:t>maximization and </a:t>
            </a:r>
            <a:r>
              <a:rPr lang="en-US" altLang="zh-CN" sz="700" b="1" dirty="0" err="1" smtClean="0">
                <a:latin typeface="+mj-lt"/>
              </a:rPr>
              <a:t>submodularity</a:t>
            </a:r>
            <a:endParaRPr lang="en-US" altLang="zh-CN" sz="700" b="1" dirty="0">
              <a:latin typeface="+mj-lt"/>
            </a:endParaRPr>
          </a:p>
        </p:txBody>
      </p:sp>
      <p:cxnSp>
        <p:nvCxnSpPr>
          <p:cNvPr id="140" name="直接连接符 139"/>
          <p:cNvCxnSpPr/>
          <p:nvPr/>
        </p:nvCxnSpPr>
        <p:spPr>
          <a:xfrm>
            <a:off x="4122863" y="6649925"/>
            <a:ext cx="24039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/>
              <p:cNvSpPr txBox="1"/>
              <p:nvPr/>
            </p:nvSpPr>
            <p:spPr>
              <a:xfrm>
                <a:off x="2767926" y="4219276"/>
                <a:ext cx="2556924" cy="250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考虑</a:t>
                </a:r>
                <a:r>
                  <a:rPr lang="en-US" altLang="zh-CN" sz="700" dirty="0" smtClean="0">
                    <a:latin typeface="+mj-lt"/>
                  </a:rPr>
                  <a:t>Independent Cascade Model</a:t>
                </a:r>
                <a:r>
                  <a:rPr lang="zh-CN" altLang="en-US" sz="700" dirty="0" smtClean="0">
                    <a:latin typeface="+mj-lt"/>
                  </a:rPr>
                  <a:t>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给定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:r>
                  <a:rPr lang="en-US" altLang="zh-CN" sz="700" dirty="0">
                    <a:latin typeface="+mj-lt"/>
                  </a:rPr>
                  <a:t> </a:t>
                </a:r>
                <a:r>
                  <a:rPr lang="zh-CN" altLang="en-US" sz="700" dirty="0" smtClean="0">
                    <a:latin typeface="+mj-lt"/>
                  </a:rPr>
                  <a:t>选取一小部分种子节点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节点数量约束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；</a:t>
                </a:r>
                <a:r>
                  <a:rPr lang="en-US" altLang="zh-CN" sz="700" dirty="0">
                    <a:latin typeface="+mj-lt"/>
                  </a:rPr>
                  <a:t> </a:t>
                </a:r>
                <a:r>
                  <a:rPr lang="en-US" altLang="zh-CN" sz="700" dirty="0" smtClean="0">
                    <a:latin typeface="+mj-lt"/>
                  </a:rPr>
                  <a:t> </a:t>
                </a:r>
                <a:r>
                  <a:rPr lang="zh-CN" altLang="en-US" sz="700" dirty="0" smtClean="0">
                    <a:latin typeface="+mj-lt"/>
                  </a:rPr>
                  <a:t>目标</a:t>
                </a:r>
                <a:r>
                  <a:rPr lang="en-US" altLang="zh-CN" sz="700" dirty="0" smtClean="0">
                    <a:latin typeface="+mj-lt"/>
                  </a:rPr>
                  <a:t>:  </a:t>
                </a:r>
                <a:r>
                  <a:rPr lang="zh-CN" altLang="en-US" sz="700" dirty="0" smtClean="0">
                    <a:latin typeface="+mj-lt"/>
                  </a:rPr>
                  <a:t>选取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使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最终期望激活节点数量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最大化</a:t>
                </a:r>
                <a:r>
                  <a:rPr lang="en-US" altLang="zh-CN" sz="700" dirty="0" smtClean="0">
                    <a:latin typeface="+mj-lt"/>
                  </a:rPr>
                  <a:t>,  </a:t>
                </a:r>
                <a:r>
                  <a:rPr lang="zh-CN" altLang="en-US" sz="700" dirty="0" smtClean="0">
                    <a:latin typeface="+mj-lt"/>
                  </a:rPr>
                  <a:t>无法精确求解</a:t>
                </a:r>
                <a:r>
                  <a:rPr lang="en-US" altLang="zh-CN" sz="700" dirty="0" smtClean="0">
                    <a:latin typeface="+mj-lt"/>
                  </a:rPr>
                  <a:t>(NP)</a:t>
                </a:r>
              </a:p>
              <a:p>
                <a:r>
                  <a:rPr lang="zh-CN" altLang="en-US" sz="700" dirty="0" smtClean="0">
                    <a:latin typeface="+mj-lt"/>
                  </a:rPr>
                  <a:t>近似 </a:t>
                </a:r>
                <a:r>
                  <a:rPr lang="en-US" altLang="zh-CN" sz="700" dirty="0" smtClean="0">
                    <a:latin typeface="+mj-lt"/>
                  </a:rPr>
                  <a:t>– </a:t>
                </a:r>
                <a:r>
                  <a:rPr lang="zh-CN" altLang="en-US" sz="700" dirty="0" smtClean="0">
                    <a:latin typeface="+mj-lt"/>
                  </a:rPr>
                  <a:t>贪心爬山算法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输入每节点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可影响的节点集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每次迭代计算边界效应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∪{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并加入最大节点</a:t>
                </a:r>
                <a:endParaRPr lang="en-US" altLang="zh-CN" sz="700" dirty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&gt;0.63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证明</a:t>
                </a:r>
                <a:r>
                  <a:rPr lang="en-US" altLang="zh-CN" sz="700" dirty="0" smtClean="0">
                    <a:latin typeface="+mj-lt"/>
                  </a:rPr>
                  <a:t>:  submodular</a:t>
                </a:r>
                <a:r>
                  <a:rPr lang="zh-CN" altLang="en-US" sz="700" dirty="0" smtClean="0">
                    <a:latin typeface="+mj-lt"/>
                  </a:rPr>
                  <a:t>函数满足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altLang="zh-CN" sz="700" b="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易得期望激活节点数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:r>
                  <a:rPr lang="en-US" altLang="zh-CN" sz="700" dirty="0" smtClean="0">
                    <a:latin typeface="+mj-lt"/>
                  </a:rPr>
                  <a:t>submodular</a:t>
                </a:r>
                <a:r>
                  <a:rPr lang="zh-CN" altLang="en-US" sz="700" dirty="0" smtClean="0">
                    <a:latin typeface="+mj-lt"/>
                  </a:rPr>
                  <a:t>且单调递增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设迭代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部后选取节点为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为最优解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定义边界增益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[0]  </a:t>
                </a:r>
                <a:r>
                  <a:rPr lang="zh-CN" altLang="en-US" sz="700" dirty="0">
                    <a:latin typeface="+mj-lt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:r>
                  <a:rPr lang="en-US" altLang="zh-CN" sz="700" dirty="0" smtClean="0">
                    <a:latin typeface="+mj-lt"/>
                  </a:rPr>
                  <a:t>submodular</a:t>
                </a:r>
              </a:p>
              <a:p>
                <a:r>
                  <a:rPr lang="zh-CN" altLang="en-US" sz="700" dirty="0" smtClean="0">
                    <a:latin typeface="+mj-lt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7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)]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≤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=1→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∪{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:r>
                  <a:rPr lang="en-US" altLang="zh-CN" sz="700" dirty="0" smtClean="0">
                    <a:latin typeface="+mj-lt"/>
                  </a:rPr>
                  <a:t>[1]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𝑂𝑃𝑇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𝑂𝑃𝑇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𝑂𝑃𝑇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700" b="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𝑂𝑃𝑇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/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[2]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1−1/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+(1/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𝑂𝑃𝑇</m:t>
                        </m:r>
                      </m:e>
                    </m:d>
                  </m:oMath>
                </a14:m>
                <a:endParaRPr lang="en-US" altLang="zh-CN" sz="700" b="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[3] </a:t>
                </a:r>
                <a14:m>
                  <m:oMath xmlns:m="http://schemas.openxmlformats.org/officeDocument/2006/math">
                    <m:r>
                      <a:rPr lang="zh-CN" altLang="en-US" sz="700" b="0" i="1" dirty="0">
                        <a:latin typeface="Cambria Math" panose="02040503050406030204" pitchFamily="18" charset="0"/>
                      </a:rPr>
                      <m:t>假设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1−1/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时两边空集为</a:t>
                </a:r>
                <a:r>
                  <a:rPr lang="en-US" altLang="zh-CN" sz="700" dirty="0" smtClean="0">
                    <a:latin typeface="+mj-lt"/>
                  </a:rPr>
                  <a:t>0</a:t>
                </a:r>
              </a:p>
              <a:p>
                <a:r>
                  <a:rPr lang="zh-CN" altLang="en-US" sz="700" dirty="0" smtClean="0">
                    <a:latin typeface="+mj-lt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时成立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时代入</a:t>
                </a:r>
                <a14:m>
                  <m:oMath xmlns:m="http://schemas.openxmlformats.org/officeDocument/2006/math"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[2]</m:t>
                    </m:r>
                    <m:r>
                      <a:rPr lang="zh-CN" altLang="en-US" sz="700" i="1" dirty="0">
                        <a:latin typeface="Cambria Math" panose="02040503050406030204" pitchFamily="18" charset="0"/>
                      </a:rPr>
                      <m:t>得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仍成立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𝑂𝑃𝑇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≥(1−1/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926" y="4219276"/>
                <a:ext cx="2556924" cy="250299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文本框 135"/>
          <p:cNvSpPr txBox="1"/>
          <p:nvPr/>
        </p:nvSpPr>
        <p:spPr>
          <a:xfrm>
            <a:off x="4146402" y="5815090"/>
            <a:ext cx="8482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此</a:t>
            </a:r>
            <a:r>
              <a:rPr lang="zh-CN" altLang="en-US" sz="700" dirty="0">
                <a:latin typeface="+mj-lt"/>
              </a:rPr>
              <a:t>步</a:t>
            </a:r>
            <a:r>
              <a:rPr lang="zh-CN" altLang="en-US" sz="700" dirty="0" smtClean="0">
                <a:latin typeface="+mj-lt"/>
              </a:rPr>
              <a:t>使用</a:t>
            </a:r>
            <a:r>
              <a:rPr lang="en-US" altLang="zh-CN" sz="700" dirty="0" smtClean="0">
                <a:latin typeface="+mj-lt"/>
              </a:rPr>
              <a:t>[0]</a:t>
            </a:r>
            <a:r>
              <a:rPr lang="zh-CN" altLang="en-US" sz="700" dirty="0" smtClean="0">
                <a:latin typeface="+mj-lt"/>
              </a:rPr>
              <a:t>结论</a:t>
            </a:r>
            <a:endParaRPr lang="en-US" altLang="zh-CN" sz="700" dirty="0" smtClean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/>
              <p:cNvSpPr txBox="1"/>
              <p:nvPr/>
            </p:nvSpPr>
            <p:spPr>
              <a:xfrm>
                <a:off x="4146402" y="5915117"/>
                <a:ext cx="1084935" cy="316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选择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𝑂𝑃𝑇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700" i="1" dirty="0">
                        <a:latin typeface="Cambria Math" panose="02040503050406030204" pitchFamily="18" charset="0"/>
                      </a:rPr>
                      <m:t>收益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贪心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02" y="5915117"/>
                <a:ext cx="1084935" cy="31643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/>
          <p:nvPr/>
        </p:nvSpPr>
        <p:spPr>
          <a:xfrm>
            <a:off x="2844494" y="4904120"/>
            <a:ext cx="2386843" cy="17538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3" name="文本框 142"/>
          <p:cNvSpPr txBox="1"/>
          <p:nvPr/>
        </p:nvSpPr>
        <p:spPr>
          <a:xfrm>
            <a:off x="2794126" y="6653842"/>
            <a:ext cx="9476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7 Outbreak Detection</a:t>
            </a:r>
            <a:endParaRPr lang="en-US" altLang="zh-CN" sz="700" b="1" dirty="0">
              <a:latin typeface="+mj-lt"/>
            </a:endParaRPr>
          </a:p>
        </p:txBody>
      </p:sp>
      <p:cxnSp>
        <p:nvCxnSpPr>
          <p:cNvPr id="144" name="直接连接符 143"/>
          <p:cNvCxnSpPr/>
          <p:nvPr/>
        </p:nvCxnSpPr>
        <p:spPr>
          <a:xfrm>
            <a:off x="2863970" y="6696418"/>
            <a:ext cx="24039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/>
              <p:cNvSpPr txBox="1"/>
              <p:nvPr/>
            </p:nvSpPr>
            <p:spPr>
              <a:xfrm>
                <a:off x="2787494" y="6749507"/>
                <a:ext cx="255692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考虑在网络中对部分节点进行监测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尽早、覆盖更多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信息、疾病等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爆发场景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爆发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影响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节点时间为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目标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选择监测节点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，使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altLang="zh-CN" sz="700" b="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约束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阅读时间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传感器代价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</a:p>
              <a:p>
                <a:r>
                  <a:rPr lang="zh-CN" altLang="en-US" sz="700" dirty="0" smtClean="0">
                    <a:latin typeface="+mj-lt"/>
                  </a:rPr>
                  <a:t>若定义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表示检测时间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爆发影响等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:r>
                  <a:rPr lang="en-US" altLang="zh-CN" sz="700" dirty="0" smtClean="0">
                    <a:latin typeface="+mj-lt"/>
                  </a:rPr>
                  <a:t>submodular</a:t>
                </a:r>
              </a:p>
            </p:txBody>
          </p:sp>
        </mc:Choice>
        <mc:Fallback xmlns="">
          <p:sp>
            <p:nvSpPr>
              <p:cNvPr id="146" name="文本框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494" y="6749507"/>
                <a:ext cx="2556924" cy="738664"/>
              </a:xfrm>
              <a:prstGeom prst="rect">
                <a:avLst/>
              </a:prstGeom>
              <a:blipFill>
                <a:blip r:embed="rId22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直接连接符 149"/>
          <p:cNvCxnSpPr/>
          <p:nvPr/>
        </p:nvCxnSpPr>
        <p:spPr>
          <a:xfrm>
            <a:off x="4516228" y="7119751"/>
            <a:ext cx="2933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/>
              <p:cNvSpPr txBox="1"/>
              <p:nvPr/>
            </p:nvSpPr>
            <p:spPr>
              <a:xfrm>
                <a:off x="4656740" y="7072672"/>
                <a:ext cx="77407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检测爆发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收益</a:t>
                </a:r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51" name="文本框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740" y="7072672"/>
                <a:ext cx="774077" cy="200055"/>
              </a:xfrm>
              <a:prstGeom prst="rect">
                <a:avLst/>
              </a:prstGeom>
              <a:blipFill>
                <a:blip r:embed="rId2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/>
              <p:cNvSpPr txBox="1"/>
              <p:nvPr/>
            </p:nvSpPr>
            <p:spPr>
              <a:xfrm>
                <a:off x="2821842" y="7418057"/>
                <a:ext cx="250300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证明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[1] s</a:t>
                </a:r>
                <a:r>
                  <a:rPr lang="zh-CN" altLang="en-US" sz="700" dirty="0" smtClean="0">
                    <a:latin typeface="+mj-lt"/>
                  </a:rPr>
                  <a:t>检测滞后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无收益  </a:t>
                </a:r>
                <a:r>
                  <a:rPr lang="en-US" altLang="zh-CN" sz="7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[2]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  </a:t>
                </a:r>
                <a:r>
                  <a:rPr lang="zh-CN" altLang="en-US" sz="700" dirty="0" smtClean="0">
                    <a:latin typeface="+mj-lt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之后检测到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但早于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部分节点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[3]  s</a:t>
                </a:r>
                <a:r>
                  <a:rPr lang="zh-CN" altLang="en-US" sz="700" dirty="0" smtClean="0">
                    <a:latin typeface="+mj-lt"/>
                  </a:rPr>
                  <a:t>更早检测</a:t>
                </a:r>
                <a:r>
                  <a:rPr lang="en-US" altLang="zh-CN" sz="700" dirty="0" smtClean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  </a:t>
                </a:r>
                <a:r>
                  <a:rPr lang="zh-CN" altLang="en-US" sz="700" dirty="0" smtClean="0">
                    <a:latin typeface="+mj-lt"/>
                  </a:rPr>
                  <a:t>单调性</a:t>
                </a:r>
                <a14:m>
                  <m:oMath xmlns:m="http://schemas.openxmlformats.org/officeDocument/2006/math">
                    <m:r>
                      <a:rPr lang="en-US" altLang="zh-CN" sz="7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7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7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>
                    <a:latin typeface="+mj-lt"/>
                  </a:rPr>
                  <a:t>)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 </a:t>
                </a:r>
              </a:p>
            </p:txBody>
          </p:sp>
        </mc:Choice>
        <mc:Fallback xmlns="">
          <p:sp>
            <p:nvSpPr>
              <p:cNvPr id="153" name="文本框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842" y="7418057"/>
                <a:ext cx="2503007" cy="95410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矩形 153"/>
          <p:cNvSpPr/>
          <p:nvPr/>
        </p:nvSpPr>
        <p:spPr>
          <a:xfrm>
            <a:off x="2887059" y="7450273"/>
            <a:ext cx="2386843" cy="8775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5" name="文本框 154"/>
          <p:cNvSpPr txBox="1"/>
          <p:nvPr/>
        </p:nvSpPr>
        <p:spPr>
          <a:xfrm>
            <a:off x="2818444" y="8278447"/>
            <a:ext cx="14141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Develop </a:t>
            </a:r>
            <a:r>
              <a:rPr lang="en-US" altLang="zh-CN" sz="700" b="1" dirty="0">
                <a:latin typeface="+mj-lt"/>
              </a:rPr>
              <a:t>an approximate </a:t>
            </a:r>
            <a:r>
              <a:rPr lang="en-US" altLang="zh-CN" sz="700" b="1" dirty="0" smtClean="0">
                <a:latin typeface="+mj-lt"/>
              </a:rPr>
              <a:t>algorithm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/>
              <p:cNvSpPr txBox="1"/>
              <p:nvPr/>
            </p:nvSpPr>
            <p:spPr>
              <a:xfrm>
                <a:off x="2817099" y="8388187"/>
                <a:ext cx="255692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对代价约束问题进行优化</a:t>
                </a:r>
                <a:r>
                  <a:rPr lang="en-US" altLang="zh-CN" sz="700" dirty="0" smtClean="0">
                    <a:latin typeface="+mj-lt"/>
                  </a:rPr>
                  <a:t>:  CELF</a:t>
                </a:r>
              </a:p>
              <a:p>
                <a:r>
                  <a:rPr lang="en-US" altLang="zh-CN" sz="700" dirty="0" smtClean="0">
                    <a:latin typeface="+mj-lt"/>
                  </a:rPr>
                  <a:t>[1] </a:t>
                </a:r>
                <a:r>
                  <a:rPr lang="zh-CN" altLang="en-US" sz="700" dirty="0">
                    <a:latin typeface="+mj-lt"/>
                  </a:rPr>
                  <a:t>按</a:t>
                </a:r>
                <a:r>
                  <a:rPr lang="zh-CN" altLang="en-US" sz="700" dirty="0" smtClean="0">
                    <a:latin typeface="+mj-lt"/>
                  </a:rPr>
                  <a:t>边界增益贪心</a:t>
                </a:r>
                <a:r>
                  <a:rPr lang="en-US" altLang="zh-CN" sz="700" dirty="0" smtClean="0">
                    <a:latin typeface="+mj-lt"/>
                  </a:rPr>
                  <a:t>;  [2]</a:t>
                </a:r>
                <a:r>
                  <a:rPr lang="zh-CN" altLang="en-US" sz="700" dirty="0" smtClean="0">
                    <a:latin typeface="+mj-lt"/>
                  </a:rPr>
                  <a:t>按边界增益</a:t>
                </a:r>
                <a:r>
                  <a:rPr lang="en-US" altLang="zh-CN" sz="700" dirty="0" smtClean="0">
                    <a:latin typeface="+mj-lt"/>
                  </a:rPr>
                  <a:t>-</a:t>
                </a:r>
                <a:r>
                  <a:rPr lang="zh-CN" altLang="en-US" sz="700" dirty="0" smtClean="0">
                    <a:latin typeface="+mj-lt"/>
                  </a:rPr>
                  <a:t>代价比贪心</a:t>
                </a:r>
                <a:r>
                  <a:rPr lang="en-US" altLang="zh-CN" sz="700" dirty="0" smtClean="0">
                    <a:latin typeface="+mj-lt"/>
                  </a:rPr>
                  <a:t>;  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对两解取收益最大者</a:t>
                </a:r>
                <a:r>
                  <a:rPr lang="en-US" altLang="zh-CN" sz="700" dirty="0" smtClean="0">
                    <a:latin typeface="+mj-lt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&gt;(1−1/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)/2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56" name="文本框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099" y="8388187"/>
                <a:ext cx="2556924" cy="415498"/>
              </a:xfrm>
              <a:prstGeom prst="rect">
                <a:avLst/>
              </a:prstGeom>
              <a:blipFill>
                <a:blip r:embed="rId2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/>
          <p:cNvSpPr txBox="1"/>
          <p:nvPr/>
        </p:nvSpPr>
        <p:spPr>
          <a:xfrm>
            <a:off x="2818444" y="8688637"/>
            <a:ext cx="11144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Speed-Up greedy climbing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/>
              <p:cNvSpPr txBox="1"/>
              <p:nvPr/>
            </p:nvSpPr>
            <p:spPr>
              <a:xfrm>
                <a:off x="2817099" y="8798377"/>
                <a:ext cx="2556924" cy="640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Lazy Hill Climbing:</a:t>
                </a:r>
              </a:p>
              <a:p>
                <a:r>
                  <a:rPr lang="zh-CN" altLang="en-US" sz="700" dirty="0" smtClean="0">
                    <a:latin typeface="+mj-lt"/>
                  </a:rPr>
                  <a:t>由</a:t>
                </a:r>
                <a:r>
                  <a:rPr lang="en-US" altLang="zh-CN" sz="700" dirty="0" smtClean="0">
                    <a:latin typeface="+mj-lt"/>
                  </a:rPr>
                  <a:t>submodular, </a:t>
                </a:r>
                <a:r>
                  <a:rPr lang="zh-CN" altLang="en-US" sz="700" dirty="0" smtClean="0">
                    <a:latin typeface="+mj-lt"/>
                  </a:rPr>
                  <a:t>每步收益递减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时对任意节点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endParaRPr lang="en-US" altLang="zh-CN" sz="700" dirty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})−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})−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当</a:t>
                </a:r>
                <a:r>
                  <a:rPr lang="zh-CN" altLang="en-US" sz="700" dirty="0">
                    <a:latin typeface="+mj-lt"/>
                  </a:rPr>
                  <a:t>步</a:t>
                </a:r>
                <a:r>
                  <a:rPr lang="zh-CN" altLang="en-US" sz="700" dirty="0" smtClean="0">
                    <a:latin typeface="+mj-lt"/>
                  </a:rPr>
                  <a:t>边界增益不大于上步边界增益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</a:p>
              <a:p>
                <a:r>
                  <a:rPr lang="zh-CN" altLang="en-US" sz="700" dirty="0" smtClean="0">
                    <a:latin typeface="+mj-lt"/>
                  </a:rPr>
                  <a:t>每步迭代仅需维护部分靠前候选节点增益</a:t>
                </a:r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58" name="文本框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099" y="8798377"/>
                <a:ext cx="2556924" cy="640881"/>
              </a:xfrm>
              <a:prstGeom prst="rect">
                <a:avLst/>
              </a:prstGeom>
              <a:blipFill>
                <a:blip r:embed="rId26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文本框 158"/>
          <p:cNvSpPr txBox="1"/>
          <p:nvPr/>
        </p:nvSpPr>
        <p:spPr>
          <a:xfrm>
            <a:off x="2828894" y="9328433"/>
            <a:ext cx="22349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Prove a data-dependent bound for the quality of </a:t>
            </a:r>
            <a:r>
              <a:rPr lang="en-US" altLang="zh-CN" sz="700" b="1" dirty="0" smtClean="0">
                <a:latin typeface="+mj-lt"/>
              </a:rPr>
              <a:t>solution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/>
              <p:cNvSpPr txBox="1"/>
              <p:nvPr/>
            </p:nvSpPr>
            <p:spPr>
              <a:xfrm>
                <a:off x="2827549" y="9438173"/>
                <a:ext cx="255692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700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/>
                  <a:t>贪心解且约束为数量</a:t>
                </a:r>
                <a:r>
                  <a:rPr lang="en-US" altLang="zh-CN" sz="7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})−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≥…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</a:t>
                </a:r>
                <a:r>
                  <a:rPr lang="zh-CN" altLang="en-US" sz="700" dirty="0" smtClean="0">
                    <a:latin typeface="+mj-lt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𝑂𝑃𝑇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=1→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给出与最优解差距上界</a:t>
                </a:r>
                <a:r>
                  <a:rPr lang="en-US" altLang="zh-CN" sz="700" dirty="0" smtClean="0">
                    <a:latin typeface="+mj-lt"/>
                  </a:rPr>
                  <a:t>,  </a:t>
                </a:r>
                <a:r>
                  <a:rPr lang="zh-CN" altLang="en-US" sz="700" dirty="0" smtClean="0">
                    <a:latin typeface="+mj-lt"/>
                  </a:rPr>
                  <a:t>可提前停止迭代</a:t>
                </a:r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60" name="文本框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549" y="9438173"/>
                <a:ext cx="2556924" cy="415498"/>
              </a:xfrm>
              <a:prstGeom prst="rect">
                <a:avLst/>
              </a:prstGeom>
              <a:blipFill>
                <a:blip r:embed="rId2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/>
              <p:cNvSpPr txBox="1"/>
              <p:nvPr/>
            </p:nvSpPr>
            <p:spPr>
              <a:xfrm>
                <a:off x="2833112" y="9783173"/>
                <a:ext cx="250300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证明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𝑂𝑃𝑇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𝑂𝑃𝑇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altLang="zh-CN" sz="700" b="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𝑂𝑃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700" b="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161" name="文本框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112" y="9783173"/>
                <a:ext cx="2503007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矩形 161"/>
          <p:cNvSpPr/>
          <p:nvPr/>
        </p:nvSpPr>
        <p:spPr>
          <a:xfrm>
            <a:off x="2898329" y="9815389"/>
            <a:ext cx="2386843" cy="4408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5" name="文本框 164"/>
          <p:cNvSpPr txBox="1"/>
          <p:nvPr/>
        </p:nvSpPr>
        <p:spPr>
          <a:xfrm>
            <a:off x="5158331" y="-45358"/>
            <a:ext cx="19928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8  </a:t>
            </a:r>
            <a:r>
              <a:rPr lang="en-US" altLang="zh-CN" sz="700" b="1" dirty="0">
                <a:latin typeface="+mj-lt"/>
              </a:rPr>
              <a:t>Power Law Degrees and Preferential Attachment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/>
              <p:cNvSpPr txBox="1"/>
              <p:nvPr/>
            </p:nvSpPr>
            <p:spPr>
              <a:xfrm>
                <a:off x="5147172" y="149898"/>
                <a:ext cx="2498227" cy="42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真实社交网络中度分布一般服从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=2~3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在</a:t>
                </a:r>
                <a:r>
                  <a:rPr lang="en-US" altLang="zh-CN" sz="700" dirty="0" smtClean="0">
                    <a:latin typeface="+mj-lt"/>
                  </a:rPr>
                  <a:t>log-log</a:t>
                </a:r>
                <a:r>
                  <a:rPr lang="zh-CN" altLang="en-US" sz="700" dirty="0" smtClean="0">
                    <a:latin typeface="+mj-lt"/>
                  </a:rPr>
                  <a:t>坐标呈直线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存在长尾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极端值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无典型值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无标度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尺度无关性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66" name="文本框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72" y="149898"/>
                <a:ext cx="2498227" cy="420564"/>
              </a:xfrm>
              <a:prstGeom prst="rect">
                <a:avLst/>
              </a:prstGeom>
              <a:blipFill>
                <a:blip r:embed="rId29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文本框 166"/>
          <p:cNvSpPr txBox="1"/>
          <p:nvPr/>
        </p:nvSpPr>
        <p:spPr>
          <a:xfrm>
            <a:off x="5156333" y="44014"/>
            <a:ext cx="1527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Observations of power law  </a:t>
            </a:r>
            <a:r>
              <a:rPr lang="zh-CN" altLang="en-US" sz="700" b="1" dirty="0" smtClean="0">
                <a:latin typeface="+mj-lt"/>
              </a:rPr>
              <a:t>幂律分布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5156333" y="482066"/>
            <a:ext cx="11272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Mathematics of power law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/>
              <p:cNvSpPr txBox="1"/>
              <p:nvPr/>
            </p:nvSpPr>
            <p:spPr>
              <a:xfrm>
                <a:off x="5156333" y="579876"/>
                <a:ext cx="2498227" cy="997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重尾分布条件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CN" sz="700" b="0" dirty="0" smtClean="0">
                  <a:latin typeface="+mj-lt"/>
                  <a:ea typeface="Cambria Math" panose="02040503050406030204" pitchFamily="18" charset="0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相比指数分布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出现极端值概率更高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以下分布满足</a:t>
                </a:r>
                <a:r>
                  <a:rPr lang="en-US" altLang="zh-CN" sz="700" dirty="0" smtClean="0">
                    <a:latin typeface="+mj-lt"/>
                  </a:rPr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  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  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p>
                        </m:sSup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 </m:t>
                    </m:r>
                    <m:func>
                      <m:func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700" i="1">
                                        <a:latin typeface="Cambria Math" panose="02040503050406030204" pitchFamily="18" charset="0"/>
                                      </a:rPr>
                                      <m:t>𝑙𝑛𝑥</m:t>
                                    </m:r>
                                    <m:r>
                                      <a:rPr lang="en-US" altLang="zh-CN" sz="7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7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  <m:sSup>
                              <m:sSup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 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实际网络仅在大于临界值满足幂律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此时假定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∞)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8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zh-CN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8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800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8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altLang="zh-CN" sz="700" b="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)</a:t>
                </a:r>
              </a:p>
              <a:p>
                <a:r>
                  <a:rPr lang="zh-CN" altLang="en-US" sz="700" dirty="0"/>
                  <a:t>累积</a:t>
                </a:r>
                <a:r>
                  <a:rPr lang="zh-CN" altLang="en-US" sz="700" dirty="0" smtClean="0"/>
                  <a:t>分布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169" name="文本框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333" y="579876"/>
                <a:ext cx="2498227" cy="99700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文本框 169"/>
          <p:cNvSpPr txBox="1"/>
          <p:nvPr/>
        </p:nvSpPr>
        <p:spPr>
          <a:xfrm>
            <a:off x="5160945" y="1468837"/>
            <a:ext cx="154080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Estimating </a:t>
            </a:r>
            <a:r>
              <a:rPr lang="en-US" altLang="zh-CN" sz="700" b="1" dirty="0">
                <a:latin typeface="+mj-lt"/>
              </a:rPr>
              <a:t>Power Law Exponent </a:t>
            </a:r>
            <a:r>
              <a:rPr lang="en-US" altLang="zh-CN" sz="700" b="1" dirty="0" smtClean="0">
                <a:latin typeface="+mj-lt"/>
              </a:rPr>
              <a:t>Alpha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/>
              <p:cNvSpPr txBox="1"/>
              <p:nvPr/>
            </p:nvSpPr>
            <p:spPr>
              <a:xfrm>
                <a:off x="5163645" y="1571636"/>
                <a:ext cx="2498227" cy="660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CCDF: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nary>
                      <m:nary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/(1−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sSubSup>
                          <m:sSub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</m:sSubSup>
                      </m:e>
                    </m:nary>
                  </m:oMath>
                </a14:m>
                <a:endParaRPr lang="en-US" altLang="zh-CN" sz="700" b="0" dirty="0" smtClean="0">
                  <a:latin typeface="+mj-lt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:r>
                  <a:rPr lang="zh-CN" altLang="en-US" sz="700" dirty="0" smtClean="0">
                    <a:latin typeface="+mj-lt"/>
                  </a:rPr>
                  <a:t>最大似然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=∑</m:t>
                      </m:r>
                      <m:r>
                        <m:rPr>
                          <m:sty m:val="p"/>
                        </m:rP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=∑[</m:t>
                      </m:r>
                      <m:r>
                        <m:rPr>
                          <m:sty m:val="p"/>
                        </m:rP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𝑑𝐿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=0→</m:t>
                    </m:r>
                    <m:acc>
                      <m:accPr>
                        <m:chr m:val="̂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∑ </m:t>
                            </m:r>
                            <m:r>
                              <m:rPr>
                                <m:sty m:val="p"/>
                              </m:r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71" name="文本框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645" y="1571636"/>
                <a:ext cx="2498227" cy="660309"/>
              </a:xfrm>
              <a:prstGeom prst="rect">
                <a:avLst/>
              </a:prstGeom>
              <a:blipFill>
                <a:blip r:embed="rId31"/>
                <a:stretch>
                  <a:fillRect t="-2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文本框 151"/>
          <p:cNvSpPr txBox="1"/>
          <p:nvPr/>
        </p:nvSpPr>
        <p:spPr>
          <a:xfrm>
            <a:off x="5178246" y="2121595"/>
            <a:ext cx="15007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Consequences </a:t>
            </a:r>
            <a:r>
              <a:rPr lang="en-US" altLang="zh-CN" sz="700" b="1" dirty="0">
                <a:latin typeface="+mj-lt"/>
              </a:rPr>
              <a:t>of Power Law Degrees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5180946" y="2224394"/>
            <a:ext cx="24982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网络对随机移除节点攻击具有高鲁棒性，但对目标攻击</a:t>
            </a:r>
            <a:r>
              <a:rPr lang="en-US" altLang="zh-CN" sz="700" dirty="0" smtClean="0">
                <a:latin typeface="+mj-lt"/>
              </a:rPr>
              <a:t>(</a:t>
            </a:r>
            <a:r>
              <a:rPr lang="zh-CN" altLang="en-US" sz="700" dirty="0" smtClean="0">
                <a:latin typeface="+mj-lt"/>
              </a:rPr>
              <a:t>如移除</a:t>
            </a:r>
            <a:r>
              <a:rPr lang="en-US" altLang="zh-CN" sz="700" dirty="0" smtClean="0">
                <a:latin typeface="+mj-lt"/>
              </a:rPr>
              <a:t>Hub</a:t>
            </a:r>
            <a:r>
              <a:rPr lang="zh-CN" altLang="en-US" sz="700" dirty="0" smtClean="0">
                <a:latin typeface="+mj-lt"/>
              </a:rPr>
              <a:t>节点</a:t>
            </a:r>
            <a:r>
              <a:rPr lang="en-US" altLang="zh-CN" sz="700" dirty="0" smtClean="0">
                <a:latin typeface="+mj-lt"/>
              </a:rPr>
              <a:t>)</a:t>
            </a:r>
            <a:r>
              <a:rPr lang="zh-CN" altLang="en-US" sz="700" dirty="0" smtClean="0">
                <a:latin typeface="+mj-lt"/>
              </a:rPr>
              <a:t>敏感。</a:t>
            </a:r>
            <a:endParaRPr lang="en-US" altLang="zh-CN" sz="700" dirty="0" smtClean="0">
              <a:latin typeface="+mj-lt"/>
            </a:endParaRPr>
          </a:p>
          <a:p>
            <a:r>
              <a:rPr lang="zh-CN" altLang="en-US" sz="700" dirty="0" smtClean="0">
                <a:latin typeface="+mj-lt"/>
              </a:rPr>
              <a:t>相反地，随机图对随机攻击敏感、目标攻击鲁棒。</a:t>
            </a:r>
            <a:endParaRPr lang="en-US" altLang="zh-CN" sz="700" dirty="0" smtClean="0">
              <a:latin typeface="+mj-lt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5178246" y="2527958"/>
            <a:ext cx="14414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The Preferential </a:t>
            </a:r>
            <a:r>
              <a:rPr lang="en-US" altLang="zh-CN" sz="700" b="1" dirty="0">
                <a:latin typeface="+mj-lt"/>
              </a:rPr>
              <a:t>Attachment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/>
              <p:cNvSpPr txBox="1"/>
              <p:nvPr/>
            </p:nvSpPr>
            <p:spPr>
              <a:xfrm>
                <a:off x="5180946" y="2630757"/>
                <a:ext cx="249822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优先连接模型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图节点按顺序添加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新连接节点添加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条边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</a:p>
              <a:p>
                <a:r>
                  <a:rPr lang="zh-CN" altLang="en-US" sz="700" dirty="0" smtClean="0">
                    <a:latin typeface="+mj-lt"/>
                  </a:rPr>
                  <a:t>优先连接度更大节点</a:t>
                </a:r>
                <a:r>
                  <a:rPr lang="en-US" altLang="zh-CN" sz="700" dirty="0" smtClean="0">
                    <a:latin typeface="+mj-lt"/>
                  </a:rPr>
                  <a:t>:</a:t>
                </a:r>
                <a:r>
                  <a:rPr lang="zh-CN" altLang="en-US" sz="700" dirty="0" smtClean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复制模型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en-US" altLang="zh-CN" sz="700" dirty="0" err="1" smtClean="0">
                    <a:latin typeface="+mj-lt"/>
                  </a:rPr>
                  <a:t>Mitzenmacher</a:t>
                </a:r>
                <a:r>
                  <a:rPr lang="en-US" altLang="zh-CN" sz="700" dirty="0">
                    <a:latin typeface="+mj-lt"/>
                  </a:rPr>
                  <a:t>, </a:t>
                </a:r>
                <a:r>
                  <a:rPr lang="en-US" altLang="zh-CN" sz="700" dirty="0" smtClean="0">
                    <a:latin typeface="+mj-lt"/>
                  </a:rPr>
                  <a:t>’03):  </a:t>
                </a:r>
                <a:r>
                  <a:rPr lang="zh-CN" altLang="en-US" sz="700" dirty="0" smtClean="0">
                    <a:latin typeface="+mj-lt"/>
                  </a:rPr>
                  <a:t>每个节点添加时出度为</a:t>
                </a:r>
                <a:r>
                  <a:rPr lang="en-US" altLang="zh-CN" sz="700" dirty="0" smtClean="0">
                    <a:latin typeface="+mj-lt"/>
                  </a:rPr>
                  <a:t>1</a:t>
                </a:r>
              </a:p>
              <a:p>
                <a:r>
                  <a:rPr lang="zh-CN" altLang="en-US" sz="700" dirty="0" smtClean="0">
                    <a:latin typeface="+mj-lt"/>
                  </a:rPr>
                  <a:t>概率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</a:t>
                </a:r>
                <a:r>
                  <a:rPr lang="zh-CN" altLang="en-US" sz="700" dirty="0" smtClean="0">
                    <a:latin typeface="+mj-lt"/>
                  </a:rPr>
                  <a:t>随机连接节点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概率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</a:t>
                </a:r>
                <a:r>
                  <a:rPr lang="zh-CN" altLang="en-US" sz="700" dirty="0" smtClean="0">
                    <a:latin typeface="+mj-lt"/>
                  </a:rPr>
                  <a:t>随机选择节点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并指向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指向的节点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满足幂率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=1+1/(1−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72" name="文本框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946" y="2630757"/>
                <a:ext cx="2498227" cy="738664"/>
              </a:xfrm>
              <a:prstGeom prst="rect">
                <a:avLst/>
              </a:prstGeom>
              <a:blipFill>
                <a:blip r:embed="rId32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/>
              <p:cNvSpPr txBox="1"/>
              <p:nvPr/>
            </p:nvSpPr>
            <p:spPr>
              <a:xfrm>
                <a:off x="5178246" y="3289643"/>
                <a:ext cx="2498227" cy="742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证明：第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步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:r>
                  <a:rPr lang="zh-CN" altLang="en-US" sz="700" dirty="0" smtClean="0">
                    <a:latin typeface="+mj-lt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创建时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</a:t>
                </a:r>
                <a:r>
                  <a:rPr lang="zh-CN" altLang="en-US" sz="700" dirty="0" smtClean="0">
                    <a:latin typeface="+mj-lt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步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7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700" dirty="0" smtClean="0">
                    <a:latin typeface="+mj-lt"/>
                  </a:rPr>
                  <a:t>,</a:t>
                </a:r>
                <a:r>
                  <a:rPr lang="zh-CN" altLang="en-US" sz="700" dirty="0" smtClean="0">
                    <a:latin typeface="+mj-lt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CN" sz="700" dirty="0" smtClean="0">
                    <a:latin typeface="+mj-lt"/>
                  </a:rPr>
                  <a:t>,     </a:t>
                </a:r>
                <a:r>
                  <a:rPr lang="zh-CN" altLang="en-US" sz="700" dirty="0" smtClean="0">
                    <a:latin typeface="+mj-lt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可得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𝑞𝑘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−1/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𝑞𝑘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−1/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CN" sz="700" dirty="0" smtClean="0">
                    <a:latin typeface="+mj-lt"/>
                  </a:rPr>
                  <a:t>  </a:t>
                </a:r>
                <a:r>
                  <a:rPr lang="zh-CN" altLang="en-US" sz="700" dirty="0" smtClean="0">
                    <a:latin typeface="+mj-lt"/>
                  </a:rPr>
                  <a:t>累计分布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求导得概率密度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指数为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−(1+1/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173" name="文本框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246" y="3289643"/>
                <a:ext cx="2498227" cy="742704"/>
              </a:xfrm>
              <a:prstGeom prst="rect">
                <a:avLst/>
              </a:prstGeom>
              <a:blipFill>
                <a:blip r:embed="rId33"/>
                <a:stretch>
                  <a:fillRect b="-1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矩形 173"/>
          <p:cNvSpPr/>
          <p:nvPr/>
        </p:nvSpPr>
        <p:spPr>
          <a:xfrm>
            <a:off x="5246327" y="3321799"/>
            <a:ext cx="2299695" cy="65351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5" name="文本框 174"/>
          <p:cNvSpPr txBox="1"/>
          <p:nvPr/>
        </p:nvSpPr>
        <p:spPr>
          <a:xfrm>
            <a:off x="5188757" y="3970762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9 Evolution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/>
              <p:cNvSpPr txBox="1"/>
              <p:nvPr/>
            </p:nvSpPr>
            <p:spPr>
              <a:xfrm>
                <a:off x="5162028" y="4168588"/>
                <a:ext cx="2498227" cy="979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定义</a:t>
                </a:r>
                <a:r>
                  <a:rPr lang="en-US" altLang="zh-CN" sz="700" dirty="0" smtClean="0">
                    <a:latin typeface="+mj-lt"/>
                  </a:rPr>
                  <a:t>Lifetime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节点创建第一条边与最后一条边时间间隔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Edge gap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  </a:t>
                </a:r>
                <a:r>
                  <a:rPr lang="zh-CN" altLang="en-US" sz="700" dirty="0" smtClean="0">
                    <a:latin typeface="+mj-lt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边创建时间间隔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服从幂律分布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𝜆𝛼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bSup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endParaRPr lang="en-US" altLang="zh-CN" sz="700" b="0" dirty="0" smtClean="0">
                  <a:latin typeface="+mj-lt"/>
                  <a:ea typeface="Cambria Math" panose="02040503050406030204" pitchFamily="18" charset="0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节点创建边为突发性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长时间不活跃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短时间创建大量边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随度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增大</a:t>
                </a:r>
                <a:r>
                  <a:rPr lang="en-US" altLang="zh-CN" sz="700" dirty="0" smtClean="0">
                    <a:latin typeface="+mj-lt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稳定而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线性上升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节点倾向连接高度节点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,0&lt;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np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)</a:t>
                </a:r>
              </a:p>
              <a:p>
                <a:r>
                  <a:rPr lang="zh-CN" altLang="en-US" sz="700" dirty="0" smtClean="0">
                    <a:latin typeface="+mj-lt"/>
                  </a:rPr>
                  <a:t>新连接边倾向于近距离节点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也存在长距离连接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新边具有三角聚合倾向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导致社交网络高</a:t>
                </a:r>
                <a:r>
                  <a:rPr lang="en-US" altLang="zh-CN" sz="700" dirty="0" smtClean="0">
                    <a:latin typeface="+mj-lt"/>
                  </a:rPr>
                  <a:t>CC</a:t>
                </a:r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176" name="文本框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028" y="4168588"/>
                <a:ext cx="2498227" cy="979948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直接连接符 178"/>
          <p:cNvCxnSpPr/>
          <p:nvPr/>
        </p:nvCxnSpPr>
        <p:spPr>
          <a:xfrm>
            <a:off x="5267942" y="4024065"/>
            <a:ext cx="2299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/>
          <p:cNvSpPr txBox="1"/>
          <p:nvPr/>
        </p:nvSpPr>
        <p:spPr>
          <a:xfrm>
            <a:off x="5187395" y="4067753"/>
            <a:ext cx="5437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00" b="1" dirty="0" smtClean="0">
                <a:latin typeface="+mj-lt"/>
              </a:rPr>
              <a:t>微观规律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5182467" y="5039498"/>
            <a:ext cx="5437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00" b="1" dirty="0" smtClean="0">
                <a:latin typeface="+mj-lt"/>
              </a:rPr>
              <a:t>宏观规律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163496" y="5132585"/>
                <a:ext cx="3778250" cy="42377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sz="7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7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700" dirty="0"/>
                  <a:t>时刻节点与边数量</a:t>
                </a:r>
                <a:r>
                  <a:rPr lang="en-US" altLang="zh-CN" sz="700" dirty="0"/>
                  <a:t>,</a:t>
                </a:r>
                <a:r>
                  <a:rPr lang="zh-CN" altLang="en-US" sz="700" dirty="0"/>
                  <a:t>遵循密集化幂律</a:t>
                </a:r>
                <a:r>
                  <a:rPr lang="en-US" altLang="zh-CN" sz="700" dirty="0"/>
                  <a:t>: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)∝</m:t>
                    </m:r>
                    <m:r>
                      <a:rPr lang="en-US" altLang="zh-CN" sz="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sSup>
                      <m:sSupPr>
                        <m:ctrlP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altLang="zh-CN" sz="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altLang="zh-CN" sz="7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700" i="1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altLang="zh-CN" sz="700" dirty="0"/>
                  <a:t>(</a:t>
                </a:r>
                <a:r>
                  <a:rPr lang="zh-CN" altLang="en-US" sz="700" dirty="0"/>
                  <a:t>网络逐渐密集</a:t>
                </a:r>
                <a:r>
                  <a:rPr lang="en-US" altLang="zh-CN" sz="700" dirty="0"/>
                  <a:t>;</a:t>
                </a:r>
                <a14:m>
                  <m:oMath xmlns:m="http://schemas.openxmlformats.org/officeDocument/2006/math">
                    <m:r>
                      <a:rPr lang="en-US" altLang="zh-CN" sz="7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700" dirty="0"/>
                  <a:t>即全连接</a:t>
                </a:r>
                <a:r>
                  <a:rPr lang="en-US" altLang="zh-CN" sz="700" dirty="0"/>
                  <a:t>)</a:t>
                </a:r>
              </a:p>
              <a:p>
                <a:r>
                  <a:rPr lang="zh-CN" altLang="en-US" sz="700" dirty="0"/>
                  <a:t>随网络增大</a:t>
                </a:r>
                <a:r>
                  <a:rPr lang="en-US" altLang="zh-CN" sz="700" dirty="0"/>
                  <a:t>, </a:t>
                </a:r>
                <a:r>
                  <a:rPr lang="zh-CN" altLang="en-US" sz="700" dirty="0"/>
                  <a:t>真实网络直径逐渐减小</a:t>
                </a:r>
                <a:r>
                  <a:rPr lang="en-US" altLang="zh-CN" sz="7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𝑛𝑝</m:t>
                        </m:r>
                      </m:sub>
                    </m:sSub>
                    <m:r>
                      <a:rPr lang="zh-CN" altLang="en-US" sz="700" i="1">
                        <a:latin typeface="Cambria Math" panose="02040503050406030204" pitchFamily="18" charset="0"/>
                      </a:rPr>
                      <m:t>直径</m:t>
                    </m:r>
                  </m:oMath>
                </a14:m>
                <a:r>
                  <a:rPr lang="zh-CN" altLang="en-US" sz="700" dirty="0"/>
                  <a:t>上升后收敛</a:t>
                </a:r>
                <a:r>
                  <a:rPr lang="en-US" altLang="zh-CN" sz="700" dirty="0"/>
                  <a:t>)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496" y="5132585"/>
                <a:ext cx="3778250" cy="423770"/>
              </a:xfrm>
              <a:prstGeom prst="rect">
                <a:avLst/>
              </a:prstGeom>
              <a:blipFill>
                <a:blip r:embed="rId3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文本框 181"/>
          <p:cNvSpPr txBox="1"/>
          <p:nvPr/>
        </p:nvSpPr>
        <p:spPr>
          <a:xfrm>
            <a:off x="5175304" y="5437449"/>
            <a:ext cx="8082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Forest Fire Model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矩形 182"/>
              <p:cNvSpPr/>
              <p:nvPr/>
            </p:nvSpPr>
            <p:spPr>
              <a:xfrm>
                <a:off x="5163496" y="5533264"/>
                <a:ext cx="2244837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700" dirty="0" smtClean="0"/>
                  <a:t>每次添加新节点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700" dirty="0" smtClean="0"/>
                  <a:t>,</a:t>
                </a:r>
                <a:r>
                  <a:rPr lang="zh-CN" altLang="en-US" sz="700" dirty="0" smtClean="0"/>
                  <a:t>并随机选择已有节点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altLang="zh-CN" sz="1600" dirty="0" smtClean="0"/>
              </a:p>
              <a:p>
                <a:r>
                  <a:rPr lang="zh-CN" altLang="en-US" sz="700" dirty="0" smtClean="0"/>
                  <a:t>分别根据概率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700" dirty="0" smtClean="0"/>
                  <a:t>决定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700" dirty="0" smtClean="0"/>
                  <a:t>的入</a:t>
                </a:r>
                <a:r>
                  <a:rPr lang="en-US" altLang="zh-CN" sz="700" dirty="0" smtClean="0"/>
                  <a:t>/</a:t>
                </a:r>
                <a:r>
                  <a:rPr lang="zh-CN" altLang="en-US" sz="700" dirty="0" smtClean="0"/>
                  <a:t>出链数量</a:t>
                </a:r>
                <a:r>
                  <a:rPr lang="en-US" altLang="zh-CN" sz="700" dirty="0" smtClean="0"/>
                  <a:t>(</a:t>
                </a:r>
                <a:r>
                  <a:rPr lang="zh-CN" altLang="en-US" sz="700" dirty="0" smtClean="0"/>
                  <a:t>几何分布</a:t>
                </a:r>
                <a:r>
                  <a:rPr lang="en-US" altLang="zh-CN" sz="700" dirty="0" smtClean="0"/>
                  <a:t>), </a:t>
                </a:r>
                <a:r>
                  <a:rPr lang="zh-CN" altLang="en-US" sz="700" dirty="0" smtClean="0"/>
                  <a:t>根据该数量随机选择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700" dirty="0" smtClean="0"/>
                  <a:t>的连接节点</a:t>
                </a:r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连接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700" dirty="0" smtClean="0"/>
                  <a:t>并递归该步骤</a:t>
                </a:r>
                <a:endParaRPr lang="en-US" altLang="zh-CN" sz="700" dirty="0" smtClean="0"/>
              </a:p>
            </p:txBody>
          </p:sp>
        </mc:Choice>
        <mc:Fallback xmlns="">
          <p:sp>
            <p:nvSpPr>
              <p:cNvPr id="183" name="矩形 1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496" y="5533264"/>
                <a:ext cx="2244837" cy="415498"/>
              </a:xfrm>
              <a:prstGeom prst="rect">
                <a:avLst/>
              </a:prstGeom>
              <a:blipFill>
                <a:blip r:embed="rId3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文本框 176"/>
          <p:cNvSpPr txBox="1"/>
          <p:nvPr/>
        </p:nvSpPr>
        <p:spPr>
          <a:xfrm>
            <a:off x="5167162" y="5871094"/>
            <a:ext cx="89319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10 </a:t>
            </a:r>
            <a:r>
              <a:rPr lang="en-US" altLang="zh-CN" sz="700" b="1" dirty="0" err="1" smtClean="0">
                <a:latin typeface="+mj-lt"/>
              </a:rPr>
              <a:t>Kronecker</a:t>
            </a:r>
            <a:r>
              <a:rPr lang="en-US" altLang="zh-CN" sz="700" b="1" dirty="0" smtClean="0">
                <a:latin typeface="+mj-lt"/>
              </a:rPr>
              <a:t> Graph</a:t>
            </a:r>
            <a:endParaRPr lang="en-US" altLang="zh-CN" sz="700" b="1" dirty="0">
              <a:latin typeface="+mj-lt"/>
            </a:endParaRPr>
          </a:p>
        </p:txBody>
      </p:sp>
      <p:cxnSp>
        <p:nvCxnSpPr>
          <p:cNvPr id="178" name="直接连接符 177"/>
          <p:cNvCxnSpPr/>
          <p:nvPr/>
        </p:nvCxnSpPr>
        <p:spPr>
          <a:xfrm>
            <a:off x="5246347" y="5924397"/>
            <a:ext cx="2299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矩形 183"/>
              <p:cNvSpPr/>
              <p:nvPr/>
            </p:nvSpPr>
            <p:spPr>
              <a:xfrm>
                <a:off x="5196112" y="5969551"/>
                <a:ext cx="2502311" cy="771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700" dirty="0" smtClean="0"/>
                  <a:t>Kronecker</a:t>
                </a:r>
                <a:r>
                  <a:rPr lang="zh-CN" altLang="en-US" sz="700" dirty="0" smtClean="0"/>
                  <a:t>乘积</a:t>
                </a:r>
                <a:r>
                  <a:rPr lang="en-US" altLang="zh-CN" sz="700" dirty="0" smtClean="0"/>
                  <a:t>(KP)</a:t>
                </a:r>
                <a:r>
                  <a:rPr lang="zh-CN" altLang="en-US" sz="700" dirty="0" smtClean="0"/>
                  <a:t>：两图的</a:t>
                </a:r>
                <a:r>
                  <a:rPr lang="en-US" altLang="zh-CN" sz="700" dirty="0" smtClean="0"/>
                  <a:t>KP</a:t>
                </a:r>
                <a:r>
                  <a:rPr lang="zh-CN" altLang="en-US" sz="700" dirty="0" smtClean="0"/>
                  <a:t>定义为邻接矩阵</a:t>
                </a:r>
                <a:r>
                  <a:rPr lang="en-US" altLang="zh-CN" sz="700" dirty="0" smtClean="0"/>
                  <a:t>KP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𝑛𝑘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𝑚𝑙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700" dirty="0" smtClean="0"/>
                  <a:t> </a:t>
                </a:r>
              </a:p>
              <a:p>
                <a:r>
                  <a:rPr lang="zh-CN" altLang="en-US" sz="700" dirty="0" smtClean="0"/>
                  <a:t>对图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的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700" dirty="0" smtClean="0"/>
                  <a:t>阶</a:t>
                </a:r>
                <a:r>
                  <a:rPr lang="en-US" altLang="zh-CN" sz="700" dirty="0" smtClean="0"/>
                  <a:t>KP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700" dirty="0" smtClean="0"/>
                  <a:t>,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/>
                  <a:t>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的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700" dirty="0" smtClean="0"/>
                  <a:t>次幂</a:t>
                </a:r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700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𝑘𝑙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700" dirty="0" smtClean="0"/>
                  <a:t>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700" dirty="0" smtClean="0"/>
                  <a:t>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altLang="zh-CN" sz="700" dirty="0" smtClean="0"/>
              </a:p>
              <a:p>
                <a:r>
                  <a:rPr lang="zh-CN" altLang="en-US" sz="700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直径</m:t>
                    </m:r>
                  </m:oMath>
                </a14:m>
                <a:r>
                  <a:rPr lang="zh-CN" altLang="en-US" sz="700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7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700" dirty="0" smtClean="0"/>
                  <a:t>直径为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700" dirty="0" smtClean="0"/>
                  <a:t>(</a:t>
                </a:r>
                <a:r>
                  <a:rPr lang="zh-CN" altLang="en-US" sz="700" dirty="0" smtClean="0"/>
                  <a:t>推论</a:t>
                </a:r>
                <a:r>
                  <a:rPr lang="en-US" altLang="zh-CN" sz="700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直径相同</a:t>
                </a:r>
                <a:r>
                  <a:rPr lang="en-US" altLang="zh-CN" sz="700" dirty="0" smtClean="0"/>
                  <a:t>)</a:t>
                </a:r>
              </a:p>
            </p:txBody>
          </p:sp>
        </mc:Choice>
        <mc:Fallback xmlns="">
          <p:sp>
            <p:nvSpPr>
              <p:cNvPr id="184" name="矩形 1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112" y="5969551"/>
                <a:ext cx="2502311" cy="77110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/>
          <p:cNvSpPr/>
          <p:nvPr/>
        </p:nvSpPr>
        <p:spPr>
          <a:xfrm>
            <a:off x="5324850" y="6688768"/>
            <a:ext cx="2220072" cy="443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矩形 185"/>
              <p:cNvSpPr/>
              <p:nvPr/>
            </p:nvSpPr>
            <p:spPr>
              <a:xfrm>
                <a:off x="5260287" y="6649925"/>
                <a:ext cx="250231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700" dirty="0" smtClean="0"/>
                  <a:t>证明：对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700" dirty="0" smtClean="0"/>
                  <a:t>中节点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=[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700" dirty="0" smtClean="0"/>
              </a:p>
              <a:p>
                <a:r>
                  <a:rPr lang="zh-CN" altLang="en-US" sz="700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700" dirty="0" smtClean="0"/>
                  <a:t>中存在路径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7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700" dirty="0" smtClean="0"/>
                  <a:t>中存在路径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altLang="zh-CN" sz="700" dirty="0" smtClean="0"/>
              </a:p>
              <a:p>
                <a:r>
                  <a:rPr lang="zh-CN" altLang="en-US" sz="700" dirty="0" smtClean="0"/>
                  <a:t>此时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700" dirty="0" smtClean="0"/>
                  <a:t>中存在边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altLang="zh-CN" sz="700" dirty="0" smtClean="0"/>
              </a:p>
              <a:p>
                <a:r>
                  <a:rPr lang="zh-CN" altLang="en-US" sz="700" dirty="0" smtClean="0"/>
                  <a:t>即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700" dirty="0" smtClean="0"/>
                  <a:t>中存在小于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700" dirty="0" smtClean="0"/>
                  <a:t>的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700" dirty="0" smtClean="0"/>
                  <a:t>路径</a:t>
                </a:r>
                <a:endParaRPr lang="en-US" altLang="zh-CN" sz="700" dirty="0" smtClean="0"/>
              </a:p>
            </p:txBody>
          </p:sp>
        </mc:Choice>
        <mc:Fallback xmlns="">
          <p:sp>
            <p:nvSpPr>
              <p:cNvPr id="186" name="矩形 1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287" y="6649925"/>
                <a:ext cx="2502311" cy="523220"/>
              </a:xfrm>
              <a:prstGeom prst="rect">
                <a:avLst/>
              </a:prstGeom>
              <a:blipFill>
                <a:blip r:embed="rId38"/>
                <a:stretch>
                  <a:fillRect b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文本框 186"/>
          <p:cNvSpPr txBox="1"/>
          <p:nvPr/>
        </p:nvSpPr>
        <p:spPr>
          <a:xfrm>
            <a:off x="5240206" y="7098210"/>
            <a:ext cx="11624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Stochastic </a:t>
            </a:r>
            <a:r>
              <a:rPr lang="en-US" altLang="zh-CN" sz="700" b="1" dirty="0" err="1" smtClean="0">
                <a:latin typeface="+mj-lt"/>
              </a:rPr>
              <a:t>Kronecker</a:t>
            </a:r>
            <a:r>
              <a:rPr lang="en-US" altLang="zh-CN" sz="700" b="1" dirty="0" smtClean="0">
                <a:latin typeface="+mj-lt"/>
              </a:rPr>
              <a:t> Graph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矩形 187"/>
              <p:cNvSpPr/>
              <p:nvPr/>
            </p:nvSpPr>
            <p:spPr>
              <a:xfrm>
                <a:off x="5186701" y="7206275"/>
                <a:ext cx="2462932" cy="18247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700" dirty="0" smtClean="0"/>
                  <a:t>此时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700" dirty="0" smtClean="0"/>
                  <a:t>概率矩阵</a:t>
                </a:r>
                <a:r>
                  <a:rPr lang="en-US" altLang="zh-CN" sz="700" dirty="0" smtClean="0"/>
                  <a:t>(Deterministic</a:t>
                </a:r>
                <a:r>
                  <a:rPr lang="zh-CN" altLang="en-US" sz="700" dirty="0" smtClean="0"/>
                  <a:t>为</a:t>
                </a:r>
                <a:r>
                  <a:rPr lang="en-US" altLang="zh-CN" sz="700" dirty="0" smtClean="0"/>
                  <a:t>0-1)</a:t>
                </a:r>
              </a:p>
              <a:p>
                <a:r>
                  <a:rPr lang="zh-CN" altLang="en-US" sz="700" dirty="0" smtClean="0"/>
                  <a:t>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i="1" dirty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zh-CN" altLang="en-US" sz="700" dirty="0" smtClean="0"/>
                  <a:t>阶</a:t>
                </a:r>
                <a:r>
                  <a:rPr lang="en-US" altLang="zh-CN" sz="700" dirty="0" smtClean="0"/>
                  <a:t>KP</a:t>
                </a:r>
                <a:r>
                  <a:rPr lang="zh-CN" altLang="en-US" sz="700" dirty="0" smtClean="0"/>
                  <a:t>矩阵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每对节点按概率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连接边</a:t>
                </a:r>
                <a:endParaRPr lang="en-US" altLang="zh-CN" sz="700" dirty="0" smtClean="0"/>
              </a:p>
              <a:p>
                <a:r>
                  <a:rPr lang="zh-CN" altLang="en-US" sz="700" dirty="0" smtClean="0"/>
                  <a:t>此时存在</a:t>
                </a:r>
                <a:r>
                  <a:rPr lang="en-US" altLang="zh-CN" sz="700" dirty="0" err="1" smtClean="0"/>
                  <a:t>Degee</a:t>
                </a:r>
                <a:r>
                  <a:rPr lang="en-US" altLang="zh-CN" sz="700" dirty="0" smtClean="0"/>
                  <a:t> Spikes: </a:t>
                </a:r>
                <a:r>
                  <a:rPr lang="zh-CN" altLang="en-US" sz="700" dirty="0" smtClean="0"/>
                  <a:t>递归结构导致部分节点度异常高</a:t>
                </a:r>
                <a:r>
                  <a:rPr lang="en-US" altLang="zh-CN" sz="700" dirty="0" smtClean="0"/>
                  <a:t>,</a:t>
                </a:r>
                <a:r>
                  <a:rPr lang="zh-CN" altLang="en-US" sz="700" dirty="0" smtClean="0"/>
                  <a:t>在度分布中出现尖峰</a:t>
                </a:r>
                <a:endParaRPr lang="en-US" altLang="zh-CN" sz="700" dirty="0" smtClean="0"/>
              </a:p>
              <a:p>
                <a:r>
                  <a:rPr lang="zh-CN" altLang="en-US" sz="700" dirty="0" smtClean="0"/>
                  <a:t>解决方法：</a:t>
                </a:r>
                <a:r>
                  <a:rPr lang="en-US" altLang="zh-CN" sz="700" dirty="0" smtClean="0"/>
                  <a:t>Noise SKG   </a:t>
                </a:r>
                <a:r>
                  <a:rPr lang="zh-CN" altLang="en-US" sz="700" dirty="0" smtClean="0"/>
                  <a:t>设初始矩阵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zh-CN" sz="700" b="0" dirty="0" smtClean="0"/>
              </a:p>
              <a:p>
                <a:r>
                  <a:rPr lang="zh-CN" altLang="en-US" sz="700" dirty="0" smtClean="0"/>
                  <a:t>每步随机加噪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r>
                  <a:rPr lang="en-US" altLang="zh-CN" sz="700" dirty="0" smtClean="0"/>
                  <a:t>]</a:t>
                </a:r>
              </a:p>
              <a:p>
                <a:r>
                  <a:rPr lang="zh-CN" altLang="en-US" sz="700" dirty="0" smtClean="0"/>
                  <a:t>若使用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在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700" dirty="0" smtClean="0"/>
                  <a:t>时图连通且直径固定</a:t>
                </a:r>
                <a:r>
                  <a:rPr lang="en-US" altLang="zh-CN" sz="700" dirty="0" smtClean="0"/>
                  <a:t>,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700" dirty="0" smtClean="0"/>
                  <a:t>时出现大小为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/>
                  <a:t>的连通分量</a:t>
                </a:r>
                <a:endParaRPr lang="en-US" altLang="zh-CN" sz="700" dirty="0" smtClean="0"/>
              </a:p>
              <a:p>
                <a:r>
                  <a:rPr lang="zh-CN" altLang="en-US" sz="700" dirty="0" smtClean="0"/>
                  <a:t>给定图</a:t>
                </a:r>
                <a:r>
                  <a:rPr lang="en-US" altLang="zh-CN" sz="700" dirty="0" smtClean="0"/>
                  <a:t>(0-1)</a:t>
                </a:r>
                <a14:m>
                  <m:oMath xmlns:m="http://schemas.openxmlformats.org/officeDocument/2006/math">
                    <m:r>
                      <a:rPr lang="zh-CN" altLang="en-US" sz="700" b="0" i="1" dirty="0">
                        <a:latin typeface="Cambria Math" panose="02040503050406030204" pitchFamily="18" charset="0"/>
                      </a:rPr>
                      <m:t>估计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zh-CN" altLang="en-US" sz="700" dirty="0" smtClean="0"/>
                  <a:t>：极大似然</a:t>
                </a:r>
                <a:endParaRPr lang="en-US" altLang="zh-CN" sz="700" dirty="0" smtClean="0"/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/>
                  <a:t> </a:t>
                </a:r>
              </a:p>
              <a:p>
                <a:r>
                  <a:rPr lang="zh-CN" altLang="en-US" sz="700" dirty="0" smtClean="0"/>
                  <a:t>实际网络无坐标顺序</a:t>
                </a:r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且计算时间为</a:t>
                </a:r>
                <a:r>
                  <a:rPr lang="en-US" altLang="zh-CN" sz="700" dirty="0" smtClean="0"/>
                  <a:t>NP-Hard</a:t>
                </a:r>
              </a:p>
              <a:p>
                <a:r>
                  <a:rPr lang="zh-CN" altLang="en-US" sz="700" dirty="0" smtClean="0"/>
                  <a:t>优化方法：</a:t>
                </a:r>
                <a:endParaRPr lang="en-US" altLang="zh-CN" sz="700" dirty="0" smtClean="0"/>
              </a:p>
              <a:p>
                <a:r>
                  <a:rPr lang="en-US" altLang="zh-CN" sz="700" dirty="0" smtClean="0"/>
                  <a:t>[1]</a:t>
                </a:r>
                <a:r>
                  <a:rPr lang="zh-CN" altLang="en-US" sz="700" dirty="0" smtClean="0"/>
                  <a:t>初始化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zh-CN" altLang="en-US" sz="700" dirty="0" smtClean="0"/>
                  <a:t>与节点排序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altLang="zh-CN" sz="700" dirty="0" smtClean="0"/>
              </a:p>
              <a:p>
                <a:r>
                  <a:rPr lang="en-US" altLang="zh-CN" sz="700" dirty="0" smtClean="0"/>
                  <a:t>[2]</a:t>
                </a:r>
                <a:r>
                  <a:rPr lang="zh-CN" altLang="en-US" sz="700" dirty="0" smtClean="0"/>
                  <a:t>固定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700" dirty="0" smtClean="0"/>
                  <a:t>随机选择两节点交换排序</a:t>
                </a:r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/>
                  <a:t>上升则保留</a:t>
                </a:r>
                <a:endParaRPr lang="en-US" altLang="zh-CN" sz="700" dirty="0" smtClean="0"/>
              </a:p>
              <a:p>
                <a:r>
                  <a:rPr lang="en-US" altLang="zh-CN" sz="700" dirty="0" smtClean="0"/>
                  <a:t>[3]</a:t>
                </a:r>
                <a:r>
                  <a:rPr lang="zh-CN" altLang="en-US" sz="700" dirty="0" smtClean="0"/>
                  <a:t>固定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zh-CN" altLang="en-US" sz="700" dirty="0" smtClean="0"/>
                  <a:t>梯度上升；重复</a:t>
                </a:r>
                <a:r>
                  <a:rPr lang="en-US" altLang="zh-CN" sz="700" dirty="0" smtClean="0"/>
                  <a:t>[2][3]</a:t>
                </a:r>
                <a:r>
                  <a:rPr lang="zh-CN" altLang="en-US" sz="700" dirty="0" smtClean="0"/>
                  <a:t>至收敛</a:t>
                </a:r>
                <a:endParaRPr lang="en-US" altLang="zh-CN" sz="700" dirty="0" smtClean="0"/>
              </a:p>
            </p:txBody>
          </p:sp>
        </mc:Choice>
        <mc:Fallback xmlns="">
          <p:sp>
            <p:nvSpPr>
              <p:cNvPr id="188" name="矩形 1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701" y="7206275"/>
                <a:ext cx="2462932" cy="182479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60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697" y="642631"/>
            <a:ext cx="1917886" cy="267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图片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1596" b="1343"/>
          <a:stretch/>
        </p:blipFill>
        <p:spPr bwMode="auto">
          <a:xfrm>
            <a:off x="641367" y="10000085"/>
            <a:ext cx="846081" cy="265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图片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38" t="4872"/>
          <a:stretch/>
        </p:blipFill>
        <p:spPr bwMode="auto">
          <a:xfrm>
            <a:off x="654308" y="10219758"/>
            <a:ext cx="604997" cy="255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图片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" y="9979766"/>
            <a:ext cx="558152" cy="22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8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1"/>
          <a:stretch/>
        </p:blipFill>
        <p:spPr bwMode="auto">
          <a:xfrm>
            <a:off x="1487448" y="9903834"/>
            <a:ext cx="1187292" cy="693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-39044" y="-52403"/>
            <a:ext cx="9380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11 Centrality Analysis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39044" y="160383"/>
            <a:ext cx="34336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HITS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39044" y="53990"/>
            <a:ext cx="12618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在图结构中衡量节点重要性</a:t>
            </a:r>
            <a:endParaRPr lang="en-US" altLang="zh-CN" sz="7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-47978" y="266776"/>
                <a:ext cx="2994378" cy="643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定义</a:t>
                </a:r>
                <a:r>
                  <a:rPr lang="en-US" altLang="zh-CN" sz="700" dirty="0" smtClean="0">
                    <a:latin typeface="+mj-lt"/>
                  </a:rPr>
                  <a:t>hub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:</a:t>
                </a:r>
                <a:r>
                  <a:rPr lang="zh-CN" altLang="en-US" sz="700" dirty="0" smtClean="0">
                    <a:latin typeface="+mj-lt"/>
                  </a:rPr>
                  <a:t>该节点指向其他节点的</a:t>
                </a:r>
                <a:r>
                  <a:rPr lang="en-US" altLang="zh-CN" sz="700" dirty="0" smtClean="0">
                    <a:latin typeface="+mj-lt"/>
                  </a:rPr>
                  <a:t>authority</a:t>
                </a:r>
                <a:r>
                  <a:rPr lang="zh-CN" altLang="en-US" sz="700" dirty="0" smtClean="0">
                    <a:latin typeface="+mj-lt"/>
                  </a:rPr>
                  <a:t>之和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Authority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指向该节点的所有节点</a:t>
                </a:r>
                <a:r>
                  <a:rPr lang="en-US" altLang="zh-CN" sz="700" dirty="0" smtClean="0">
                    <a:latin typeface="+mj-lt"/>
                  </a:rPr>
                  <a:t>hub</a:t>
                </a:r>
                <a:r>
                  <a:rPr lang="zh-CN" altLang="en-US" sz="700" dirty="0" smtClean="0">
                    <a:latin typeface="+mj-lt"/>
                  </a:rPr>
                  <a:t>之和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700" dirty="0" smtClean="0">
                    <a:latin typeface="+mj-lt"/>
                  </a:rPr>
                  <a:t>,  </a:t>
                </a:r>
                <a:r>
                  <a:rPr lang="zh-CN" altLang="en-US" sz="700" dirty="0" smtClean="0">
                    <a:latin typeface="+mj-lt"/>
                  </a:rPr>
                  <a:t>初始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=1/√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分别取列向量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表示</a:t>
                </a:r>
                <a:r>
                  <a:rPr lang="en-US" altLang="zh-CN" sz="700" dirty="0" smtClean="0">
                    <a:latin typeface="+mj-lt"/>
                  </a:rPr>
                  <a:t>authority, hub</a:t>
                </a:r>
                <a:r>
                  <a:rPr lang="zh-CN" altLang="en-US" sz="700" dirty="0" smtClean="0">
                    <a:latin typeface="+mj-lt"/>
                  </a:rPr>
                  <a:t>，</a:t>
                </a:r>
                <a:r>
                  <a:rPr lang="en-US" altLang="zh-CN" sz="700" dirty="0" smtClean="0">
                    <a:latin typeface="+mj-lt"/>
                  </a:rPr>
                  <a:t>  </a:t>
                </a:r>
                <a:r>
                  <a:rPr lang="zh-CN" altLang="en-US" sz="700" dirty="0" smtClean="0">
                    <a:latin typeface="+mj-lt"/>
                  </a:rPr>
                  <a:t>邻接矩阵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  <a:r>
                  <a:rPr lang="zh-CN" altLang="en-US" sz="700" dirty="0">
                    <a:latin typeface="+mj-lt"/>
                  </a:rPr>
                  <a:t>收敛后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700" dirty="0">
                    <a:latin typeface="+mj-lt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700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700" dirty="0" smtClean="0">
                    <a:latin typeface="+mj-lt"/>
                  </a:rPr>
                  <a:t>特征向量。</a:t>
                </a:r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78" y="266776"/>
                <a:ext cx="2994378" cy="643189"/>
              </a:xfrm>
              <a:prstGeom prst="rect">
                <a:avLst/>
              </a:prstGeom>
              <a:blipFill>
                <a:blip r:embed="rId6"/>
                <a:stretch>
                  <a:fillRect b="-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-39044" y="803572"/>
            <a:ext cx="5293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PageRank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-47978" y="909965"/>
                <a:ext cx="2994378" cy="875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网页重要性取决于被重要网页链接</a:t>
                </a:r>
                <a:r>
                  <a:rPr lang="en-US" altLang="zh-CN" sz="700" dirty="0" smtClean="0">
                    <a:latin typeface="+mj-lt"/>
                  </a:rPr>
                  <a:t>:  </a:t>
                </a:r>
                <a:r>
                  <a:rPr lang="zh-CN" altLang="en-US" sz="700" dirty="0" smtClean="0">
                    <a:latin typeface="+mj-lt"/>
                  </a:rPr>
                  <a:t>若网页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重要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性为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700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连接的节点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分别贡献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随机游走概率相等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邻接矩阵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𝑀𝑟</m:t>
                    </m:r>
                    <m:r>
                      <a:rPr lang="zh-CN" altLang="en-US" sz="70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此时部分网络无出链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且一组相互链接网页可能无指向外部链接，引入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>
                    <a:latin typeface="+mj-lt"/>
                  </a:rPr>
                  <a:t>跳</a:t>
                </a:r>
                <a:r>
                  <a:rPr lang="zh-CN" altLang="en-US" sz="700" dirty="0" smtClean="0">
                    <a:latin typeface="+mj-lt"/>
                  </a:rPr>
                  <a:t>转下一个网页时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概率随机指向出链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指向另一随机页面，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  <a:r>
                  <a:rPr lang="zh-CN" altLang="en-US" sz="700" dirty="0" smtClean="0">
                    <a:latin typeface="+mj-lt"/>
                  </a:rPr>
                  <a:t>即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为相等值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可通过调整</a:t>
                </a:r>
                <a14:m>
                  <m:oMath xmlns:m="http://schemas.openxmlformats.org/officeDocument/2006/math">
                    <m:r>
                      <a:rPr lang="zh-CN" altLang="en-US" sz="700" b="0" i="1" dirty="0">
                        <a:latin typeface="Cambria Math" panose="02040503050406030204" pitchFamily="18" charset="0"/>
                      </a:rPr>
                      <m:t>随机</m:t>
                    </m:r>
                    <m:r>
                      <a:rPr lang="zh-CN" altLang="en-US" sz="700" i="1" dirty="0" smtClean="0">
                        <a:latin typeface="Cambria Math" panose="02040503050406030204" pitchFamily="18" charset="0"/>
                      </a:rPr>
                      <m:t>跳转</m:t>
                    </m:r>
                    <m:r>
                      <a:rPr lang="zh-CN" altLang="en-US" sz="700" i="1" dirty="0">
                        <a:latin typeface="Cambria Math" panose="02040503050406030204" pitchFamily="18" charset="0"/>
                      </a:rPr>
                      <m:t>概率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根据用户偏好自定义概率分布</a:t>
                </a:r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78" y="909965"/>
                <a:ext cx="2994378" cy="875945"/>
              </a:xfrm>
              <a:prstGeom prst="rect">
                <a:avLst/>
              </a:prstGeom>
              <a:blipFill>
                <a:blip r:embed="rId7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-39044" y="1669532"/>
            <a:ext cx="8691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err="1" smtClean="0">
                <a:latin typeface="+mj-lt"/>
              </a:rPr>
              <a:t>MultiRank</a:t>
            </a:r>
            <a:r>
              <a:rPr lang="en-US" altLang="zh-CN" sz="700" b="1" dirty="0" smtClean="0">
                <a:latin typeface="+mj-lt"/>
              </a:rPr>
              <a:t> and HAR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-47978" y="1775925"/>
                <a:ext cx="2994378" cy="1207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MultiRank:  PageRank</a:t>
                </a:r>
                <a:r>
                  <a:rPr lang="zh-CN" altLang="en-US" sz="700" dirty="0" smtClean="0">
                    <a:latin typeface="+mj-lt"/>
                  </a:rPr>
                  <a:t>在多关系图上的推广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分别考虑边游走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节点游走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定义节点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边转移张量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转移概率</a:t>
                </a:r>
                <a:r>
                  <a:rPr lang="en-US" altLang="zh-CN" sz="700" dirty="0" smtClean="0">
                    <a:latin typeface="+mj-lt"/>
                  </a:rPr>
                  <a:t>),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为边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节点相关原始非负值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Prob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Prob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时刻游走的节点与边。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相互独立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Prob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700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Prob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Prob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Prob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同理，此时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𝑂𝑥𝑦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HAR</a:t>
                </a:r>
                <a:r>
                  <a:rPr lang="zh-CN" altLang="en-US" sz="700" dirty="0" smtClean="0">
                    <a:latin typeface="+mj-lt"/>
                  </a:rPr>
                  <a:t>：</a:t>
                </a:r>
                <a:r>
                  <a:rPr lang="en-US" altLang="zh-CN" sz="700" dirty="0" smtClean="0">
                    <a:latin typeface="+mj-lt"/>
                  </a:rPr>
                  <a:t>HITS</a:t>
                </a:r>
                <a:r>
                  <a:rPr lang="zh-CN" altLang="en-US" sz="700" dirty="0" smtClean="0">
                    <a:latin typeface="+mj-lt"/>
                  </a:rPr>
                  <a:t>扩展，同样使用三维张量，令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表示节点</a:t>
                </a:r>
                <a:r>
                  <a:rPr lang="en-US" altLang="zh-CN" sz="700" dirty="0" smtClean="0">
                    <a:latin typeface="+mj-lt"/>
                  </a:rPr>
                  <a:t>hub, authority,</a:t>
                </a:r>
              </a:p>
              <a:p>
                <a:r>
                  <a:rPr lang="en-US" altLang="zh-CN" sz="700" dirty="0" smtClean="0">
                    <a:latin typeface="+mj-lt"/>
                  </a:rPr>
                  <a:t>relevance</a:t>
                </a:r>
                <a:r>
                  <a:rPr lang="zh-CN" altLang="en-US" sz="700" dirty="0" smtClean="0">
                    <a:latin typeface="+mj-lt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Prob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𝑟𝑜𝑏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=\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Prob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78" y="1775925"/>
                <a:ext cx="2994378" cy="12077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/>
          <p:cNvCxnSpPr/>
          <p:nvPr/>
        </p:nvCxnSpPr>
        <p:spPr>
          <a:xfrm>
            <a:off x="0" y="2939242"/>
            <a:ext cx="28511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-58094" y="2899984"/>
            <a:ext cx="8162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12 Link Prediction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58094" y="3083139"/>
            <a:ext cx="168668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Link Prediction in Homogeneous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-67028" y="3193765"/>
                <a:ext cx="2994378" cy="1930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考虑每个节点对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之间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的函数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与新增边的函数正相关。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一般可用以下函数：最短路径长度、共同邻居数；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err="1" smtClean="0">
                    <a:latin typeface="+mj-lt"/>
                  </a:rPr>
                  <a:t>Jaccard</a:t>
                </a:r>
                <a:r>
                  <a:rPr lang="en-US" altLang="zh-CN" sz="700" dirty="0" smtClean="0">
                    <a:latin typeface="+mj-lt"/>
                  </a:rPr>
                  <a:t> similarity: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)∩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err="1" smtClean="0">
                    <a:latin typeface="+mj-lt"/>
                  </a:rPr>
                  <a:t>Adamic</a:t>
                </a:r>
                <a:r>
                  <a:rPr lang="en-US" altLang="zh-CN" sz="700" dirty="0" smtClean="0">
                    <a:latin typeface="+mj-lt"/>
                  </a:rPr>
                  <a:t>-Adar: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)∩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Preferential attachment: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PageRank: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SRW</a:t>
                </a:r>
                <a:r>
                  <a:rPr lang="zh-CN" altLang="en-US" sz="700" dirty="0" smtClean="0">
                    <a:latin typeface="+mj-lt"/>
                  </a:rPr>
                  <a:t>：基于监督学习进行链接预测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考虑对中心节点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进行预测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uv</m:t>
                        </m:r>
                      </m:sub>
                    </m:sSub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(−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连接强度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为代学习参数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为节点或边特征（如图指标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函数，也包括性别、交互次数等）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随机游走转移概率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1(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为未来与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连接节点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为其它节点</a:t>
                </a:r>
                <a:r>
                  <a:rPr lang="en-US" altLang="zh-CN" sz="700" dirty="0">
                    <a:latin typeface="+mj-lt"/>
                  </a:rPr>
                  <a:t> </a:t>
                </a:r>
                <a:r>
                  <a:rPr lang="en-US" altLang="zh-CN" sz="700" dirty="0" smtClean="0">
                    <a:latin typeface="+mj-lt"/>
                  </a:rPr>
                  <a:t>      </a:t>
                </a:r>
                <a:r>
                  <a:rPr lang="zh-CN" altLang="en-US" sz="700" dirty="0" smtClean="0">
                    <a:latin typeface="+mj-lt"/>
                  </a:rPr>
                  <a:t>目标：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min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  <a:r>
                  <a:rPr lang="en-US" altLang="zh-CN" sz="700" dirty="0" err="1" smtClean="0">
                    <a:latin typeface="+mj-lt"/>
                  </a:rPr>
                  <a:t>s.t.</a:t>
                </a:r>
                <a:r>
                  <a:rPr lang="en-US" altLang="zh-CN" sz="700" dirty="0" smtClean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    </a:t>
                </a:r>
                <a:r>
                  <a:rPr lang="zh-CN" altLang="en-US" sz="700" dirty="0" smtClean="0">
                    <a:latin typeface="+mj-lt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节点</a:t>
                </a:r>
                <a:r>
                  <a:rPr lang="en-US" altLang="zh-CN" sz="700" dirty="0" smtClean="0">
                    <a:latin typeface="+mj-lt"/>
                  </a:rPr>
                  <a:t>PageRank</a:t>
                </a:r>
                <a:r>
                  <a:rPr lang="zh-CN" altLang="en-US" sz="700" dirty="0" smtClean="0">
                    <a:latin typeface="+mj-lt"/>
                  </a:rPr>
                  <a:t>分值始终高于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节点。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损失函数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else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运行步骤：随机初始化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</a:t>
                </a:r>
                <a:r>
                  <a:rPr lang="zh-CN" altLang="en-US" sz="700" dirty="0" smtClean="0">
                    <a:latin typeface="+mj-lt"/>
                  </a:rPr>
                  <a:t>迭代直到收敛：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[1] </a:t>
                </a:r>
                <a:r>
                  <a:rPr lang="zh-CN" altLang="en-US" sz="700" dirty="0" smtClean="0">
                    <a:latin typeface="+mj-lt"/>
                  </a:rPr>
                  <a:t>通过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计算当前转移矩阵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迭代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得到</a:t>
                </a:r>
                <a:r>
                  <a:rPr lang="en-US" altLang="zh-CN" sz="700" dirty="0" smtClean="0">
                    <a:latin typeface="+mj-lt"/>
                  </a:rPr>
                  <a:t>PageRank</a:t>
                </a:r>
                <a:r>
                  <a:rPr lang="zh-CN" altLang="en-US" sz="700" dirty="0" smtClean="0">
                    <a:latin typeface="+mj-lt"/>
                  </a:rPr>
                  <a:t>向量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；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[2] </a:t>
                </a:r>
                <a:r>
                  <a:rPr lang="zh-CN" altLang="en-US" sz="700" dirty="0" smtClean="0">
                    <a:latin typeface="+mj-lt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并梯度更新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。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预测时使用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运行</a:t>
                </a:r>
                <a:r>
                  <a:rPr lang="en-US" altLang="zh-CN" sz="700" dirty="0" smtClean="0">
                    <a:latin typeface="+mj-lt"/>
                  </a:rPr>
                  <a:t>PageRank</a:t>
                </a:r>
                <a:r>
                  <a:rPr lang="zh-CN" altLang="en-US" sz="700" dirty="0" smtClean="0">
                    <a:latin typeface="+mj-lt"/>
                  </a:rPr>
                  <a:t>，给出前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个高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值节点进行推荐。</a:t>
                </a:r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028" y="3193765"/>
                <a:ext cx="2994378" cy="19303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-58094" y="2991200"/>
                <a:ext cx="299437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给定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700" i="1">
                        <a:latin typeface="Cambria Math" panose="02040503050406030204" pitchFamily="18" charset="0"/>
                      </a:rPr>
                      <m:t>时刻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的图，预测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700" i="1">
                        <a:latin typeface="Cambria Math" panose="02040503050406030204" pitchFamily="18" charset="0"/>
                      </a:rPr>
                      <m:t>时刻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新增的边。</a:t>
                </a:r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094" y="2991200"/>
                <a:ext cx="2994378" cy="200055"/>
              </a:xfrm>
              <a:prstGeom prst="rect">
                <a:avLst/>
              </a:prstGeom>
              <a:blipFill>
                <a:blip r:embed="rId10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-58094" y="4992311"/>
            <a:ext cx="16706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Link Prediction in </a:t>
            </a:r>
            <a:r>
              <a:rPr lang="en-US" altLang="zh-CN" sz="700" b="1" dirty="0" err="1" smtClean="0">
                <a:latin typeface="+mj-lt"/>
              </a:rPr>
              <a:t>Hetergeneous</a:t>
            </a:r>
            <a:r>
              <a:rPr lang="en-US" altLang="zh-CN" sz="700" b="1" dirty="0" smtClean="0">
                <a:latin typeface="+mj-lt"/>
              </a:rPr>
              <a:t> </a:t>
            </a:r>
            <a:r>
              <a:rPr lang="en-US" altLang="zh-CN" sz="700" b="1" dirty="0">
                <a:latin typeface="+mj-lt"/>
              </a:rPr>
              <a:t>Networks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-67028" y="5102937"/>
            <a:ext cx="29943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网络可能包含多种类型节点与边，如</a:t>
            </a:r>
            <a:r>
              <a:rPr lang="en-US" altLang="zh-CN" sz="700" dirty="0" smtClean="0">
                <a:latin typeface="+mj-lt"/>
              </a:rPr>
              <a:t>EBSN</a:t>
            </a:r>
            <a:r>
              <a:rPr lang="zh-CN" altLang="en-US" sz="700" dirty="0" smtClean="0">
                <a:latin typeface="+mj-lt"/>
              </a:rPr>
              <a:t>网络包</a:t>
            </a:r>
            <a:r>
              <a:rPr lang="en-US" altLang="zh-CN" sz="700" dirty="0" err="1" smtClean="0">
                <a:latin typeface="+mj-lt"/>
              </a:rPr>
              <a:t>Users,Tags,Events,Groups</a:t>
            </a:r>
            <a:r>
              <a:rPr lang="zh-CN" altLang="en-US" sz="700" dirty="0" smtClean="0">
                <a:latin typeface="+mj-lt"/>
              </a:rPr>
              <a:t>等类型，且可在特定类间转移。</a:t>
            </a:r>
            <a:endParaRPr lang="en-US" altLang="zh-CN" sz="700" dirty="0" smtClean="0">
              <a:latin typeface="+mj-lt"/>
            </a:endParaRPr>
          </a:p>
          <a:p>
            <a:r>
              <a:rPr lang="zh-CN" altLang="en-US" sz="700" dirty="0" smtClean="0">
                <a:latin typeface="+mj-lt"/>
              </a:rPr>
              <a:t>使用多维马尔科夫链，每个类转移均维护一个转移矩阵。</a:t>
            </a:r>
            <a:endParaRPr lang="en-US" altLang="zh-CN" sz="700" dirty="0">
              <a:latin typeface="+mj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1724" y="5477075"/>
            <a:ext cx="28511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-59818" y="5437817"/>
            <a:ext cx="101662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12(a) Recommendation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-59818" y="5521742"/>
            <a:ext cx="9605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Collaborative Filtering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-59818" y="5605054"/>
                <a:ext cx="2994378" cy="565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设有用户集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与物品集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</a:t>
                </a:r>
                <a:r>
                  <a:rPr lang="zh-CN" altLang="en-US" sz="700" dirty="0" smtClean="0">
                    <a:latin typeface="+mj-lt"/>
                  </a:rPr>
                  <a:t>预测用户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对未评价物品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的评分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User-Based CF:    (Item-Based CF</a:t>
                </a:r>
                <a:r>
                  <a:rPr lang="zh-CN" altLang="en-US" sz="700" dirty="0" smtClean="0">
                    <a:latin typeface="+mj-lt"/>
                  </a:rPr>
                  <a:t>类似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</a:p>
              <a:p>
                <a:r>
                  <a:rPr lang="en-US" altLang="zh-CN" sz="700" dirty="0" smtClean="0">
                    <a:latin typeface="+mj-lt"/>
                  </a:rPr>
                  <a:t>[1]</a:t>
                </a:r>
                <a:r>
                  <a:rPr lang="zh-CN" altLang="en-US" sz="700" dirty="0" smtClean="0">
                    <a:latin typeface="+mj-lt"/>
                  </a:rPr>
                  <a:t>计算用户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相似度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取已评价物品交集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相关系数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余弦相似度</a:t>
                </a:r>
                <a:r>
                  <a:rPr lang="en-US" altLang="zh-CN" sz="700" dirty="0" smtClean="0">
                    <a:latin typeface="+mj-lt"/>
                  </a:rPr>
                  <a:t>) </a:t>
                </a:r>
              </a:p>
              <a:p>
                <a:r>
                  <a:rPr lang="en-US" altLang="zh-CN" sz="700" dirty="0" smtClean="0">
                    <a:latin typeface="+mj-lt"/>
                  </a:rPr>
                  <a:t>[2]</a:t>
                </a:r>
                <a:r>
                  <a:rPr lang="zh-CN" altLang="en-US" sz="700" dirty="0" smtClean="0">
                    <a:latin typeface="+mj-lt"/>
                  </a:rPr>
                  <a:t>使用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个最相似用户预测评分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≠?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)/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≠?</m:t>
                        </m:r>
                      </m:sub>
                    </m:sSub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endParaRPr lang="en-US" altLang="zh-CN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818" y="5605054"/>
                <a:ext cx="2994378" cy="5652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/>
          <p:cNvSpPr txBox="1"/>
          <p:nvPr/>
        </p:nvSpPr>
        <p:spPr>
          <a:xfrm>
            <a:off x="-59818" y="6035512"/>
            <a:ext cx="18918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Matrix Factorization and Factorization Machines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-59818" y="6135539"/>
                <a:ext cx="2994378" cy="1959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Matrix Factorization</a:t>
                </a:r>
                <a:r>
                  <a:rPr lang="zh-CN" altLang="en-US" sz="700" dirty="0" smtClean="0">
                    <a:latin typeface="+mj-lt"/>
                  </a:rPr>
                  <a:t>：学习隐因子</a:t>
                </a:r>
                <a:r>
                  <a:rPr lang="en-US" altLang="zh-CN" sz="700" dirty="0" smtClean="0">
                    <a:latin typeface="+mj-lt"/>
                  </a:rPr>
                  <a:t>(latent features)</a:t>
                </a:r>
              </a:p>
              <a:p>
                <a:r>
                  <a:rPr lang="zh-CN" altLang="en-US" sz="700" dirty="0" smtClean="0">
                    <a:latin typeface="+mj-lt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为用户</a:t>
                </a:r>
                <a:r>
                  <a:rPr lang="zh-CN" altLang="en-US" sz="700" dirty="0"/>
                  <a:t>隐</a:t>
                </a:r>
                <a:r>
                  <a:rPr lang="zh-CN" altLang="en-US" sz="700" dirty="0" smtClean="0"/>
                  <a:t>因子</a:t>
                </a:r>
                <a:r>
                  <a:rPr lang="en-US" altLang="zh-CN" sz="700" dirty="0" smtClean="0"/>
                  <a:t>(</a:t>
                </a:r>
                <a:r>
                  <a:rPr lang="zh-CN" altLang="en-US" sz="700" dirty="0" smtClean="0"/>
                  <a:t>每个用户均有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属性</a:t>
                </a:r>
                <a:r>
                  <a:rPr lang="en-US" altLang="zh-CN" sz="700" dirty="0" smtClean="0"/>
                  <a:t>),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zh-CN" altLang="en-US" sz="7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物品</a:t>
                </a:r>
                <a:r>
                  <a:rPr lang="zh-CN" altLang="en-US" sz="700" dirty="0"/>
                  <a:t>隐</a:t>
                </a:r>
                <a:r>
                  <a:rPr lang="zh-CN" altLang="en-US" sz="700" dirty="0" smtClean="0"/>
                  <a:t>因子</a:t>
                </a:r>
                <a:r>
                  <a:rPr lang="en-US" altLang="zh-CN" sz="700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700" i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sz="700" dirty="0" smtClean="0"/>
                  <a:t>已有评价集合</a:t>
                </a:r>
                <a:endParaRPr lang="en-US" altLang="zh-CN" sz="700" dirty="0" smtClean="0"/>
              </a:p>
              <a:p>
                <a14:m>
                  <m:oMath xmlns:m="http://schemas.openxmlformats.org/officeDocument/2006/math">
                    <m:r>
                      <a:rPr lang="zh-CN" altLang="en-US" sz="700" b="0" i="1" dirty="0">
                        <a:latin typeface="Cambria Math" panose="02040503050406030204" pitchFamily="18" charset="0"/>
                      </a:rPr>
                      <m:t>用户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对物品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评分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altLang="zh-CN" sz="7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const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相似度目标函数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即使评分矩阵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Factorization Machine: </a:t>
                </a:r>
                <a:r>
                  <a:rPr lang="zh-CN" altLang="en-US" sz="700" dirty="0" smtClean="0">
                    <a:latin typeface="+mj-lt"/>
                  </a:rPr>
                  <a:t>统一建模所有特征交互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</a:p>
              <a:p>
                <a:r>
                  <a:rPr lang="zh-CN" altLang="en-US" sz="700" dirty="0" smtClean="0">
                    <a:latin typeface="+mj-lt"/>
                  </a:rPr>
                  <a:t>设输入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用户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:r>
                  <a:rPr lang="zh-CN" altLang="en-US" sz="700" dirty="0" smtClean="0">
                    <a:latin typeface="+mj-lt"/>
                  </a:rPr>
                  <a:t>物品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:r>
                  <a:rPr lang="zh-CN" altLang="en-US" sz="700" dirty="0" smtClean="0">
                    <a:latin typeface="+mj-lt"/>
                  </a:rPr>
                  <a:t>时间等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为向量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=1→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=1→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+1→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     o(d^2)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=1→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=1→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700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=1→</m:t>
                                    </m:r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=1→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</m:sub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  o(</a:t>
                </a:r>
                <a:r>
                  <a:rPr lang="en-US" altLang="zh-CN" sz="700" dirty="0" err="1" smtClean="0">
                    <a:latin typeface="+mj-lt"/>
                  </a:rPr>
                  <a:t>kd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</a:p>
              <a:p>
                <a:r>
                  <a:rPr lang="en-US" altLang="zh-CN" sz="700" dirty="0" smtClean="0">
                    <a:latin typeface="+mj-lt"/>
                  </a:rPr>
                  <a:t>WR-MF(Weighted Regularizes Matrix Factorization): </a:t>
                </a:r>
                <a:r>
                  <a:rPr lang="zh-CN" altLang="en-US" sz="700" dirty="0" smtClean="0">
                    <a:latin typeface="+mj-lt"/>
                  </a:rPr>
                  <a:t>未评价样本也产生作用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𝑢𝑖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𝑢𝑖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CN" sz="700" dirty="0" smtClean="0"/>
                  <a:t>,</a:t>
                </a:r>
                <a:r>
                  <a:rPr lang="zh-CN" altLang="en-US" sz="700" dirty="0" smtClean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700" dirty="0" smtClean="0"/>
                  <a:t>为</a:t>
                </a:r>
                <a:r>
                  <a:rPr lang="en-US" altLang="zh-CN" sz="700" dirty="0" smtClean="0"/>
                  <a:t>1</a:t>
                </a:r>
                <a:r>
                  <a:rPr lang="zh-CN" altLang="en-US" sz="700" dirty="0" smtClean="0"/>
                  <a:t>否则为</a:t>
                </a:r>
                <a:r>
                  <a:rPr lang="en-US" altLang="zh-CN" sz="700" dirty="0" smtClean="0"/>
                  <a:t>0</a:t>
                </a:r>
                <a:r>
                  <a:rPr lang="zh-CN" altLang="en-US" sz="700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</m:oMath>
                </a14:m>
                <a:r>
                  <a:rPr lang="zh-CN" altLang="en-US" sz="700" dirty="0" smtClean="0"/>
                  <a:t>根据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/>
                  <a:t>属于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700" dirty="0" smtClean="0"/>
                  <a:t>情况表示不同权重</a:t>
                </a:r>
                <a:r>
                  <a:rPr lang="en-US" altLang="zh-CN" sz="700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700" dirty="0" smtClean="0"/>
                  <a:t>为正则项</a:t>
                </a:r>
                <a:endParaRPr lang="en-US" altLang="zh-CN" sz="700" dirty="0"/>
              </a:p>
              <a:p>
                <a:r>
                  <a:rPr lang="en-US" altLang="zh-CN" sz="700" dirty="0" smtClean="0"/>
                  <a:t>BPR(Bayesian Personalized Ranking): </a:t>
                </a:r>
              </a:p>
              <a:p>
                <a:r>
                  <a:rPr lang="zh-CN" altLang="en-US" sz="700" dirty="0" smtClean="0"/>
                  <a:t>构建三元组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使得评分过的预测值高于未评分</a:t>
                </a:r>
                <a:endParaRPr lang="en-US" altLang="zh-CN" sz="70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  <m:t>𝑢𝑖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̂"/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  <m:t>𝑢𝑗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𝐵𝑃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𝑂𝑝𝑡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</m:e>
                              <m:sub>
                                <m:r>
                                  <a:rPr lang="en-US" altLang="zh-CN" sz="70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</m:oMath>
                </a14:m>
                <a:r>
                  <a:rPr lang="en-US" altLang="zh-CN" sz="700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700" dirty="0" smtClean="0"/>
                  <a:t>为</a:t>
                </a:r>
                <a:r>
                  <a:rPr lang="en-US" altLang="zh-CN" sz="700" dirty="0" smtClean="0"/>
                  <a:t>sigmoid</a:t>
                </a:r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818" y="6135539"/>
                <a:ext cx="2994378" cy="19598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-67028" y="7975024"/>
            <a:ext cx="13676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Location Based Recommendation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-67028" y="8075051"/>
                <a:ext cx="2994378" cy="1579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异质图   节点：</a:t>
                </a:r>
                <a:r>
                  <a:rPr lang="en-US" altLang="zh-CN" sz="700" dirty="0" smtClean="0">
                    <a:latin typeface="+mj-lt"/>
                  </a:rPr>
                  <a:t>POI</a:t>
                </a:r>
                <a:r>
                  <a:rPr lang="en-US" altLang="zh-CN" sz="700" dirty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兴趣点</a:t>
                </a:r>
                <a:r>
                  <a:rPr lang="en-US" altLang="zh-CN" sz="700" dirty="0" smtClean="0">
                    <a:latin typeface="+mj-lt"/>
                  </a:rPr>
                  <a:t>),</a:t>
                </a:r>
                <a:r>
                  <a:rPr lang="zh-CN" altLang="en-US" sz="700" dirty="0" smtClean="0">
                    <a:latin typeface="+mj-lt"/>
                  </a:rPr>
                  <a:t>用户； 边：签到</a:t>
                </a:r>
                <a:r>
                  <a:rPr lang="en-US" altLang="zh-CN" sz="700" dirty="0" smtClean="0">
                    <a:latin typeface="+mj-lt"/>
                  </a:rPr>
                  <a:t>(User-&gt;POI</a:t>
                </a:r>
                <a:r>
                  <a:rPr lang="en-US" altLang="zh-CN" sz="700" dirty="0">
                    <a:latin typeface="+mj-lt"/>
                  </a:rPr>
                  <a:t>)</a:t>
                </a:r>
                <a:r>
                  <a:rPr lang="en-US" altLang="zh-CN" sz="700" dirty="0" smtClean="0">
                    <a:latin typeface="+mj-lt"/>
                  </a:rPr>
                  <a:t>,</a:t>
                </a:r>
                <a:r>
                  <a:rPr lang="zh-CN" altLang="en-US" sz="700" dirty="0" smtClean="0">
                    <a:latin typeface="+mj-lt"/>
                  </a:rPr>
                  <a:t>好友</a:t>
                </a:r>
                <a:r>
                  <a:rPr lang="en-US" altLang="zh-CN" sz="700" dirty="0" smtClean="0">
                    <a:latin typeface="+mj-lt"/>
                  </a:rPr>
                  <a:t>(User-&gt;User)</a:t>
                </a:r>
              </a:p>
              <a:p>
                <a:r>
                  <a:rPr lang="zh-CN" altLang="en-US" sz="700" dirty="0" smtClean="0">
                    <a:latin typeface="+mj-lt"/>
                  </a:rPr>
                  <a:t>对特定用户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签到</a:t>
                </a:r>
                <a:r>
                  <a:rPr lang="en-US" altLang="zh-CN" sz="700" dirty="0" smtClean="0">
                    <a:latin typeface="+mj-lt"/>
                  </a:rPr>
                  <a:t>POI</a:t>
                </a:r>
                <a:r>
                  <a:rPr lang="zh-CN" altLang="en-US" sz="700" dirty="0" smtClean="0">
                    <a:latin typeface="+mj-lt"/>
                  </a:rPr>
                  <a:t>概率与到</a:t>
                </a:r>
                <a:r>
                  <a:rPr lang="en-US" altLang="zh-CN" sz="700" dirty="0" smtClean="0">
                    <a:latin typeface="+mj-lt"/>
                  </a:rPr>
                  <a:t>POI</a:t>
                </a:r>
                <a:r>
                  <a:rPr lang="zh-CN" altLang="en-US" sz="700" dirty="0" smtClean="0">
                    <a:latin typeface="+mj-lt"/>
                  </a:rPr>
                  <a:t>距离成幂律分布</a:t>
                </a:r>
                <a:r>
                  <a:rPr lang="en-US" altLang="zh-CN" sz="700" dirty="0" smtClean="0">
                    <a:latin typeface="+mj-lt"/>
                  </a:rPr>
                  <a:t>; </a:t>
                </a:r>
                <a:r>
                  <a:rPr lang="zh-CN" altLang="en-US" sz="700" dirty="0" smtClean="0">
                    <a:latin typeface="+mj-lt"/>
                  </a:rPr>
                  <a:t>设该用户签到集合为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7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sz="700" dirty="0" smtClean="0"/>
                  <a:t>  </a:t>
                </a:r>
              </a:p>
              <a:p>
                <a:r>
                  <a:rPr lang="zh-CN" altLang="en-US" sz="700" dirty="0" smtClean="0"/>
                  <a:t>假设</a:t>
                </a:r>
                <a:r>
                  <a:rPr lang="en-US" altLang="zh-CN" sz="700" dirty="0" smtClean="0"/>
                  <a:t>POI</a:t>
                </a:r>
                <a:r>
                  <a:rPr lang="zh-CN" altLang="en-US" sz="700" dirty="0" smtClean="0"/>
                  <a:t>被签到概率受其它</a:t>
                </a:r>
                <a:r>
                  <a:rPr lang="en-US" altLang="zh-CN" sz="700" dirty="0" smtClean="0"/>
                  <a:t>POI</a:t>
                </a:r>
                <a:r>
                  <a:rPr lang="zh-CN" altLang="en-US" sz="700" dirty="0" smtClean="0"/>
                  <a:t>距离影响， 且签到相互独立</a:t>
                </a:r>
                <a:endParaRPr lang="en-US" altLang="zh-CN" sz="700" dirty="0" smtClean="0"/>
              </a:p>
              <a:p>
                <a:r>
                  <a:rPr lang="zh-CN" altLang="en-US" sz="700" dirty="0" smtClean="0"/>
                  <a:t>则对新</a:t>
                </a:r>
                <a:r>
                  <a:rPr lang="en-US" altLang="zh-CN" sz="700" dirty="0" smtClean="0"/>
                  <a:t>POI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700" dirty="0" smtClean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altLang="zh-CN" sz="700" i="1" dirty="0" smtClean="0"/>
              </a:p>
              <a:p>
                <a:r>
                  <a:rPr lang="en-US" altLang="zh-CN" sz="700" dirty="0" smtClean="0"/>
                  <a:t>User/Friend-Based CF</a:t>
                </a:r>
                <a:r>
                  <a:rPr lang="zh-CN" altLang="en-US" sz="700" dirty="0" smtClean="0"/>
                  <a:t>； 或同时融合地理、用户偏好、朋友影响</a:t>
                </a:r>
                <a:endParaRPr lang="en-US" altLang="zh-CN" sz="700" dirty="0" smtClean="0"/>
              </a:p>
              <a:p>
                <a:r>
                  <a:rPr lang="en-US" altLang="zh-CN" sz="700" dirty="0" smtClean="0"/>
                  <a:t>Rank-</a:t>
                </a:r>
                <a:r>
                  <a:rPr lang="en-US" altLang="zh-CN" sz="700" dirty="0" err="1" smtClean="0"/>
                  <a:t>GeoFM</a:t>
                </a:r>
                <a:r>
                  <a:rPr lang="en-US" altLang="zh-CN" sz="700" dirty="0" smtClean="0"/>
                  <a:t>: </a:t>
                </a:r>
                <a:r>
                  <a:rPr lang="zh-CN" altLang="en-US" sz="700" dirty="0" smtClean="0"/>
                  <a:t>假设签到频率越高表示用户偏好</a:t>
                </a:r>
                <a:r>
                  <a:rPr lang="en-US" altLang="zh-CN" sz="700" dirty="0" smtClean="0"/>
                  <a:t>POI</a:t>
                </a:r>
                <a:r>
                  <a:rPr lang="zh-CN" altLang="en-US" sz="700" dirty="0" smtClean="0"/>
                  <a:t>且无评分</a:t>
                </a:r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数据稀疏</a:t>
                </a:r>
                <a:endParaRPr lang="en-US" altLang="zh-CN" sz="700" dirty="0" smtClean="0"/>
              </a:p>
              <a:p>
                <a:r>
                  <a:rPr lang="zh-CN" altLang="en-US" sz="700" dirty="0" smtClean="0"/>
                  <a:t>对用户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700" dirty="0" smtClean="0"/>
                  <a:t>根据签到频率按</a:t>
                </a:r>
                <a:r>
                  <a:rPr lang="en-US" altLang="zh-CN" sz="700" dirty="0" smtClean="0"/>
                  <a:t>POI</a:t>
                </a:r>
                <a:r>
                  <a:rPr lang="zh-CN" altLang="en-US" sz="700" dirty="0" smtClean="0"/>
                  <a:t>排序</a:t>
                </a:r>
                <a:r>
                  <a:rPr lang="en-US" altLang="zh-CN" sz="700" dirty="0" smtClean="0"/>
                  <a:t>, </a:t>
                </a:r>
                <a:r>
                  <a:rPr lang="zh-CN" altLang="en-US" sz="700" dirty="0" smtClean="0"/>
                  <a:t>目标</a:t>
                </a:r>
                <a:r>
                  <a:rPr lang="en-US" altLang="zh-CN" sz="700" dirty="0" smtClean="0"/>
                  <a:t>: </a:t>
                </a:r>
                <a:r>
                  <a:rPr lang="zh-CN" altLang="en-US" sz="700" dirty="0" smtClean="0"/>
                  <a:t>预测模型分数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𝑢𝑙</m:t>
                            </m:r>
                          </m:sub>
                        </m:sSub>
                      </m:e>
                    </m:acc>
                    <m:r>
                      <a:rPr lang="zh-CN" altLang="en-US" sz="700" i="1" dirty="0">
                        <a:latin typeface="Cambria Math" panose="02040503050406030204" pitchFamily="18" charset="0"/>
                      </a:rPr>
                      <m:t>同样</m:t>
                    </m:r>
                  </m:oMath>
                </a14:m>
                <a:r>
                  <a:rPr lang="zh-CN" altLang="en-US" sz="700" dirty="0" smtClean="0"/>
                  <a:t>遵循排序</a:t>
                </a:r>
                <a:endParaRPr lang="en-US" altLang="zh-CN" sz="700" dirty="0" smtClean="0"/>
              </a:p>
              <a:p>
                <a:r>
                  <a:rPr lang="en-US" altLang="zh-CN" sz="700" dirty="0" smtClean="0"/>
                  <a:t>[1]</a:t>
                </a:r>
                <a:r>
                  <a:rPr lang="zh-CN" altLang="en-US" sz="700" dirty="0" smtClean="0"/>
                  <a:t>计算两排序差异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𝐼𝑛𝑐𝑜𝑚𝑝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𝑢𝑙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𝑢𝑙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Sup>
                          <m:sSub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𝑢𝑙</m:t>
                            </m:r>
                          </m:sub>
                          <m:sup/>
                        </m:sSub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𝑢𝑙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/>
              </a:p>
              <a:p>
                <a:r>
                  <a:rPr lang="zh-CN" altLang="en-US" sz="700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700" dirty="0" smtClean="0"/>
                  <a:t>项表示签到排序</a:t>
                </a:r>
                <a:r>
                  <a:rPr lang="en-US" altLang="zh-CN" sz="7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700" dirty="0" smtClean="0"/>
                  <a:t>项表示预测排序</a:t>
                </a:r>
                <a:endParaRPr lang="en-US" altLang="zh-CN" sz="700" dirty="0" smtClean="0"/>
              </a:p>
              <a:p>
                <a:r>
                  <a:rPr lang="en-US" altLang="zh-CN" sz="700" dirty="0" smtClean="0"/>
                  <a:t>[2]</a:t>
                </a:r>
                <a:r>
                  <a:rPr lang="zh-CN" altLang="en-US" sz="700" dirty="0" smtClean="0"/>
                  <a:t>损失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𝐼𝑛𝑐𝑜𝑚𝑝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𝑢𝑙</m:t>
                                </m:r>
                              </m:sub>
                            </m:s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</m:d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700" dirty="0" smtClean="0"/>
              </a:p>
              <a:p>
                <a:r>
                  <a:rPr lang="en-US" altLang="zh-CN" sz="700" dirty="0" smtClean="0"/>
                  <a:t>[3]</a:t>
                </a:r>
                <a:r>
                  <a:rPr lang="zh-CN" altLang="en-US" sz="700" dirty="0" smtClean="0"/>
                  <a:t>预测分数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𝑢𝑙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700" dirty="0" smtClean="0"/>
                  <a:t>,  </a:t>
                </a:r>
                <a:r>
                  <a:rPr lang="zh-CN" altLang="en-US" sz="700" dirty="0" smtClean="0"/>
                  <a:t>第一项为用户偏好</a:t>
                </a:r>
                <a:r>
                  <a:rPr lang="en-US" altLang="zh-CN" sz="700" dirty="0" smtClean="0"/>
                  <a:t>(</a:t>
                </a:r>
                <a:r>
                  <a:rPr lang="zh-CN" altLang="en-US" sz="700" dirty="0" smtClean="0"/>
                  <a:t>矩阵分解</a:t>
                </a:r>
                <a:r>
                  <a:rPr lang="en-US" altLang="zh-CN" sz="700" dirty="0" smtClean="0"/>
                  <a:t>), </a:t>
                </a:r>
                <a:r>
                  <a:rPr lang="zh-CN" altLang="en-US" sz="700" dirty="0" smtClean="0"/>
                  <a:t>第二项为地理影响</a:t>
                </a:r>
                <a:r>
                  <a:rPr lang="en-US" altLang="zh-CN" sz="700" dirty="0" smtClean="0"/>
                  <a:t>(</a:t>
                </a:r>
                <a:r>
                  <a:rPr lang="zh-CN" altLang="en-US" sz="700" dirty="0" smtClean="0"/>
                  <a:t>相邻</a:t>
                </a:r>
                <a:r>
                  <a:rPr lang="en-US" altLang="zh-CN" sz="700" dirty="0" smtClean="0"/>
                  <a:t>POI</a:t>
                </a:r>
                <a:r>
                  <a:rPr lang="zh-CN" altLang="en-US" sz="700" dirty="0" smtClean="0"/>
                  <a:t>距离加权</a:t>
                </a:r>
                <a:r>
                  <a:rPr lang="en-US" altLang="zh-CN" sz="700" dirty="0" smtClean="0"/>
                  <a:t>)</a:t>
                </a:r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028" y="8075051"/>
                <a:ext cx="2994378" cy="15795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/>
          <p:cNvCxnSpPr/>
          <p:nvPr/>
        </p:nvCxnSpPr>
        <p:spPr>
          <a:xfrm>
            <a:off x="10583" y="9605252"/>
            <a:ext cx="28511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-47511" y="9565994"/>
            <a:ext cx="11368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12(b)  Network Embedding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-47511" y="9649919"/>
            <a:ext cx="5661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Deep Walk</a:t>
            </a:r>
            <a:endParaRPr lang="en-US" altLang="zh-CN" sz="700" b="1" dirty="0">
              <a:latin typeface="+mj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-73338" y="9749946"/>
            <a:ext cx="299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节点嵌入反映邻接关系：网络中节点作为</a:t>
            </a:r>
            <a:r>
              <a:rPr lang="en-US" altLang="zh-CN" sz="700" dirty="0" smtClean="0">
                <a:latin typeface="+mj-lt"/>
              </a:rPr>
              <a:t>”</a:t>
            </a:r>
            <a:r>
              <a:rPr lang="zh-CN" altLang="en-US" sz="700" dirty="0" smtClean="0">
                <a:latin typeface="+mj-lt"/>
              </a:rPr>
              <a:t>单词</a:t>
            </a:r>
            <a:r>
              <a:rPr lang="en-US" altLang="zh-CN" sz="700" dirty="0" smtClean="0">
                <a:latin typeface="+mj-lt"/>
              </a:rPr>
              <a:t>”, </a:t>
            </a:r>
            <a:r>
              <a:rPr lang="zh-CN" altLang="en-US" sz="700" dirty="0" smtClean="0">
                <a:latin typeface="+mj-lt"/>
              </a:rPr>
              <a:t>随机游走形成</a:t>
            </a:r>
            <a:r>
              <a:rPr lang="en-US" altLang="zh-CN" sz="700" dirty="0" smtClean="0">
                <a:latin typeface="+mj-lt"/>
              </a:rPr>
              <a:t>”</a:t>
            </a:r>
            <a:r>
              <a:rPr lang="zh-CN" altLang="en-US" sz="700" dirty="0" smtClean="0">
                <a:latin typeface="+mj-lt"/>
              </a:rPr>
              <a:t>句子</a:t>
            </a:r>
            <a:r>
              <a:rPr lang="en-US" altLang="zh-CN" sz="700" dirty="0" smtClean="0">
                <a:latin typeface="+mj-lt"/>
              </a:rPr>
              <a:t>”</a:t>
            </a:r>
          </a:p>
          <a:p>
            <a:r>
              <a:rPr lang="en-US" altLang="zh-CN" sz="700" dirty="0" smtClean="0"/>
              <a:t>Skip-Gram: </a:t>
            </a:r>
            <a:r>
              <a:rPr lang="zh-CN" altLang="en-US" sz="700" dirty="0" smtClean="0"/>
              <a:t>给定中心词推测上下文</a:t>
            </a:r>
            <a:endParaRPr lang="en-US" altLang="zh-CN" sz="700" b="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-73338" y="10118154"/>
                <a:ext cx="784538" cy="55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700" b="0" dirty="0" smtClean="0"/>
                  <a:t>:</a:t>
                </a:r>
                <a:r>
                  <a:rPr lang="zh-CN" altLang="en-US" sz="700" b="0" dirty="0" smtClean="0"/>
                  <a:t>第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700" b="0" dirty="0" smtClean="0"/>
                  <a:t>上下文位置词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700" b="0" dirty="0" smtClean="0"/>
                  <a:t>的得分</a:t>
                </a:r>
                <a:endParaRPr lang="en-US" altLang="zh-CN" sz="700" b="0" dirty="0" smtClean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sz="700" b="0" dirty="0" smtClean="0"/>
                  <a:t>:</a:t>
                </a:r>
                <a:r>
                  <a:rPr lang="zh-CN" altLang="en-US" sz="700" b="0" dirty="0" smtClean="0"/>
                  <a:t>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700" b="0" dirty="0" smtClean="0"/>
                  <a:t>对应列向量</a:t>
                </a:r>
                <a:endParaRPr lang="en-US" altLang="zh-CN" sz="700" b="0" dirty="0" smtClean="0"/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338" y="10118154"/>
                <a:ext cx="784538" cy="553228"/>
              </a:xfrm>
              <a:prstGeom prst="rect">
                <a:avLst/>
              </a:prstGeom>
              <a:blipFill>
                <a:blip r:embed="rId14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/>
              <p:cNvSpPr txBox="1"/>
              <p:nvPr/>
            </p:nvSpPr>
            <p:spPr>
              <a:xfrm>
                <a:off x="2753451" y="67096"/>
                <a:ext cx="2554843" cy="756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 smtClean="0">
                    <a:latin typeface="+mj-lt"/>
                  </a:rPr>
                  <a:t>Softmax</a:t>
                </a:r>
                <a:r>
                  <a:rPr lang="zh-CN" altLang="en-US" sz="700" dirty="0" smtClean="0">
                    <a:latin typeface="+mj-lt"/>
                  </a:rPr>
                  <a:t>效率优化</a:t>
                </a:r>
                <a:r>
                  <a:rPr lang="en-US" altLang="zh-CN" sz="700" dirty="0" smtClean="0">
                    <a:latin typeface="+mj-lt"/>
                  </a:rPr>
                  <a:t>:   Hierarchical </a:t>
                </a:r>
                <a:r>
                  <a:rPr lang="en-US" altLang="zh-CN" sz="700" dirty="0" err="1" smtClean="0">
                    <a:latin typeface="+mj-lt"/>
                  </a:rPr>
                  <a:t>Softmax</a:t>
                </a:r>
                <a:r>
                  <a:rPr lang="en-US" altLang="zh-CN" sz="700" dirty="0" smtClean="0">
                    <a:latin typeface="+mj-lt"/>
                  </a:rPr>
                  <a:t>:</a:t>
                </a:r>
                <a:r>
                  <a:rPr lang="zh-CN" altLang="en-US" sz="700" dirty="0" smtClean="0">
                    <a:latin typeface="+mj-lt"/>
                  </a:rPr>
                  <a:t>用</a:t>
                </a:r>
                <a:r>
                  <a:rPr lang="zh-CN" altLang="en-US" sz="700" dirty="0">
                    <a:latin typeface="+mj-lt"/>
                  </a:rPr>
                  <a:t>霍夫曼树替代全连接 </a:t>
                </a:r>
                <a:r>
                  <a:rPr lang="en-US" altLang="zh-CN" sz="700" dirty="0" err="1" smtClean="0">
                    <a:latin typeface="+mj-lt"/>
                  </a:rPr>
                  <a:t>softmax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训练仅需更新路径节点，复杂度 </a:t>
                </a:r>
                <a:r>
                  <a:rPr lang="en-US" altLang="zh-CN" sz="700" dirty="0" smtClean="0">
                    <a:latin typeface="+mj-lt"/>
                  </a:rPr>
                  <a:t>O(n</a:t>
                </a:r>
                <a:r>
                  <a:rPr lang="en-US" altLang="zh-CN" sz="700" dirty="0">
                    <a:latin typeface="+mj-lt"/>
                  </a:rPr>
                  <a:t>) </a:t>
                </a:r>
                <a:r>
                  <a:rPr lang="en-US" altLang="zh-CN" sz="700" dirty="0" smtClean="0">
                    <a:latin typeface="+mj-lt"/>
                  </a:rPr>
                  <a:t>-&gt;O(</a:t>
                </a:r>
                <a:r>
                  <a:rPr lang="en-US" altLang="zh-CN" sz="700" dirty="0" err="1" smtClean="0">
                    <a:latin typeface="+mj-lt"/>
                  </a:rPr>
                  <a:t>logn</a:t>
                </a:r>
                <a:r>
                  <a:rPr lang="en-US" altLang="zh-CN" sz="700" dirty="0">
                    <a:latin typeface="+mj-lt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=1→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为每个树节点分类向量，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𝑑𝑖𝑟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为方向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)</a:t>
                </a:r>
              </a:p>
              <a:p>
                <a:r>
                  <a:rPr lang="en-US" altLang="zh-CN" sz="700" dirty="0" smtClean="0">
                    <a:latin typeface="+mj-lt"/>
                  </a:rPr>
                  <a:t>Negative Sampling:</a:t>
                </a:r>
                <a:r>
                  <a:rPr lang="zh-CN" altLang="en-US" sz="700" dirty="0" smtClean="0">
                    <a:latin typeface="+mj-lt"/>
                  </a:rPr>
                  <a:t>采样</a:t>
                </a:r>
                <a:r>
                  <a:rPr lang="zh-CN" altLang="en-US" sz="700" dirty="0">
                    <a:latin typeface="+mj-lt"/>
                  </a:rPr>
                  <a:t>少量负样本</a:t>
                </a:r>
                <a:r>
                  <a:rPr lang="zh-CN" altLang="en-US" sz="700" dirty="0" smtClean="0">
                    <a:latin typeface="+mj-lt"/>
                  </a:rPr>
                  <a:t>，二</a:t>
                </a:r>
                <a:r>
                  <a:rPr lang="zh-CN" altLang="en-US" sz="700" dirty="0">
                    <a:latin typeface="+mj-lt"/>
                  </a:rPr>
                  <a:t>分类替代多分类</a:t>
                </a:r>
                <a:r>
                  <a:rPr lang="zh-CN" altLang="en-US" sz="700" dirty="0" smtClean="0">
                    <a:latin typeface="+mj-lt"/>
                  </a:rPr>
                  <a:t>，大幅提升训练速度</a:t>
                </a:r>
                <a:endParaRPr lang="zh-CN" altLang="en-US" sz="700" dirty="0">
                  <a:latin typeface="+mj-lt"/>
                </a:endParaRPr>
              </a:p>
            </p:txBody>
          </p:sp>
        </mc:Choice>
        <mc:Fallback xmlns=""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51" y="67096"/>
                <a:ext cx="2554843" cy="756426"/>
              </a:xfrm>
              <a:prstGeom prst="rect">
                <a:avLst/>
              </a:prstGeom>
              <a:blipFill>
                <a:blip r:embed="rId15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/>
          <p:cNvSpPr txBox="1"/>
          <p:nvPr/>
        </p:nvSpPr>
        <p:spPr>
          <a:xfrm>
            <a:off x="2762385" y="972126"/>
            <a:ext cx="5501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Node2Vec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2753451" y="1069322"/>
                <a:ext cx="2482124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最大化邻节点出现概率</a:t>
                </a:r>
                <a:r>
                  <a:rPr lang="en-US" altLang="zh-CN" sz="700" dirty="0" smtClean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)|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为采样邻节点组合</a:t>
                </a:r>
                <a:endParaRPr lang="en-US" altLang="zh-CN" sz="700" dirty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引入返回参数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BFS</a:t>
                </a:r>
                <a:r>
                  <a:rPr lang="zh-CN" altLang="en-US" sz="700" dirty="0" smtClean="0">
                    <a:latin typeface="+mj-lt"/>
                  </a:rPr>
                  <a:t>倾向</a:t>
                </a:r>
                <a:r>
                  <a:rPr lang="en-US" altLang="zh-CN" sz="700" dirty="0" smtClean="0">
                    <a:latin typeface="+mj-lt"/>
                  </a:rPr>
                  <a:t>),</a:t>
                </a:r>
                <a:r>
                  <a:rPr lang="zh-CN" altLang="en-US" sz="700" dirty="0" smtClean="0">
                    <a:latin typeface="+mj-lt"/>
                  </a:rPr>
                  <a:t>进出参数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DFS</a:t>
                </a:r>
                <a:r>
                  <a:rPr lang="zh-CN" altLang="en-US" sz="700" dirty="0" smtClean="0">
                    <a:latin typeface="+mj-lt"/>
                  </a:rPr>
                  <a:t>倾向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微</a:t>
                </a:r>
                <a:r>
                  <a:rPr lang="en-US" altLang="zh-CN" sz="700" dirty="0" smtClean="0">
                    <a:latin typeface="+mj-lt"/>
                  </a:rPr>
                  <a:t>/</a:t>
                </a:r>
                <a:r>
                  <a:rPr lang="zh-CN" altLang="en-US" sz="700" dirty="0" smtClean="0">
                    <a:latin typeface="+mj-lt"/>
                  </a:rPr>
                  <a:t>宏观特征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[1]</a:t>
                </a:r>
                <a:r>
                  <a:rPr lang="zh-CN" altLang="en-US" sz="700" dirty="0" smtClean="0">
                    <a:latin typeface="+mj-lt"/>
                  </a:rPr>
                  <a:t>计算随机游走转移概率</a:t>
                </a:r>
                <a:r>
                  <a:rPr lang="en-US" altLang="zh-CN" sz="700" dirty="0" smtClean="0">
                    <a:latin typeface="+mj-lt"/>
                  </a:rPr>
                  <a:t>; [2]</a:t>
                </a:r>
                <a:r>
                  <a:rPr lang="zh-CN" altLang="en-US" sz="700" dirty="0" smtClean="0">
                    <a:latin typeface="+mj-lt"/>
                  </a:rPr>
                  <a:t>每个节点开始固定长度采样</a:t>
                </a:r>
                <a:r>
                  <a:rPr lang="en-US" altLang="zh-CN" sz="700" dirty="0" smtClean="0">
                    <a:latin typeface="+mj-lt"/>
                  </a:rPr>
                  <a:t>;</a:t>
                </a:r>
              </a:p>
              <a:p>
                <a:r>
                  <a:rPr lang="en-US" altLang="zh-CN" sz="700" dirty="0" smtClean="0">
                    <a:latin typeface="+mj-lt"/>
                  </a:rPr>
                  <a:t>[3]</a:t>
                </a:r>
                <a:r>
                  <a:rPr lang="zh-CN" altLang="en-US" sz="700" dirty="0" smtClean="0">
                    <a:latin typeface="+mj-lt"/>
                  </a:rPr>
                  <a:t>使用学习节点嵌入   </a:t>
                </a:r>
                <a:r>
                  <a:rPr lang="en-US" altLang="zh-CN" sz="700" dirty="0" smtClean="0">
                    <a:latin typeface="+mj-lt"/>
                  </a:rPr>
                  <a:t>(o(n))</a:t>
                </a:r>
                <a:endParaRPr lang="en-US" altLang="zh-CN" sz="700" dirty="0">
                  <a:latin typeface="+mj-lt"/>
                </a:endParaRPr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51" y="1069322"/>
                <a:ext cx="2482124" cy="630942"/>
              </a:xfrm>
              <a:prstGeom prst="rect">
                <a:avLst/>
              </a:prstGeom>
              <a:blipFill>
                <a:blip r:embed="rId16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本框 45"/>
          <p:cNvSpPr txBox="1"/>
          <p:nvPr/>
        </p:nvSpPr>
        <p:spPr>
          <a:xfrm>
            <a:off x="2753451" y="855246"/>
            <a:ext cx="29943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 smtClean="0">
                <a:latin typeface="+mj-lt"/>
              </a:rPr>
              <a:t>最大化正样本得分</a:t>
            </a:r>
            <a:r>
              <a:rPr lang="en-US" altLang="zh-CN" sz="700" dirty="0" smtClean="0">
                <a:latin typeface="+mj-lt"/>
              </a:rPr>
              <a:t>, </a:t>
            </a:r>
            <a:r>
              <a:rPr lang="zh-CN" altLang="en-US" sz="700" dirty="0" smtClean="0">
                <a:latin typeface="+mj-lt"/>
              </a:rPr>
              <a:t>最小化负样本得分</a:t>
            </a:r>
            <a:endParaRPr lang="en-US" altLang="zh-CN" sz="700" dirty="0">
              <a:latin typeface="+mj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762385" y="1594086"/>
            <a:ext cx="19944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LINE (Large-scale Information Network Embedding)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2753451" y="1691282"/>
                <a:ext cx="2482124" cy="676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相似节点具有相似嵌入：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一阶相似性 节点直接连接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700" i="1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7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=1/[1+</m:t>
                      </m:r>
                      <m:r>
                        <m:rPr>
                          <m:sty m:val="p"/>
                        </m:rP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(−</m:t>
                      </m:r>
                      <m:sSubSup>
                        <m:sSubSup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7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7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二阶相似性具有共同邻节点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i="1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700" b="0" dirty="0" smtClean="0"/>
                  <a:t>为</a:t>
                </a:r>
                <a:r>
                  <a:rPr lang="en-US" altLang="zh-CN" sz="700" b="0" dirty="0" smtClean="0"/>
                  <a:t>KL</a:t>
                </a:r>
                <a:r>
                  <a:rPr lang="zh-CN" altLang="en-US" sz="700" b="0" dirty="0" smtClean="0"/>
                  <a:t>散度</a:t>
                </a:r>
                <a:r>
                  <a:rPr lang="en-US" altLang="zh-CN" sz="700" b="0" dirty="0" smtClean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=1→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sSub>
                      <m:sSubPr>
                        <m:ctrl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7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51" y="1691282"/>
                <a:ext cx="2482124" cy="67685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/>
          <p:cNvSpPr txBox="1"/>
          <p:nvPr/>
        </p:nvSpPr>
        <p:spPr>
          <a:xfrm>
            <a:off x="2762385" y="2260857"/>
            <a:ext cx="17299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latin typeface="+mj-lt"/>
              </a:rPr>
              <a:t>SDNE (Structure Deep Network Embedding)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2753451" y="2367578"/>
                <a:ext cx="2482124" cy="591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使用网络</a:t>
                </a:r>
                <a:r>
                  <a:rPr lang="en-US" altLang="zh-CN" sz="700" dirty="0" smtClean="0">
                    <a:latin typeface="+mj-lt"/>
                  </a:rPr>
                  <a:t>(</a:t>
                </a:r>
                <a:r>
                  <a:rPr lang="zh-CN" altLang="en-US" sz="700" dirty="0" smtClean="0">
                    <a:latin typeface="+mj-lt"/>
                  </a:rPr>
                  <a:t>编码器</a:t>
                </a:r>
                <a:r>
                  <a:rPr lang="en-US" altLang="zh-CN" sz="700" dirty="0" smtClean="0">
                    <a:latin typeface="+mj-lt"/>
                  </a:rPr>
                  <a:t>-</a:t>
                </a:r>
                <a:r>
                  <a:rPr lang="zh-CN" altLang="en-US" sz="700" dirty="0" smtClean="0">
                    <a:latin typeface="+mj-lt"/>
                  </a:rPr>
                  <a:t>解码器</a:t>
                </a:r>
                <a:r>
                  <a:rPr lang="en-US" altLang="zh-CN" sz="700" dirty="0" smtClean="0">
                    <a:latin typeface="+mj-lt"/>
                  </a:rPr>
                  <a:t>)</a:t>
                </a:r>
                <a:r>
                  <a:rPr lang="zh-CN" altLang="en-US" sz="700" dirty="0" smtClean="0">
                    <a:latin typeface="+mj-lt"/>
                  </a:rPr>
                  <a:t>学习节点嵌入</a:t>
                </a:r>
                <a:r>
                  <a:rPr lang="en-US" altLang="zh-CN" sz="700" dirty="0" smtClean="0">
                    <a:latin typeface="+mj-lt"/>
                  </a:rPr>
                  <a:t>:</a:t>
                </a:r>
              </a:p>
              <a:p>
                <a:r>
                  <a:rPr lang="zh-CN" altLang="en-US" sz="700" b="0" dirty="0" smtClean="0"/>
                  <a:t>重构损失保持二阶相似</a:t>
                </a:r>
                <a:r>
                  <a:rPr lang="en-US" altLang="zh-CN" sz="700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7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7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altLang="zh-CN" sz="7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⨀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sz="700" b="0" i="1" dirty="0" smtClean="0">
                  <a:latin typeface="Cambria Math" panose="02040503050406030204" pitchFamily="18" charset="0"/>
                </a:endParaRPr>
              </a:p>
              <a:p>
                <a:r>
                  <a:rPr lang="zh-CN" altLang="en-US" sz="700" b="0" dirty="0" smtClean="0"/>
                  <a:t>一阶相似</a:t>
                </a:r>
                <a:r>
                  <a:rPr lang="en-US" altLang="zh-CN" sz="700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为节点相似度</a:t>
                </a:r>
                <a:endParaRPr lang="en-US" altLang="zh-CN" sz="700" dirty="0" smtClean="0">
                  <a:latin typeface="+mj-lt"/>
                </a:endParaRPr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51" y="2367578"/>
                <a:ext cx="2482124" cy="59157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/>
          <p:cNvCxnSpPr/>
          <p:nvPr/>
        </p:nvCxnSpPr>
        <p:spPr>
          <a:xfrm>
            <a:off x="2849426" y="2935900"/>
            <a:ext cx="23861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2791332" y="2896642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 smtClean="0">
                <a:latin typeface="+mj-lt"/>
              </a:rPr>
              <a:t>13 Inference</a:t>
            </a:r>
            <a:endParaRPr lang="en-US" altLang="zh-CN" sz="700" b="1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2781561" y="2996669"/>
                <a:ext cx="2482124" cy="2107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 smtClean="0">
                    <a:latin typeface="+mj-lt"/>
                  </a:rPr>
                  <a:t>研究网络中的传播顺序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i="1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  <m: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700" b="0" i="0" dirty="0" smtClean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e>
                        </m:d>
                        <m: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700" b="0" i="0" dirty="0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</a:t>
                </a:r>
                <a:r>
                  <a:rPr lang="zh-CN" altLang="en-US" sz="700" dirty="0" smtClean="0">
                    <a:latin typeface="+mj-lt"/>
                  </a:rPr>
                  <a:t>包含传播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的所有传播树集合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在传播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中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传播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概率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传播树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存在概率</a:t>
                </a:r>
                <a:r>
                  <a:rPr lang="en-US" altLang="zh-CN" sz="700" dirty="0">
                    <a:latin typeface="+mj-lt"/>
                  </a:rPr>
                  <a:t> </a:t>
                </a:r>
                <a:r>
                  <a:rPr lang="en-US" altLang="zh-CN" sz="7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传播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在图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出现概率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: </a:t>
                </a:r>
                <a:r>
                  <a:rPr lang="zh-CN" altLang="en-US" sz="700" dirty="0" smtClean="0">
                    <a:latin typeface="+mj-lt"/>
                  </a:rPr>
                  <a:t>传播组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,….}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中存在概率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>
                    <a:latin typeface="+mj-lt"/>
                  </a:rPr>
                  <a:t>对</a:t>
                </a:r>
                <a:r>
                  <a:rPr lang="en-US" altLang="zh-CN" sz="700" dirty="0" smtClean="0">
                    <a:latin typeface="+mj-lt"/>
                  </a:rPr>
                  <a:t>Independent </a:t>
                </a:r>
                <a:r>
                  <a:rPr lang="en-US" altLang="zh-CN" sz="700" dirty="0">
                    <a:latin typeface="+mj-lt"/>
                  </a:rPr>
                  <a:t>Cascade </a:t>
                </a:r>
                <a:r>
                  <a:rPr lang="en-US" altLang="zh-CN" sz="700" dirty="0" smtClean="0">
                    <a:latin typeface="+mj-lt"/>
                  </a:rPr>
                  <a:t>Model</a:t>
                </a:r>
                <a:r>
                  <a:rPr lang="zh-CN" altLang="en-US" sz="700" dirty="0" smtClean="0">
                    <a:latin typeface="+mj-lt"/>
                  </a:rPr>
                  <a:t>成功传播为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时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sSub>
                      <m:sSubPr>
                        <m:ctrl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\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CN" sz="700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d>
                          <m:d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≈</m:t>
                    </m:r>
                    <m:limLow>
                      <m:limLow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7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lim>
                    </m:limLow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目标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考虑传播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及部分边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700" dirty="0" smtClean="0">
                    <a:latin typeface="+mj-lt"/>
                  </a:rPr>
                  <a:t>, </a:t>
                </a:r>
                <a:r>
                  <a:rPr lang="zh-CN" altLang="en-US" sz="700" dirty="0" smtClean="0">
                    <a:latin typeface="+mj-lt"/>
                  </a:rPr>
                  <a:t>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𝑟𝑠</m:t>
                        </m:r>
                      </m:sub>
                    </m:sSub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:r>
                  <a:rPr lang="zh-CN" altLang="en-US" sz="700" dirty="0" smtClean="0">
                    <a:latin typeface="+mj-lt"/>
                  </a:rPr>
                  <a:t>在图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入边最大权重为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，此时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（添加边导致最大权重下降）</a:t>
                </a:r>
                <a:r>
                  <a:rPr lang="en-US" altLang="zh-CN" sz="70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𝑟𝑠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𝑟𝑠</m:t>
                        </m:r>
                      </m:sub>
                      <m:sup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700" b="0" i="1" smtClean="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𝑟𝑠</m:t>
                            </m:r>
                          </m:sub>
                        </m:sSub>
                      </m:e>
                    </m:d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700" dirty="0" smtClean="0">
                    <a:latin typeface="+mj-lt"/>
                  </a:rPr>
                  <a:t>  (</a:t>
                </a:r>
                <a:r>
                  <a:rPr lang="en-US" altLang="zh-CN" sz="700" dirty="0" smtClean="0"/>
                  <a:t>submodular)</a:t>
                </a:r>
                <a:endParaRPr lang="en-US" altLang="zh-CN" sz="700" dirty="0" smtClean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altLang="zh-CN" sz="700" i="1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𝑟𝑠</m:t>
                            </m:r>
                          </m:sub>
                        </m:sSub>
                      </m:e>
                    </m:d>
                    <m:r>
                      <a:rPr lang="en-US" altLang="zh-CN" sz="7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7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7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7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altLang="zh-CN" sz="700" dirty="0" smtClean="0">
                    <a:latin typeface="+mj-lt"/>
                  </a:rPr>
                  <a:t> </a:t>
                </a:r>
              </a:p>
              <a:p>
                <a:r>
                  <a:rPr lang="zh-CN" altLang="en-US" sz="700" dirty="0" smtClean="0">
                    <a:latin typeface="+mj-lt"/>
                  </a:rPr>
                  <a:t>贪心</a:t>
                </a:r>
                <a:r>
                  <a:rPr lang="en-US" altLang="zh-CN" sz="700" dirty="0" smtClean="0">
                    <a:latin typeface="+mj-lt"/>
                  </a:rPr>
                  <a:t>: [1]</a:t>
                </a:r>
                <a:r>
                  <a:rPr lang="zh-CN" altLang="en-US" sz="700" dirty="0" smtClean="0">
                    <a:latin typeface="+mj-lt"/>
                  </a:rPr>
                  <a:t>从空图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700" dirty="0" smtClean="0">
                    <a:latin typeface="+mj-lt"/>
                  </a:rPr>
                  <a:t>开始加入</a:t>
                </a:r>
                <a14:m>
                  <m:oMath xmlns:m="http://schemas.openxmlformats.org/officeDocument/2006/math">
                    <m:r>
                      <a:rPr lang="en-US" altLang="zh-CN" sz="7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700" dirty="0" smtClean="0">
                    <a:latin typeface="+mj-lt"/>
                  </a:rPr>
                  <a:t>条边</a:t>
                </a:r>
                <a:endParaRPr lang="en-US" altLang="zh-CN" sz="700" dirty="0" smtClean="0">
                  <a:latin typeface="+mj-lt"/>
                </a:endParaRPr>
              </a:p>
              <a:p>
                <a:r>
                  <a:rPr lang="en-US" altLang="zh-CN" sz="700" dirty="0" smtClean="0">
                    <a:latin typeface="+mj-lt"/>
                  </a:rPr>
                  <a:t>[2]</a:t>
                </a:r>
                <a:r>
                  <a:rPr lang="zh-CN" altLang="en-US" sz="700" dirty="0">
                    <a:latin typeface="+mj-lt"/>
                  </a:rPr>
                  <a:t>添加</a:t>
                </a:r>
                <a14:m>
                  <m:oMath xmlns:m="http://schemas.openxmlformats.org/officeDocument/2006/math">
                    <m:r>
                      <a:rPr lang="zh-CN" altLang="en-US" sz="700" b="0" i="1" dirty="0" smtClean="0">
                        <a:latin typeface="Cambria Math" panose="02040503050406030204" pitchFamily="18" charset="0"/>
                      </a:rPr>
                      <m:t>边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700" b="0" i="0" dirty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\</m:t>
                        </m:r>
                        <m:sSub>
                          <m:sSubPr>
                            <m:ctrlP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7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∪{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7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7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700" dirty="0" smtClean="0">
                  <a:latin typeface="+mj-lt"/>
                </a:endParaRPr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561" y="2996669"/>
                <a:ext cx="2482124" cy="210775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4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11454</TotalTime>
  <Words>9604</Words>
  <Application>Microsoft Office PowerPoint</Application>
  <PresentationFormat>自定义</PresentationFormat>
  <Paragraphs>390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LJH</dc:creator>
  <cp:lastModifiedBy>LJH</cp:lastModifiedBy>
  <cp:revision>250</cp:revision>
  <dcterms:created xsi:type="dcterms:W3CDTF">2026-06-11T09:54:06Z</dcterms:created>
  <dcterms:modified xsi:type="dcterms:W3CDTF">2026-07-08T15:13:41Z</dcterms:modified>
</cp:coreProperties>
</file>