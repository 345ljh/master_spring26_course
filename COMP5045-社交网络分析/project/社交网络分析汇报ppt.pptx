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3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7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6785"/>
    <a:srgbClr val="005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A9D2C-A6D1-44FF-8A54-7162B549654D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704F1-9A6B-4707-80D1-EA411886F5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70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704F1-9A6B-4707-80D1-EA411886F5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71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704F1-9A6B-4707-80D1-EA411886F58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03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5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4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52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3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27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11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31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28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82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37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95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F38E3-1854-4230-A9CB-69F867D6359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6CC30-685F-4421-BFEB-D6E7063C0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50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"/>
          <p:cNvSpPr/>
          <p:nvPr/>
        </p:nvSpPr>
        <p:spPr>
          <a:xfrm rot="5400000">
            <a:off x="4305300" y="-4305300"/>
            <a:ext cx="3581398" cy="1219200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B5D8C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01037" y="2110880"/>
            <a:ext cx="2989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Gowalla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网络分析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15675" y="3036214"/>
            <a:ext cx="3908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——COMP5045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社交网络分析 课程汇报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 descr="logo中英组合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88" y="197225"/>
            <a:ext cx="6078220" cy="170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1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3294" y="864557"/>
            <a:ext cx="1156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Gowalla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一款以地图为核心的地理位置社交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应用，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用户可以在地图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上签到并分享位置。该应用最早在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推出，并于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年被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Facebook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收购，于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年关闭服务。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104" y="1920190"/>
            <a:ext cx="5217624" cy="388191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3293" y="2239519"/>
            <a:ext cx="62177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集包含两个文件：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Gowalla_edges.txt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：记录用户之间的好友关系，共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196591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个用户节点，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950327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条好友关系边（无向图）。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Gowalla_totalCheckins.txt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6442890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条签到记录，包含每次签到的用户、时间、经纬度等信息。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数据时间范围：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2009-02-04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2010-10-23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43293" y="1799262"/>
            <a:ext cx="2691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Gowalla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136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统计分析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40235" y="980627"/>
                <a:ext cx="1171153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基于用户好友关系构建图网络，使用</a:t>
                </a:r>
                <a:r>
                  <a:rPr lang="en-US" altLang="zh-CN" sz="24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networkx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库统计以下指标：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用户节点的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度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的平均聚类系数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全局聚类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系数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连通性与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直径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sz="24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powerlaw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库，拟合度分布（幂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律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分布）的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5" y="980627"/>
                <a:ext cx="11711530" cy="3046988"/>
              </a:xfrm>
              <a:prstGeom prst="rect">
                <a:avLst/>
              </a:prstGeom>
              <a:blipFill>
                <a:blip r:embed="rId2"/>
                <a:stretch>
                  <a:fillRect l="-780" t="-1600" b="-3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1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社区分析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40235" y="980627"/>
                <a:ext cx="1171153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Louvain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算法查找不重叠社区（时间复杂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𝑂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m:rPr>
                        <m:sty m:val="p"/>
                      </m:rP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log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分析最大的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个社区与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个中等规模社区的成员签到位置分布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其中，中等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规模社区选取为规模排序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100~190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的社区，对应用户数量由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不等。</a:t>
                </a: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5" y="980627"/>
                <a:ext cx="11711530" cy="1569660"/>
              </a:xfrm>
              <a:prstGeom prst="rect">
                <a:avLst/>
              </a:prstGeom>
              <a:blipFill>
                <a:blip r:embed="rId2"/>
                <a:stretch>
                  <a:fillRect l="-780" t="-3113" b="-8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83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ompertz func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74"/>
          <a:stretch/>
        </p:blipFill>
        <p:spPr bwMode="auto">
          <a:xfrm>
            <a:off x="7558279" y="3085533"/>
            <a:ext cx="3692105" cy="343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演化分析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0235" y="800286"/>
            <a:ext cx="117115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网络演化分析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部分将用户第一次签到视为“节点加入网络”。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按月统计网络中用户数量、签到次数累计与新增量随时间变化，并使用幂律与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Gompertz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模型对完整的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个月进行拟合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生命周期分析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定义生命周期为用户第一次与最后一次签到时间间隔，仅签到一次的用户生命周期为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；对生命周期与对应用户数量进行统计分析。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40235" y="3781336"/>
                <a:ext cx="7083012" cy="1625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Gompertz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模型表达式为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𝑐𝑡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，表现为早期增长缓慢，中期快速增长，最终达到饱和，上界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曲线表现为不对称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形。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右图示例中红色曲线对应</a:t>
                </a:r>
                <a:r>
                  <a:rPr lang="en-US" altLang="zh-CN" sz="24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Gompertz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5" y="3781336"/>
                <a:ext cx="7083012" cy="1625060"/>
              </a:xfrm>
              <a:prstGeom prst="rect">
                <a:avLst/>
              </a:prstGeom>
              <a:blipFill>
                <a:blip r:embed="rId3"/>
                <a:stretch>
                  <a:fillRect l="-1291" r="-1291" b="-7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79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300" y="3386897"/>
            <a:ext cx="2494253" cy="28142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推荐算法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0235" y="866327"/>
            <a:ext cx="11711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历史地理位置、好友关系与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热门程度的推荐。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240236" y="1528550"/>
            <a:ext cx="2571204" cy="1624084"/>
          </a:xfrm>
          <a:prstGeom prst="roundRect">
            <a:avLst/>
          </a:prstGeom>
          <a:noFill/>
          <a:ln w="28575"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27568" y="1615380"/>
            <a:ext cx="2408380" cy="422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235" y="2126612"/>
            <a:ext cx="2805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保留进行签到的用户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划分训练、测试集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构建格式化数据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272314" y="1538041"/>
            <a:ext cx="2571204" cy="1624084"/>
          </a:xfrm>
          <a:prstGeom prst="roundRect">
            <a:avLst/>
          </a:prstGeom>
          <a:noFill/>
          <a:ln w="28575"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359646" y="1624871"/>
            <a:ext cx="240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好友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72313" y="2136103"/>
            <a:ext cx="2571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每名用户计算好友签到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计算全局热门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40234" y="3353192"/>
            <a:ext cx="5603283" cy="2938426"/>
          </a:xfrm>
          <a:prstGeom prst="roundRect">
            <a:avLst>
              <a:gd name="adj" fmla="val 5862"/>
            </a:avLst>
          </a:prstGeom>
          <a:noFill/>
          <a:ln w="28575"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837685" y="3386897"/>
            <a:ext cx="240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评分与推荐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327568" y="3858572"/>
                <a:ext cx="5172480" cy="2383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基于地理位置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(G)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、好友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(S)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与热门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(H)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进行评分，并使用权重得到综合分数，返回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Top-10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根据用户历史访问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距离计算相似度：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𝑆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exp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：好友中签到次数最多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，其他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按好友签到次数比例对应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[0,1)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在全局签到次数排名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对应分数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1/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68" y="3858572"/>
                <a:ext cx="5172480" cy="2383217"/>
              </a:xfrm>
              <a:prstGeom prst="rect">
                <a:avLst/>
              </a:prstGeom>
              <a:blipFill>
                <a:blip r:embed="rId3"/>
                <a:stretch>
                  <a:fillRect l="-1061" t="-1535" r="-943" b="-1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/>
          <p:cNvSpPr/>
          <p:nvPr/>
        </p:nvSpPr>
        <p:spPr>
          <a:xfrm>
            <a:off x="6261043" y="1528550"/>
            <a:ext cx="5734770" cy="4763068"/>
          </a:xfrm>
          <a:prstGeom prst="roundRect">
            <a:avLst>
              <a:gd name="adj" fmla="val 5735"/>
            </a:avLst>
          </a:prstGeom>
          <a:noFill/>
          <a:ln w="28575"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924238" y="1562255"/>
            <a:ext cx="240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评估与组别划分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72851" y="1961796"/>
            <a:ext cx="5722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Top-10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推荐的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，依次检查是否与真实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匹配。其中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采用距离阈值匹配，在组间比较中选取阈值为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0.05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度（对应经线距离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5.5km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每种配置对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名随机用户进行评估（不同组别选取用户相同）。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274704" y="3501370"/>
                <a:ext cx="2841927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评估指标：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𝐻𝑖𝑡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：至少推荐一个真实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的用户比例。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𝑃𝑟𝑒𝑐𝑖𝑠𝑖𝑜𝑛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：精确率，即推荐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落在真实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附近的数量。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𝑅𝑒𝑐𝑎𝑙𝑙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：召回率，即用户感兴趣的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被推荐出的数量。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04" y="3501370"/>
                <a:ext cx="2841927" cy="2585323"/>
              </a:xfrm>
              <a:prstGeom prst="rect">
                <a:avLst/>
              </a:prstGeom>
              <a:blipFill>
                <a:blip r:embed="rId4"/>
                <a:stretch>
                  <a:fillRect l="-1713" t="-1179" r="-1713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9116631" y="3152634"/>
            <a:ext cx="1420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组别划分：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2862624" y="2203395"/>
            <a:ext cx="358505" cy="314997"/>
          </a:xfrm>
          <a:prstGeom prst="rightArrow">
            <a:avLst/>
          </a:prstGeom>
          <a:solidFill>
            <a:srgbClr val="2667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5863238" y="3081805"/>
            <a:ext cx="358505" cy="314997"/>
          </a:xfrm>
          <a:prstGeom prst="rightArrow">
            <a:avLst/>
          </a:prstGeom>
          <a:solidFill>
            <a:srgbClr val="2667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 rot="5400000">
            <a:off x="2859212" y="2969226"/>
            <a:ext cx="358505" cy="314997"/>
          </a:xfrm>
          <a:prstGeom prst="rightArrow">
            <a:avLst/>
          </a:prstGeom>
          <a:solidFill>
            <a:srgbClr val="2667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17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网络与节点属性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92" y="1903107"/>
            <a:ext cx="5430008" cy="43725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40235" y="866327"/>
                <a:ext cx="1171153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节点度分布如下，拟合结果为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=2.8082</m:t>
                    </m:r>
                  </m:oMath>
                </a14:m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=83.0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幂律拟合在度大于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83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时有效，而在尾部（度大于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）出现偏离，呈现截断幂律特征。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5" y="866327"/>
                <a:ext cx="11711530" cy="830997"/>
              </a:xfrm>
              <a:prstGeom prst="rect">
                <a:avLst/>
              </a:prstGeom>
              <a:blipFill>
                <a:blip r:embed="rId3"/>
                <a:stretch>
                  <a:fillRect l="-780" t="-5882" r="-1093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436" y="2133600"/>
            <a:ext cx="5305660" cy="395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网络与节点属性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40235" y="866327"/>
                <a:ext cx="11711530" cy="1967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平均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𝐶𝐶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0.2367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随机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图（节点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数与期望边数与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Gowalla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网络相同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𝑛𝑝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𝐶𝐶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4.917*10</a:t>
                </a:r>
                <a:r>
                  <a:rPr lang="en-US" altLang="zh-CN" sz="2400" baseline="30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-5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全局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𝐶𝐶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0.0235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网络最大连通分量包含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196591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节点，即网络连通；近似直径为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5" y="866327"/>
                <a:ext cx="11711530" cy="1967526"/>
              </a:xfrm>
              <a:prstGeom prst="rect">
                <a:avLst/>
              </a:prstGeom>
              <a:blipFill>
                <a:blip r:embed="rId2"/>
                <a:stretch>
                  <a:fillRect l="-780" t="-2477" b="-6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41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017" y="762000"/>
            <a:ext cx="7234983" cy="542623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社区划分与地理统计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43295" y="1056827"/>
                <a:ext cx="525886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网络共划分为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866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个社区，其中最大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个社区的节点数量为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34689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27375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27165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11866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11450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log-log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坐标下社区规模与社区数量关系如下图，社区规模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(3,28)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符合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幂律分布且衰减较快，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(28,34689)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近似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水平（重尾分布）。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5" y="1056827"/>
                <a:ext cx="5258865" cy="3046988"/>
              </a:xfrm>
              <a:prstGeom prst="rect">
                <a:avLst/>
              </a:prstGeom>
              <a:blipFill>
                <a:blip r:embed="rId3"/>
                <a:stretch>
                  <a:fillRect l="-1856" t="-1600" r="-3132" b="-3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40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社区划分与地理统计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295" y="879027"/>
            <a:ext cx="5258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社区成员签到位置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86" y="1446830"/>
            <a:ext cx="8846379" cy="49097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960165" y="8004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每个社区的实际签到次数约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300k~1M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，图中每个社区仅随机选取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个用户、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个点进行绘制。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03334" y="1719241"/>
            <a:ext cx="359394" cy="90024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08165" y="1840491"/>
            <a:ext cx="3006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大规模社区全球均有分布，大部分集中于美国与西欧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个社区成员的签到点的分布没有显著差异。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12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社区划分与地理统计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295" y="879027"/>
            <a:ext cx="11121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中等规模社区成员签到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位置如下，部分小规模社区签到点呈现地理聚集性。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 t="17238" r="70487" b="59080"/>
          <a:stretch/>
        </p:blipFill>
        <p:spPr>
          <a:xfrm>
            <a:off x="56232" y="3826618"/>
            <a:ext cx="3205331" cy="195324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1" t="6780" r="36239" b="68932"/>
          <a:stretch/>
        </p:blipFill>
        <p:spPr>
          <a:xfrm>
            <a:off x="525988" y="1451113"/>
            <a:ext cx="2246739" cy="196794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grpSp>
        <p:nvGrpSpPr>
          <p:cNvPr id="5" name="组合 4"/>
          <p:cNvGrpSpPr/>
          <p:nvPr/>
        </p:nvGrpSpPr>
        <p:grpSpPr>
          <a:xfrm>
            <a:off x="3289298" y="1451113"/>
            <a:ext cx="8847569" cy="4910400"/>
            <a:chOff x="3011003" y="1436231"/>
            <a:chExt cx="8847569" cy="49104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1003" y="1436231"/>
              <a:ext cx="8847569" cy="4910400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3866322" y="2435087"/>
              <a:ext cx="1908314" cy="11628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364895" y="1769165"/>
              <a:ext cx="1361661" cy="119269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 flipH="1">
            <a:off x="3289298" y="3419060"/>
            <a:ext cx="855320" cy="104744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 flipV="1">
            <a:off x="2772727" y="1748250"/>
            <a:ext cx="4870464" cy="4400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981122" y="1429838"/>
            <a:ext cx="1023729" cy="23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910935" y="1439777"/>
            <a:ext cx="1164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Medium-Sized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68980" y="4316370"/>
            <a:ext cx="486030" cy="170816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140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160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170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190</a:t>
            </a:r>
            <a:r>
              <a:rPr lang="en-US" altLang="zh-CN" sz="105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42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网络演化与生命周期分析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295" y="879027"/>
            <a:ext cx="10435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下图中柱状图为当月新增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折线图为累计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用户量。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1676400"/>
            <a:ext cx="9966570" cy="4660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104900" y="2019300"/>
                <a:ext cx="6514797" cy="926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拟合结果：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幂律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=22.76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2.865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=0.9871</m:t>
                    </m:r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/>
                </a:r>
                <a:b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Gompertz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=153688,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=16.604,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=0.1896,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=0.9975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2019300"/>
                <a:ext cx="6514797" cy="926407"/>
              </a:xfrm>
              <a:prstGeom prst="rect">
                <a:avLst/>
              </a:prstGeom>
              <a:blipFill>
                <a:blip r:embed="rId3"/>
                <a:stretch>
                  <a:fillRect l="-748" t="-3289" b="-9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34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5" y="1676400"/>
            <a:ext cx="9968911" cy="4662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网络演化与生命周期分析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295" y="879027"/>
            <a:ext cx="10435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下图中柱状图为当月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折线图为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累计签到量。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104900" y="2019300"/>
                <a:ext cx="6771277" cy="926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拟合结果：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幂律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=103.10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3.715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=0.9958</m:t>
                    </m:r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/>
                </a:r>
                <a:b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Gompertz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=16440631,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=14.798,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=0.1379,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=0.9987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2019300"/>
                <a:ext cx="6771277" cy="926407"/>
              </a:xfrm>
              <a:prstGeom prst="rect">
                <a:avLst/>
              </a:prstGeom>
              <a:blipFill>
                <a:blip r:embed="rId3"/>
                <a:stretch>
                  <a:fillRect l="-720" t="-3289" b="-9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18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0" b="2261"/>
          <a:stretch/>
        </p:blipFill>
        <p:spPr>
          <a:xfrm>
            <a:off x="4830233" y="1125824"/>
            <a:ext cx="7152552" cy="513527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网络演化与生命周期分析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295" y="955227"/>
            <a:ext cx="51780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12723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11.9%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）仅签到一次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，多次签到的用户数量与生命周期呈现幂律分布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，存在部分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用户的签到次数达到日均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799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地理位置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好友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的推荐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43295" y="853627"/>
                <a:ext cx="1171850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:r>
                  <a:rPr lang="en-US" altLang="zh-CN" sz="240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240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不同的权重配置，推荐结果指标如下，其中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匹配阈值为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度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由于地理位置使用阈值匹配，一个推荐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可能对应多个邻近的真实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POI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𝑅𝑒𝑐𝑎𝑙𝑙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可能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5" y="853627"/>
                <a:ext cx="11718505" cy="1200329"/>
              </a:xfrm>
              <a:prstGeom prst="rect">
                <a:avLst/>
              </a:prstGeom>
              <a:blipFill>
                <a:blip r:embed="rId2"/>
                <a:stretch>
                  <a:fillRect l="-832" t="-406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95" y="2247590"/>
            <a:ext cx="5415579" cy="39479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712" y="2839767"/>
            <a:ext cx="5081588" cy="335576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96012" y="1754048"/>
            <a:ext cx="5360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针对其中一位用户推荐的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Top-5 POI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（纯地理推荐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），该用户具有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个历史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46200" y="3949700"/>
            <a:ext cx="1270000" cy="546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616200" y="2893701"/>
            <a:ext cx="2692400" cy="546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23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地理位置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好友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的推荐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295" y="853627"/>
            <a:ext cx="1171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对纯地理（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）推荐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，选取不同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匹配阈值对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位用户进行匹配，结果如下。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472" y="1315291"/>
            <a:ext cx="4935328" cy="50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2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066" y="3161951"/>
            <a:ext cx="4339383" cy="325453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网络与社区属性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43295" y="853627"/>
                <a:ext cx="1171850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统计分析结果表明，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Gowalla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网络的度分布符合无标度网络特征，且存在具有大量（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10k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以上）用户连接的“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Hub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用户”，且大规模社区的形成更有可能基于兴趣或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Hub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用户。</a:t>
                </a: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较低的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全局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𝐶𝐶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同样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表明大量用户关注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Hub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用户，但彼此并没有建立好友联系。</a:t>
                </a: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网络中同时存在大量小规模社区，且节点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平均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𝐶𝐶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显著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高于随机图，表明图网络的局部连接紧密，小社区可能基于现实关系构建（如朋友、同学之间也可能相互认识）。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5" y="853627"/>
                <a:ext cx="11718505" cy="2308324"/>
              </a:xfrm>
              <a:prstGeom prst="rect">
                <a:avLst/>
              </a:prstGeom>
              <a:blipFill>
                <a:blip r:embed="rId3"/>
                <a:stretch>
                  <a:fillRect l="-832" t="-2111" r="-624" b="-50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41" y="3355585"/>
            <a:ext cx="3791708" cy="305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4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295" y="891727"/>
            <a:ext cx="117185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大规模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社区：更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有可能基于兴趣或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Hub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用户，而非地理分布。</a:t>
            </a: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小规模社区：基于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地理位置的社交构建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特性；社区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更可能基于现实关系构建。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推荐结果同样表现该特性。纯地理（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）具有最精准的推荐效果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，表明用户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更倾向于访问一定地理范围或活动半径内的地点，而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非可能较远的热门或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好友签到的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加入热门（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）后精度有所降低而覆盖率提高，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说明融合模型虽然降低了平均精度，但能让更多用户获得至少一个有效推荐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选取不同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阈值进行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推荐时，各指标在阈值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度时均出现明显提升，估计用户的活动半径大致在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0.02-0.1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度（约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2.2~11km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）之间，可用于进行城市级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地理属性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021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295" y="891727"/>
            <a:ext cx="11718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对用户与签到数量的幂律与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Gompertz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模型均有较好拟合结果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Gompertz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模型预测的用户上限约为当前用户数的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倍，签到上限约为当前签到数的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2.88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倍，表明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Gowalla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在数据截止时仍处于增长期，远未达到饱和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同时，尽管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月的新增用户数量明显高于其他月份（大于前一个月的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倍），但用户与签到数量均表现出平稳增长趋势，未形成显著“爆发增长”。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网络演化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0" y="3549595"/>
            <a:ext cx="5499377" cy="25718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32" y="3548991"/>
            <a:ext cx="5500668" cy="257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295" y="891727"/>
            <a:ext cx="117185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出于设备性能与推理时间考虑，本项目直接指定了推荐过程的参数与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权重，并未对这些参数进行优化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对推荐算法进行了一定简化处理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全局热门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代替用户偏好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平均聚合获取好友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高斯核计算地理位置相似性，而实际地理距离分布可能呈现幂律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随机采样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用于计算的用户与数据签到样本。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局限与展望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99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295" y="891727"/>
            <a:ext cx="117185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本项目对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Gowalla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地理位置社交网络进行了多维度分析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具有无标度（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α=2.81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）和小世界（平均聚类系数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0.237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）特征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规模呈重尾分布，大规模社区兴趣驱动，小规模社区地理聚集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演化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分析表明用户增长符合幂律与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Gompertz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模型，网络仍处于增长期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实验表明纯地理模型优于融合社交与热度的混合模型，用户活动半径约为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公里。综合结果表明，地理邻近性是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LBSN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中用户签到行为的主导因素，网络结构、演化规律与用户行为三者高度一致。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295" y="136773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28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/>
        </p:nvSpPr>
        <p:spPr>
          <a:xfrm rot="5400000">
            <a:off x="4305300" y="-4305300"/>
            <a:ext cx="3581398" cy="1219200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B5D8C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02587" y="3043520"/>
            <a:ext cx="2186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Gowalla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网络分析</a:t>
            </a:r>
          </a:p>
        </p:txBody>
      </p:sp>
      <p:pic>
        <p:nvPicPr>
          <p:cNvPr id="11" name="图片 10" descr="logo中英组合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88" y="197225"/>
            <a:ext cx="6078220" cy="1706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72557" y="190347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感谢倾听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452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3491</TotalTime>
  <Words>1855</Words>
  <Application>Microsoft Office PowerPoint</Application>
  <PresentationFormat>宽屏</PresentationFormat>
  <Paragraphs>141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LJH</dc:creator>
  <cp:lastModifiedBy>LJH</cp:lastModifiedBy>
  <cp:revision>175</cp:revision>
  <dcterms:created xsi:type="dcterms:W3CDTF">2026-06-03T07:24:29Z</dcterms:created>
  <dcterms:modified xsi:type="dcterms:W3CDTF">2026-08-21T12:39:08Z</dcterms:modified>
</cp:coreProperties>
</file>